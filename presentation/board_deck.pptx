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 ($M)</c:v>
                </c:pt>
              </c:strCache>
            </c:strRef>
          </c:tx>
          <c:spPr>
            <a:solidFill>
              <a:srgbClr val="5A3921"/>
            </a:solidFill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2.26</c:v>
                </c:pt>
                <c:pt idx="1">
                  <c:v>2.68</c:v>
                </c:pt>
                <c:pt idx="2">
                  <c:v>3.41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 ($M)</c:v>
                </c:pt>
              </c:strCache>
            </c:strRef>
          </c:tx>
          <c:spPr>
            <a:solidFill>
              <a:srgbClr val="5A3921"/>
            </a:solidFill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0.25</c:v>
                </c:pt>
                <c:pt idx="1">
                  <c:v>0.31</c:v>
                </c:pt>
                <c:pt idx="2">
                  <c:v>0.41</c:v>
                </c:pt>
                <c:pt idx="3">
                  <c:v>0.5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10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E2DCD2"/>
            </a:solidFill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2.26</c:v>
                </c:pt>
                <c:pt idx="1">
                  <c:v>2.68</c:v>
                </c:pt>
                <c:pt idx="2">
                  <c:v>3.41</c:v>
                </c:pt>
                <c:pt idx="3">
                  <c:v>4.3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9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 w="31750">
              <a:solidFill>
                <a:srgbClr val="5A3921"/>
              </a:solidFill>
            </a:ln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11.0</c:v>
                </c:pt>
                <c:pt idx="1">
                  <c:v>11.5</c:v>
                </c:pt>
                <c:pt idx="2">
                  <c:v>11.9</c:v>
                </c:pt>
                <c:pt idx="3">
                  <c:v>11.7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322014"/>
              </a:solidFill>
            </c:spPr>
          </c:dPt>
          <c:dPt>
            <c:idx val="1"/>
            <c:spPr>
              <a:solidFill>
                <a:srgbClr val="A22727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cat>
            <c:strRef>
              <c:f>Sheet1!$A$2:$A$4</c:f>
              <c:strCache>
                <c:ptCount val="3"/>
                <c:pt idx="0">
                  <c:v>Earned on profitable lines</c:v>
                </c:pt>
                <c:pt idx="1">
                  <c:v>Lost on loss-making lines</c:v>
                </c:pt>
                <c:pt idx="2">
                  <c:v>Reported operating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2.39</c:v>
                </c:pt>
                <c:pt idx="1">
                  <c:v>-0.92</c:v>
                </c:pt>
                <c:pt idx="2">
                  <c:v>1.47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A22727"/>
            </a:solidFill>
          </c:spPr>
          <c:cat>
            <c:strRef>
              <c:f>Sheet1!$A$2:$A$11</c:f>
              <c:strCache>
                <c:ptCount val="10"/>
                <c:pt idx="0">
                  <c:v>South Korea</c:v>
                </c:pt>
                <c:pt idx="1">
                  <c:v>Philippines</c:v>
                </c:pt>
                <c:pt idx="2">
                  <c:v>Sweden</c:v>
                </c:pt>
                <c:pt idx="3">
                  <c:v>Panama</c:v>
                </c:pt>
                <c:pt idx="4">
                  <c:v>Argentina</c:v>
                </c:pt>
                <c:pt idx="5">
                  <c:v>Pakistan</c:v>
                </c:pt>
                <c:pt idx="6">
                  <c:v>Honduras</c:v>
                </c:pt>
                <c:pt idx="7">
                  <c:v>Netherlands</c:v>
                </c:pt>
                <c:pt idx="8">
                  <c:v>Nigeria</c:v>
                </c:pt>
                <c:pt idx="9">
                  <c:v>Turkey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</c:v>
                </c:pt>
                <c:pt idx="1">
                  <c:v>16</c:v>
                </c:pt>
                <c:pt idx="2">
                  <c:v>18</c:v>
                </c:pt>
                <c:pt idx="3">
                  <c:v>18</c:v>
                </c:pt>
                <c:pt idx="4">
                  <c:v>19</c:v>
                </c:pt>
                <c:pt idx="5">
                  <c:v>22</c:v>
                </c:pt>
                <c:pt idx="6">
                  <c:v>29</c:v>
                </c:pt>
                <c:pt idx="7">
                  <c:v>41</c:v>
                </c:pt>
                <c:pt idx="8">
                  <c:v>81</c:v>
                </c:pt>
                <c:pt idx="9">
                  <c:v>98</c:v>
                </c:pt>
              </c:numCache>
            </c:numRef>
          </c:val>
        </c:ser>
        <c:dLbls>
          <c:numFmt formatCode="-0&quot;K&quot;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5A3921"/>
              </a:solidFill>
            </c:spPr>
          </c:dPt>
          <c:dPt>
            <c:idx val="1"/>
            <c:spPr>
              <a:solidFill>
                <a:srgbClr val="5A392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5A3921"/>
              </a:solidFill>
            </c:spPr>
          </c:dPt>
          <c:dPt>
            <c:idx val="4"/>
            <c:spPr>
              <a:solidFill>
                <a:srgbClr val="5A3921"/>
              </a:solidFill>
            </c:spPr>
          </c:dPt>
          <c:dPt>
            <c:idx val="5"/>
            <c:spPr>
              <a:solidFill>
                <a:srgbClr val="5A3921"/>
              </a:solidFill>
            </c:spPr>
          </c:dPt>
          <c:dPt>
            <c:idx val="6"/>
            <c:spPr>
              <a:solidFill>
                <a:srgbClr val="5A3921"/>
              </a:solidFill>
            </c:spPr>
          </c:dPt>
          <c:dPt>
            <c:idx val="7"/>
            <c:spPr>
              <a:solidFill>
                <a:srgbClr val="5A3921"/>
              </a:solidFill>
            </c:spPr>
          </c:dPt>
          <c:dPt>
            <c:idx val="8"/>
            <c:spPr>
              <a:solidFill>
                <a:srgbClr val="5A3921"/>
              </a:solidFill>
            </c:spPr>
          </c:dPt>
          <c:dPt>
            <c:idx val="9"/>
            <c:spPr>
              <a:solidFill>
                <a:srgbClr val="5A3921"/>
              </a:solidFill>
            </c:spPr>
          </c:dPt>
          <c:dPt>
            <c:idx val="10"/>
            <c:spPr>
              <a:solidFill>
                <a:srgbClr val="5A3921"/>
              </a:solidFill>
            </c:spPr>
          </c:dPt>
          <c:dPt>
            <c:idx val="11"/>
            <c:spPr>
              <a:solidFill>
                <a:srgbClr val="5A3921"/>
              </a:solidFill>
            </c:spPr>
          </c:dPt>
          <c:dPt>
            <c:idx val="12"/>
            <c:spPr>
              <a:solidFill>
                <a:srgbClr val="5A3921"/>
              </a:solidFill>
            </c:spPr>
          </c:dPt>
          <c:dPt>
            <c:idx val="13"/>
            <c:spPr>
              <a:solidFill>
                <a:srgbClr val="5A3921"/>
              </a:solidFill>
            </c:spPr>
          </c:dPt>
          <c:dPt>
            <c:idx val="14"/>
            <c:spPr>
              <a:solidFill>
                <a:srgbClr val="5A3921"/>
              </a:solidFill>
            </c:spPr>
          </c:dPt>
          <c:dPt>
            <c:idx val="15"/>
            <c:spPr>
              <a:solidFill>
                <a:srgbClr val="5A3921"/>
              </a:solidFill>
            </c:spPr>
          </c:dPt>
          <c:dPt>
            <c:idx val="16"/>
            <c:spPr>
              <a:solidFill>
                <a:srgbClr val="A22727"/>
              </a:solidFill>
            </c:spPr>
          </c:dPt>
          <c:cat>
            <c:strRef>
              <c:f>Sheet1!$A$2:$A$18</c:f>
              <c:strCache>
                <c:ptCount val="17"/>
                <c:pt idx="0">
                  <c:v>Copiers</c:v>
                </c:pt>
                <c:pt idx="1">
                  <c:v>Phones</c:v>
                </c:pt>
                <c:pt idx="2">
                  <c:v>Bookcases</c:v>
                </c:pt>
                <c:pt idx="3">
                  <c:v>Appliances</c:v>
                </c:pt>
                <c:pt idx="4">
                  <c:v>Chairs</c:v>
                </c:pt>
                <c:pt idx="5">
                  <c:v>Accessories</c:v>
                </c:pt>
                <c:pt idx="6">
                  <c:v>Storage</c:v>
                </c:pt>
                <c:pt idx="7">
                  <c:v>Binders</c:v>
                </c:pt>
                <c:pt idx="8">
                  <c:v>Paper</c:v>
                </c:pt>
                <c:pt idx="9">
                  <c:v>Machines</c:v>
                </c:pt>
                <c:pt idx="10">
                  <c:v>Art</c:v>
                </c:pt>
                <c:pt idx="11">
                  <c:v>Furnishings</c:v>
                </c:pt>
                <c:pt idx="12">
                  <c:v>Envelopes</c:v>
                </c:pt>
                <c:pt idx="13">
                  <c:v>Supplies</c:v>
                </c:pt>
                <c:pt idx="14">
                  <c:v>Labels</c:v>
                </c:pt>
                <c:pt idx="15">
                  <c:v>Fasteners</c:v>
                </c:pt>
                <c:pt idx="16">
                  <c:v>Tables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259</c:v>
                </c:pt>
                <c:pt idx="1">
                  <c:v>217</c:v>
                </c:pt>
                <c:pt idx="2">
                  <c:v>162</c:v>
                </c:pt>
                <c:pt idx="3">
                  <c:v>142</c:v>
                </c:pt>
                <c:pt idx="4">
                  <c:v>140</c:v>
                </c:pt>
                <c:pt idx="5">
                  <c:v>130</c:v>
                </c:pt>
                <c:pt idx="6">
                  <c:v>108</c:v>
                </c:pt>
                <c:pt idx="7">
                  <c:v>72</c:v>
                </c:pt>
                <c:pt idx="8">
                  <c:v>59</c:v>
                </c:pt>
                <c:pt idx="9">
                  <c:v>59</c:v>
                </c:pt>
                <c:pt idx="10">
                  <c:v>58</c:v>
                </c:pt>
                <c:pt idx="11">
                  <c:v>47</c:v>
                </c:pt>
                <c:pt idx="12">
                  <c:v>30</c:v>
                </c:pt>
                <c:pt idx="13">
                  <c:v>23</c:v>
                </c:pt>
                <c:pt idx="14">
                  <c:v>15</c:v>
                </c:pt>
                <c:pt idx="15">
                  <c:v>12</c:v>
                </c:pt>
                <c:pt idx="16">
                  <c:v>-64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sz="85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8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5A3921"/>
              </a:solidFill>
            </c:spPr>
          </c:dPt>
          <c:dPt>
            <c:idx val="1"/>
            <c:spPr>
              <a:solidFill>
                <a:srgbClr val="5A392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A22727"/>
              </a:solidFill>
            </c:spPr>
          </c:dPt>
          <c:dPt>
            <c:idx val="4"/>
            <c:spPr>
              <a:solidFill>
                <a:srgbClr val="A22727"/>
              </a:solidFill>
            </c:spPr>
          </c:dPt>
          <c:dPt>
            <c:idx val="5"/>
            <c:spPr>
              <a:solidFill>
                <a:srgbClr val="A22727"/>
              </a:solidFill>
            </c:spPr>
          </c:dPt>
          <c:dPt>
            <c:idx val="6"/>
            <c:spPr>
              <a:solidFill>
                <a:srgbClr val="A22727"/>
              </a:solidFill>
            </c:spPr>
          </c:dPt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0.1-10%</c:v>
                </c:pt>
                <c:pt idx="2">
                  <c:v>10.1-20%</c:v>
                </c:pt>
                <c:pt idx="3">
                  <c:v>20.1-30%</c:v>
                </c:pt>
                <c:pt idx="4">
                  <c:v>30.1-40%</c:v>
                </c:pt>
                <c:pt idx="5">
                  <c:v>40.1-50%</c:v>
                </c:pt>
                <c:pt idx="6">
                  <c:v>&gt;50%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0.2532</c:v>
                </c:pt>
                <c:pt idx="1">
                  <c:v>0.1723</c:v>
                </c:pt>
                <c:pt idx="2">
                  <c:v>0.0986</c:v>
                </c:pt>
                <c:pt idx="3">
                  <c:v>-0.0553</c:v>
                </c:pt>
                <c:pt idx="4">
                  <c:v>-0.2369</c:v>
                </c:pt>
                <c:pt idx="5">
                  <c:v>-0.4526</c:v>
                </c:pt>
                <c:pt idx="6">
                  <c:v>-1.1102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C5A681"/>
              </a:solidFill>
            </c:spPr>
          </c:dPt>
          <c:dPt>
            <c:idx val="1"/>
            <c:spPr>
              <a:solidFill>
                <a:srgbClr val="C5A68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C5A681"/>
              </a:solidFill>
            </c:spPr>
          </c:dPt>
          <c:dPt>
            <c:idx val="4"/>
            <c:spPr>
              <a:solidFill>
                <a:srgbClr val="C5A681"/>
              </a:solidFill>
            </c:spPr>
          </c:dPt>
          <c:dPt>
            <c:idx val="5"/>
            <c:spPr>
              <a:solidFill>
                <a:srgbClr val="5A3921"/>
              </a:solidFill>
            </c:spPr>
          </c:dPt>
          <c:cat>
            <c:strRef>
              <c:f>Sheet1!$A$2:$A$7</c:f>
              <c:strCache>
                <c:ptCount val="6"/>
                <c:pt idx="0">
                  <c:v>Standard Class</c:v>
                </c:pt>
                <c:pt idx="1">
                  <c:v>Second Class</c:v>
                </c:pt>
                <c:pt idx="2">
                  <c:v>High priority</c:v>
                </c:pt>
                <c:pt idx="3">
                  <c:v>First Class</c:v>
                </c:pt>
                <c:pt idx="4">
                  <c:v>Same Day</c:v>
                </c:pt>
                <c:pt idx="5">
                  <c:v>Critical priority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0.0811</c:v>
                </c:pt>
                <c:pt idx="1">
                  <c:v>0.1224</c:v>
                </c:pt>
                <c:pt idx="2">
                  <c:v>0.1338</c:v>
                </c:pt>
                <c:pt idx="3">
                  <c:v>0.1683</c:v>
                </c:pt>
                <c:pt idx="4">
                  <c:v>0.1738</c:v>
                </c:pt>
                <c:pt idx="5">
                  <c:v>0.2381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10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Board of Directors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939916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322014"/>
                </a:solidFill>
                <a:latin typeface="Georgia"/>
              </a:rPr>
              <a:t>Global Superstore: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322014"/>
                </a:solidFill>
                <a:latin typeface="Georgia"/>
              </a:rPr>
              <a:t>The Revival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67328"/>
            <a:ext cx="1143000" cy="54864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77639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5A3921"/>
                </a:solidFill>
                <a:latin typeface="Georgia"/>
              </a:rPr>
              <a:t>From forensic diagnosis to a 6-12 month turnaround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370832"/>
            <a:ext cx="1143000" cy="54864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4572000"/>
            <a:ext cx="93991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22014"/>
                </a:solidFill>
                <a:latin typeface="Georgia"/>
              </a:rPr>
              <a:t>Syndicate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46320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1. Giga Hidjrika Aura Adhky (388)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8380" y="4846320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5. Nurul Aulia Rahmawati (359)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047488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2. Safia Aisyah Nur Savanah (364)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8380" y="5047488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6. Cindy Monica Manurung (384)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48656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3. Adiva Fitri Khalishah Cipta Raharja (377)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8380" y="5248656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7. Louis Alessandro Bonaparte (356)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449824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4. Azka Ghossani A. (357)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235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Analytics Taskforce for the Chief Strategy Officer · FY2011-FY2014 transaction ledger, 51,290 order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Executive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Sales are growing; profit is leaking through discounting and freight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00" cy="4206240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76072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1" i="0">
                <a:solidFill>
                  <a:srgbClr val="C5A681"/>
                </a:solidFill>
                <a:latin typeface="Arial"/>
              </a:rPr>
              <a:t>One key message for the Board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Georgia"/>
              </a:rPr>
              <a:t>Global Superstore does not have a growth problem. It has a margin-leakage problem: about a quarter of all order lines sell at a loss, and the loss is concentrated in deep discounts and loss-making overseas territories. Tightening price control and fixing those territories recovers roughly </a:t>
            </a:r>
            <a:r>
              <a:rPr sz="1450" b="1" i="0">
                <a:solidFill>
                  <a:srgbClr val="FFFFFF"/>
                </a:solidFill>
                <a:latin typeface="Georgia"/>
              </a:rPr>
              <a:t>$1.23M of operating profit</a:t>
            </a:r>
            <a:r>
              <a:rPr sz="1450" b="1" i="0">
                <a:solidFill>
                  <a:srgbClr val="FFFFFF"/>
                </a:solidFill>
                <a:latin typeface="Georgia"/>
              </a:rPr>
              <a:t> without adding a single new sale.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1691640"/>
            <a:ext cx="4336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evidence in four numbers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87768" y="196596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87768" y="214884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87768" y="2203704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$2.26M → $4.30M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514600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Revenue over four years (+90.3%, 23.9% a year)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87768" y="3044952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87768" y="3099816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11.6%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341071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t>Operating margin, four-year average (annual range: 11.0% to 11.9%)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87768" y="3941064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87768" y="3995928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22727"/>
                </a:solidFill>
                <a:latin typeface="Arial"/>
              </a:rPr>
              <a:t>-$920,646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4306824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Profit destroyed by 12,544 loss-making lines (24.5%)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87768" y="4837176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87768" y="4892040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+$1.23M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5202936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profit recoverable on the current ledger (+84%)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 (51,290 order lines). Operating profit is reported profit after cost of goods and freight. Recovery is the base-case simulation output (analytics model, this deck), about $0.31M a year on the same run-rate.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Growth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Revenue grew 90% to $4.3M and operating profit more than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t>Gross sales and operating profit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t>$ million (bars) · $ thousand (bars), FY2011-FY2014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97880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7044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t>Gross sales ($M) &amp; Operating profit ($M)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5852159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Year-on-year growth: +18.5%, +27.2%, +26.3%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Growth is genuine and volume-driven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Revenue rose every year, from $2.26M in FY2011 to $4.30M in FY2014 (+90.3%).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t>Operating profit rose every year too, from $249K to $504K (+102.5%).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Order volume grew from 4,440 to 8,531 orders; average order value stayed flat at about $505.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Growth came from more customers and orders, not from raising prices.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Operating profit is reported profit after cost of goods and freight.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5303520"/>
            <a:ext cx="4114800" cy="731520"/>
          </a:xfrm>
          <a:prstGeom prst="rect">
            <a:avLst/>
          </a:prstGeom>
          <a:solidFill>
            <a:srgbClr val="EFEEE8"/>
          </a:solidFill>
          <a:ln>
            <a:solidFill>
              <a:srgbClr val="C5A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22014"/>
                </a:solidFill>
              </a:defRPr>
            </a:pPr>
            <a:r>
              <a:t>Order Volume: 4,440 → 8,531 (+92.1%)  |  Avg Order Value: ~$505 (flat, -0.9%)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Margin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Operating margin stayed near 11% while sales climbed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Gross sales and operating margin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 (top) · margin % (bottom)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11680"/>
          <a:ext cx="67665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3858768"/>
          <a:ext cx="67665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66928" y="5769864"/>
            <a:ext cx="118872" cy="118872"/>
          </a:xfrm>
          <a:prstGeom prst="rect">
            <a:avLst/>
          </a:prstGeom>
          <a:solidFill>
            <a:srgbClr val="E2DC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574243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Gross sales (top)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3996" y="576986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418588" y="574243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Operating margin (bottom)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Volume was rewarded, margin was not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Revenue compounded at 23.9% a year, but operating margin moved only from 11.0% to 11.7%.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Profit grew almost exactly in line with revenue, so every extra dollar of sales carried the same thin margin.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company measures and pays for gross volume, so sales teams had no reason to defend price.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Margin, not revenue, is the number the Board should track from here.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Operating margin = profit / gross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Profit leakage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One in four order lines loses money and drains $921K of earned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From earned profit to reported profit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33872"/>
            <a:ext cx="118872" cy="118872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Earned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9616" y="5833872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64208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Lost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5144" y="5833872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59736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Reported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What the bridge shows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Profitable lines earn $2.39M before the losses; that core is strong on its own.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12,544 lines (24.5% of all lines) were priced at a loss and removed $0.92M of that profit.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Reported operating profit of $1.47M understates how profitable the healthy core really is.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loss is a pricing and cost-to-serve outcome, not a weak market.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A line is loss-making where reported profit, net of cost of goods and freight, is negative.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Geography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Losses concentrate in four countries, led by Turkey and Nigeria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by country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thousand,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A company-policy loss, not a market loss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07808" y="2103120"/>
            <a:ext cx="4016959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Turkey (-$98K) and Nigeria (-$81K) alone account for $179K of the deficit.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29 of 147 countries are net-negative; the top four carry 56% of that deficit.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Both were sold at extreme average discounts: 60% in Turkey and 70% in Nigeria.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The EMEA market (Europe, Middle East and Africa) runs a 5.4% margin, well below 12-13% in the other markets.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No discount or freight cost was charged back to these territories, so their losses were absorbed centrally.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Discount is the order-line average; country profit is net of all lines in that country.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Tables is the only one of 17 sub-categories that loses 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by sub-category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thousand,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61304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Loss-making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2516" y="586130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007108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Profitable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A pricing and freight problem, not demand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Tables lost $64.1K on $757K of sales, a -8.5% margin, and is the only deficit sub-category.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It carried a 29.1% average discount plus the highest freight per unit of any line.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rest of the portfolio is profitable: Copiers +$259K, Phones +$217K, Bookcases +$162K.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Furniture overall runs a 6.9% margin against 14.0% for Technology.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All 17 sub-categories, ranked by operating profit.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Discounting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Order economics invert once the discount passes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margin by discount band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margin %, all order lines FY2011-FY2014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3786922" y="1965960"/>
            <a:ext cx="0" cy="3657599"/>
          </a:xfrm>
          <a:prstGeom prst="line">
            <a:avLst/>
          </a:prstGeom>
          <a:ln w="15875">
            <a:solidFill>
              <a:srgbClr val="3220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32642" y="175564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3921"/>
                </a:solidFill>
                <a:latin typeface="Arial"/>
              </a:rPr>
              <a:t>20% discount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20% break-even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Below 20% every line is profitable: margin runs from +25.3% at no discount to +9.9% at 10-20%.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Above 20% every band is loss-making, sliding from -5.5% to -111%.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11,328 lines (22.1%) were priced above the 20% line and lost $814,682 in total.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Gross margin cannot cover concessions deeper than 20%, so the cap follows from the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Bands follow the discount distribution in the ledger.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852160"/>
            <a:ext cx="137160" cy="137160"/>
          </a:xfrm>
          <a:prstGeom prst="rect">
            <a:avLst/>
          </a:prstGeom>
          <a:solidFill>
            <a:srgbClr val="5A3921"/>
          </a:solidFill>
          <a:ln>
            <a:solidFill>
              <a:srgbClr val="5A3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8064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2014"/>
                </a:solidFill>
              </a:defRPr>
            </a:pPr>
            <a:r>
              <a:t>Profitable (≤20% discount)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852160"/>
            <a:ext cx="137160" cy="137160"/>
          </a:xfrm>
          <a:prstGeom prst="rect">
            <a:avLst/>
          </a:prstGeom>
          <a:solidFill>
            <a:srgbClr val="A22727"/>
          </a:solidFill>
          <a:ln>
            <a:solidFill>
              <a:srgbClr val="A2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58064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2014"/>
                </a:solidFill>
              </a:defRPr>
            </a:pPr>
            <a:r>
              <a:t>Operating deficit (&gt;20% discount)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Cost to serve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Expedited orders lose up to 24% of sales value to freight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Freight cost as a share of sales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% of invoiced sales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6130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Order 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8256" y="5861304"/>
            <a:ext cx="118872" cy="118872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212848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Ship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Cost to serve is never charged 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Critical-priority orders spend 23.8% of their sales value on freight; Same Day spends 17.4%.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Standard Class spends only 8.1%, a third of the Critical rate.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Company-wide freight is 10.7% of sales and is not passed through on bulky or expedited lines.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Deep discounts and heavy freight co-occur on the same orders, so those orders struggle to recover.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Freight ratio = shipping cost / gross sales.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Root causes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322014"/>
                </a:solidFill>
                <a:latin typeface="Georgia"/>
              </a:rPr>
              <a:t>Deep discounts, loss-making territories and bulky Tables drive the $921K leak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11064240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06040"/>
                <a:gridCol w="4160520"/>
                <a:gridCol w="2606040"/>
                <a:gridCol w="1691640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Root cause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Evidence in the data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Where it concentrates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Profit recovered by the fix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Uncontrolled discounting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22.1% of lines were priced above a 20% discount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Margin inverts at the 20% line, from +9.9% to -5.5%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Every market; worst in EMEA and LATAM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+$1.03M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Loss-making overseas territories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Turkey -$98K and Nigeria -$81K at 60-70% average discounts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EMEA margin 5.4% against 12-13% elsewhere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Turkey, Nigeria, Netherlands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+$0.18M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Bulk freight on Tables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Tables -$64K at a 29.1% average discount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Expedited freight runs at 17-24% of sales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Tables within Furniture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+$0.05M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7959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Recovery exceeds the reported $921K loss because capping discounts at 20% returns those lines to a positive margin (+9.9%), rather than just break-even.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ledger, before the churn allowance. Figures are an analytics estimate, not a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$1.23M of operating profit is recoverable on the full-ledger basis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11064240" cy="38953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08960"/>
                <a:gridCol w="1600200"/>
                <a:gridCol w="1143000"/>
                <a:gridCol w="356616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KPI to track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Expected impact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1. Pricing governance: cap discounts at 20%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Chief Commercial Officer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1-2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Orders above 15% discount: below 2%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Average discount: below 12%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+$1.03M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2. Restructure loss-making territories to third-party logistics (3PL)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VP Global Supply Chain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3-4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Country operating margin: break-even within 90 days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Freight: below 12% of sales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+$0.18M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3. Tables freight pass-through and repricing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Head of Merchandising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5-7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Tables operating margin: above +10%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Dimensional freight recovery: 100%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+$0.05M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ledger; levers are gross and the $1.23M headline is net of a churn allowance, about $0.31M a year on the same run-rate. Modelling estimate, not a forecast.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Financial impact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base case lifts operating profit 84% and margin to 19.9%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bridge, baseline to projected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million, FY2011-FY2014 ledger basis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4598" y="3743928"/>
            <a:ext cx="541020" cy="1577879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5028" y="350618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$1.47M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02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6637" y="2633927"/>
            <a:ext cx="541020" cy="1110001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515618" y="3743928"/>
            <a:ext cx="541019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87068" y="2396183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+$1.03M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706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Discount cap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8678" y="2441398"/>
            <a:ext cx="541020" cy="192529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2597658" y="2633927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69108" y="220365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+$0.18M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910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Territory 3PL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0718" y="2391921"/>
            <a:ext cx="541020" cy="49476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3679698" y="2441398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51148" y="2154177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+$0.05M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114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Freight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2758" y="2391921"/>
            <a:ext cx="541020" cy="25813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4761738" y="2391921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33188" y="2445167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A22727"/>
                </a:solidFill>
                <a:latin typeface="Arial"/>
              </a:rPr>
              <a:t>-$0.02M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318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Churn (5%)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4798" y="2416660"/>
            <a:ext cx="541020" cy="2905147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32" name="Connector 31"/>
          <p:cNvCxnSpPr/>
          <p:nvPr/>
        </p:nvCxnSpPr>
        <p:spPr>
          <a:xfrm>
            <a:off x="5843778" y="2417735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15228" y="217891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$2.70M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522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Projected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4088" y="5321807"/>
            <a:ext cx="64922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66928" y="5586984"/>
            <a:ext cx="118872" cy="118872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Baseline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36776" y="5586984"/>
            <a:ext cx="118872" cy="118872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801368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Recovery levers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6684" y="5586984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351276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Churn allowance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36592" y="558698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901183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Projected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recovery path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Baseline operating profit on the four-year ledger is $1.467M at an 11.6% blended margin.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20% discount cap contributes +$1.03M, the largest single lever.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Territory restructuring adds +$0.18M and Tables freight +$0.05M.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After the churn allowance the company lands at $2.70M and a 19.9% blended margin, about $0.31M a year higher.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analytics simulation on the FY2011-FY2014 ledger (base case: 20% cap, $15 per table unit surcharge, full 3PL transition, 5% churn allowance). Modelling estimate, not a forecast.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Sensitivity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recommendation holds under conservative and aggressive assumptions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0698480" cy="3566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/>
                <a:gridCol w="1325880"/>
                <a:gridCol w="1463040"/>
                <a:gridCol w="1508760"/>
                <a:gridCol w="1600200"/>
                <a:gridCol w="1051560"/>
                <a:gridCol w="123444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Discount cap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Tables surcharge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Churn allowance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Projected profit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Uplift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Baseline (status quo)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No cap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$1.467M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Conservative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7.0%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$2.373M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17.8%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+$0.91M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Base case (recommended)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$15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5.0%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$2.701M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19.9%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+$1.23M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Aggressive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$25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$2.997M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21.7%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+$1.53M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analytics simulation on the FY2011-FY2014 ledger. Highlighted row is the recommended plan; all figures are on the four-year ledger basis and are modelling estimates, not forecasts.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Execution runs from immediate price controls to a permanent margin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Four-phase implementation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38767" y="170078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months 1-12</a:t>
            </a:r>
          </a:p>
        </p:txBody>
      </p:sp>
      <p:sp>
        <p:nvSpPr>
          <p:cNvPr id="12" name="Chevron 11"/>
          <p:cNvSpPr/>
          <p:nvPr/>
        </p:nvSpPr>
        <p:spPr>
          <a:xfrm>
            <a:off x="566928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1  Commercial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Lock a 20% discount ceiling into order entry and move sales pay from volume to margin contribution.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1-2 · Target: no order above 20% without approval</a:t>
            </a:r>
          </a:p>
        </p:txBody>
      </p:sp>
      <p:sp>
        <p:nvSpPr>
          <p:cNvPr id="16" name="Chevron 15"/>
          <p:cNvSpPr/>
          <p:nvPr/>
        </p:nvSpPr>
        <p:spPr>
          <a:xfrm>
            <a:off x="3358819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4579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2  Territory restructuring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579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Move Turkey and Nigeria to local master distributors and bonded third-party logistics, ending cross-border air freight.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579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3-4 · Target: regional loss cut 70%</a:t>
            </a:r>
          </a:p>
        </p:txBody>
      </p:sp>
      <p:sp>
        <p:nvSpPr>
          <p:cNvPr id="20" name="Chevron 19"/>
          <p:cNvSpPr/>
          <p:nvPr/>
        </p:nvSpPr>
        <p:spPr>
          <a:xfrm>
            <a:off x="6150711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16471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3  Freight and Tables repricing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471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Add dimensional freight surcharges on bulky lines and reprice the Tables portfolio.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5-7 · Target: Tables at break-even</a:t>
            </a:r>
          </a:p>
        </p:txBody>
      </p:sp>
      <p:sp>
        <p:nvSpPr>
          <p:cNvPr id="24" name="Chevron 23"/>
          <p:cNvSpPr/>
          <p:nvPr/>
        </p:nvSpPr>
        <p:spPr>
          <a:xfrm>
            <a:off x="8942603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08363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4  Institutional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363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Run quarterly margin audits across all territories and stand up a permanent margin committee.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363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8-12 · Target: margin above 15.5%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turnaround plan derived from the FY2011-FY2014 diagnosis. Phase 1 begins on Board approval.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Board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Board must approve the 20% discount cap and 3PL restructuring this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Three decisions requested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011680"/>
            <a:ext cx="640080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2194560"/>
            <a:ext cx="6309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Approve the 20% discount cap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in order entry, with VP sign-off for discounts between 15% and 20% and a hard block above 20%.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Authorise the 3PL transition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for Turkey and Nigeria to remove the cross-border loss.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Charter a margin committee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chaired by the CFO to review discount leakage and Tables margin every quarter.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5349240"/>
            <a:ext cx="63093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54223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Decision today, first savings inside 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607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Phase 1 needs no new capital and no new systems beyond an order-entry rule.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1737360"/>
            <a:ext cx="4336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What the Board gets in return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87768" y="201168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87768" y="221284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87768" y="226771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+$1.23M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57860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profit, full-ledger basis (+84% on $1.467M)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87768" y="353872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87768" y="359359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19.9%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390448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margin, from 11.6% and above the 15.5% target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87768" y="486460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87768" y="491947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523036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New capital spend required; Phase 1 is an order-entry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ledger. Returns are on the four-year ledger basis and depend on the 5% churn assumption holding. Modelling estimate, not a forecast.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Revival Strategy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2560320"/>
            <a:ext cx="939916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322014"/>
                </a:solidFill>
                <a:latin typeface="Georgia"/>
              </a:rPr>
              <a:t>“Beware of little expenses; a small leak will sink a great ship.”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0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8A7B6B"/>
                </a:solidFill>
                <a:latin typeface="Georgia"/>
              </a:rPr>
              <a:t>Benjamin Franklin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89120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5A3921"/>
                </a:solidFill>
                <a:latin typeface="Georgia"/>
              </a:rPr>
              <a:t>Prepared for the Board of Directors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6235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Source data: Global Superstore transaction ledger, FY2011-FY2014 (51,290 order lines). Deck produced with consulting-pptx-skill (github.com/carnot-tech/consulting-pptx-skill).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