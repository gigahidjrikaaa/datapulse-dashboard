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72" r:id="rId23"/>
    <p:sldId id="266" r:id="rId17"/>
    <p:sldId id="267" r:id="rId18"/>
    <p:sldId id="268" r:id="rId19"/>
    <p:sldId id="269" r:id="rId20"/>
    <p:sldId id="273" r:id="rId25"/>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1.xml"/><Relationship Id="rId24" Type="http://schemas.openxmlformats.org/officeDocument/2006/relationships/notesMaster" Target="notesMasters/notesMaster1.xml"/><Relationship Id="rId25"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Gross sales ($M)</c:v>
                </c:pt>
              </c:strCache>
            </c:strRef>
          </c:tx>
          <c:spPr>
            <a:solidFill>
              <a:srgbClr val="5A3921"/>
            </a:solidFill>
          </c:spPr>
          <c:cat>
            <c:strRef>
              <c:f>Sheet1!$A$2:$A$5</c:f>
              <c:strCache>
                <c:ptCount val="4"/>
                <c:pt idx="0">
                  <c:v>FY2011</c:v>
                </c:pt>
                <c:pt idx="1">
                  <c:v>FY2012</c:v>
                </c:pt>
                <c:pt idx="2">
                  <c:v>FY2013</c:v>
                </c:pt>
                <c:pt idx="3">
                  <c:v>FY2014</c:v>
                </c:pt>
              </c:strCache>
            </c:strRef>
          </c:cat>
          <c:val>
            <c:numRef>
              <c:f>Sheet1!$B$2:$B$5</c:f>
              <c:numCache>
                <c:formatCode>General</c:formatCode>
                <c:ptCount val="4"/>
                <c:pt idx="0">
                  <c:v>2.26</c:v>
                </c:pt>
                <c:pt idx="1">
                  <c:v>2.68</c:v>
                </c:pt>
                <c:pt idx="2">
                  <c:v>3.41</c:v>
                </c:pt>
                <c:pt idx="3">
                  <c:v>4.3</c:v>
                </c:pt>
              </c:numCache>
            </c:numRef>
          </c:val>
        </c:ser>
        <c:ser>
          <c:idx val="1"/>
          <c:order val="1"/>
          <c:tx>
            <c:strRef>
              <c:f>Sheet1!$C$1</c:f>
              <c:strCache>
                <c:ptCount val="1"/>
                <c:pt idx="0">
                  <c:v>Operating profit ($M)</c:v>
                </c:pt>
              </c:strCache>
            </c:strRef>
          </c:tx>
          <c:spPr>
            <a:solidFill>
              <a:srgbClr val="C5A681"/>
            </a:solidFill>
          </c:spPr>
          <c:dLbls>
            <c:numFmt formatCode="$0.00&quot;M&quot;" sourceLinked="0"/>
            <c:txPr>
              <a:bodyPr/>
              <a:lstStyle/>
              <a:p>
                <a:pPr>
                  <a:defRPr sz="800" b="1">
                    <a:solidFill>
                      <a:srgbClr val="322014"/>
                    </a:solidFill>
                    <a:latin typeface="Arial"/>
                  </a:defRPr>
                </a:pPr>
              </a:p>
            </c:txPr>
            <c:dLblPos val="outEnd"/>
            <c:showLegendKey val="0"/>
            <c:showVal val="1"/>
            <c:showCatName val="0"/>
            <c:showSerName val="0"/>
            <c:showPercent val="0"/>
            <c:showBubbleSize val="0"/>
          </c:dLbls>
          <c:cat>
            <c:strRef>
              <c:f>Sheet1!$A$2:$A$5</c:f>
              <c:strCache>
                <c:ptCount val="4"/>
                <c:pt idx="0">
                  <c:v>FY2011</c:v>
                </c:pt>
                <c:pt idx="1">
                  <c:v>FY2012</c:v>
                </c:pt>
                <c:pt idx="2">
                  <c:v>FY2013</c:v>
                </c:pt>
                <c:pt idx="3">
                  <c:v>FY2014</c:v>
                </c:pt>
              </c:strCache>
            </c:strRef>
          </c:cat>
          <c:val>
            <c:numRef>
              <c:f>Sheet1!$C$2:$C$5</c:f>
              <c:numCache>
                <c:formatCode>General</c:formatCode>
                <c:ptCount val="4"/>
                <c:pt idx="0">
                  <c:v>0.25</c:v>
                </c:pt>
                <c:pt idx="1">
                  <c:v>0.31</c:v>
                </c:pt>
                <c:pt idx="2">
                  <c:v>0.41</c:v>
                </c:pt>
                <c:pt idx="3">
                  <c:v>0.5</c:v>
                </c:pt>
              </c:numCache>
            </c:numRef>
          </c:val>
        </c:ser>
        <c:dLbls>
          <c:numFmt formatCode="$0.00&quot;M&quot;" sourceLinked="0"/>
          <c:txPr>
            <a:bodyPr/>
            <a:lstStyle/>
            <a:p>
              <a:pPr>
                <a:defRPr sz="1100" b="1">
                  <a:solidFill>
                    <a:srgbClr val="322014"/>
                  </a:solidFill>
                  <a:latin typeface="Aria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w="12700">
            <a:solidFill>
              <a:srgbClr val="322014"/>
            </a:solidFill>
          </a:ln>
        </c:spPr>
        <c:txPr>
          <a:bodyPr/>
          <a:lstStyle/>
          <a:p>
            <a:pPr>
              <a:defRPr sz="1000">
                <a:solidFill>
                  <a:srgbClr val="322014"/>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spPr>
            <a:solidFill>
              <a:srgbClr val="E2DCD2"/>
            </a:solidFill>
          </c:spPr>
          <c:cat>
            <c:strRef>
              <c:f>Sheet1!$A$2:$A$5</c:f>
              <c:strCache>
                <c:ptCount val="4"/>
                <c:pt idx="0">
                  <c:v>FY2011</c:v>
                </c:pt>
                <c:pt idx="1">
                  <c:v>FY2012</c:v>
                </c:pt>
                <c:pt idx="2">
                  <c:v>FY2013</c:v>
                </c:pt>
                <c:pt idx="3">
                  <c:v>FY2014</c:v>
                </c:pt>
              </c:strCache>
            </c:strRef>
          </c:cat>
          <c:val>
            <c:numRef>
              <c:f>Sheet1!$B$2:$B$5</c:f>
              <c:numCache>
                <c:formatCode>General</c:formatCode>
                <c:ptCount val="4"/>
                <c:pt idx="0">
                  <c:v>2.26</c:v>
                </c:pt>
                <c:pt idx="1">
                  <c:v>2.68</c:v>
                </c:pt>
                <c:pt idx="2">
                  <c:v>3.41</c:v>
                </c:pt>
                <c:pt idx="3">
                  <c:v>4.3</c:v>
                </c:pt>
              </c:numCache>
            </c:numRef>
          </c:val>
        </c:ser>
        <c:dLbls>
          <c:numFmt formatCode="$0.00&quot;M&quot;" sourceLinked="0"/>
          <c:txPr>
            <a:bodyPr/>
            <a:lstStyle/>
            <a:p>
              <a:pPr>
                <a:defRPr sz="900" b="1">
                  <a:solidFill>
                    <a:srgbClr val="322014"/>
                  </a:solidFill>
                  <a:latin typeface="Arial"/>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val="0"/>
        <c:axPos val="b"/>
        <c:majorTickMark val="out"/>
        <c:minorTickMark val="none"/>
        <c:tickLblPos val="nextTo"/>
        <c:spPr>
          <a:ln w="12700">
            <a:solidFill>
              <a:srgbClr val="322014"/>
            </a:solidFill>
          </a:ln>
        </c:spPr>
        <c:txPr>
          <a:bodyPr/>
          <a:lstStyle/>
          <a:p>
            <a:pPr>
              <a:defRPr sz="900">
                <a:solidFill>
                  <a:srgbClr val="322014"/>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c:v>
                </c:pt>
              </c:strCache>
            </c:strRef>
          </c:tx>
          <c:spPr>
            <a:ln w="31750">
              <a:solidFill>
                <a:srgbClr val="5A3921"/>
              </a:solidFill>
            </a:ln>
          </c:spPr>
          <c:cat>
            <c:strRef>
              <c:f>Sheet1!$A$2:$A$5</c:f>
              <c:strCache>
                <c:ptCount val="4"/>
                <c:pt idx="0">
                  <c:v>FY2011</c:v>
                </c:pt>
                <c:pt idx="1">
                  <c:v>FY2012</c:v>
                </c:pt>
                <c:pt idx="2">
                  <c:v>FY2013</c:v>
                </c:pt>
                <c:pt idx="3">
                  <c:v>FY2014</c:v>
                </c:pt>
              </c:strCache>
            </c:strRef>
          </c:cat>
          <c:val>
            <c:numRef>
              <c:f>Sheet1!$B$2:$B$5</c:f>
              <c:numCache>
                <c:formatCode>General</c:formatCode>
                <c:ptCount val="4"/>
                <c:pt idx="0">
                  <c:v>11.0</c:v>
                </c:pt>
                <c:pt idx="1">
                  <c:v>11.5</c:v>
                </c:pt>
                <c:pt idx="2">
                  <c:v>11.9</c:v>
                </c:pt>
                <c:pt idx="3">
                  <c:v>11.7</c:v>
                </c:pt>
              </c:numCache>
            </c:numRef>
          </c:val>
          <c:smooth val="0"/>
        </c:ser>
        <c:dLbls>
          <c:numFmt formatCode="0.0&quot;%&quot;" sourceLinked="0"/>
          <c:txPr>
            <a:bodyPr/>
            <a:lstStyle/>
            <a:p>
              <a:pPr>
                <a:defRPr sz="1000" b="1">
                  <a:solidFill>
                    <a:srgbClr val="322014"/>
                  </a:solidFill>
                  <a:latin typeface="Arial"/>
                </a:defRPr>
              </a:pPr>
            </a:p>
          </c:txPr>
          <c:dLblPos val="outEnd"/>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w="12700">
            <a:solidFill>
              <a:srgbClr val="322014"/>
            </a:solidFill>
          </a:ln>
        </c:spPr>
        <c:txPr>
          <a:bodyPr/>
          <a:lstStyle/>
          <a:p>
            <a:pPr>
              <a:defRPr sz="900">
                <a:solidFill>
                  <a:srgbClr val="322014"/>
                </a:solidFill>
                <a:latin typeface="Arial"/>
              </a:defRPr>
            </a:pPr>
          </a:p>
        </c:txPr>
        <c:crossAx val="2140495176"/>
        <c:crosses val="autoZero"/>
        <c:auto val="1"/>
        <c:lblAlgn val="ctr"/>
        <c:lblOffset val="100"/>
        <c:noMultiLvlLbl val="0"/>
      </c:catAx>
      <c:valAx>
        <c:axId val="2140495176"/>
        <c:scaling/>
        <c:delete val="0"/>
        <c:axPos val="l"/>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spPr>
            <a:solidFill>
              <a:srgbClr val="5A3921"/>
            </a:solidFill>
          </c:spPr>
          <c:dPt>
            <c:idx val="0"/>
            <c:spPr>
              <a:solidFill>
                <a:srgbClr val="322014"/>
              </a:solidFill>
            </c:spPr>
          </c:dPt>
          <c:dPt>
            <c:idx val="1"/>
            <c:spPr>
              <a:solidFill>
                <a:srgbClr val="A22727"/>
              </a:solidFill>
            </c:spPr>
          </c:dPt>
          <c:dPt>
            <c:idx val="2"/>
            <c:spPr>
              <a:solidFill>
                <a:srgbClr val="5A3921"/>
              </a:solidFill>
            </c:spPr>
          </c:dPt>
          <c:cat>
            <c:strRef>
              <c:f>Sheet1!$A$2:$A$4</c:f>
              <c:strCache>
                <c:ptCount val="3"/>
                <c:pt idx="0">
                  <c:v>Earned on profitable lines</c:v>
                </c:pt>
                <c:pt idx="1">
                  <c:v>Lost on loss-making lines</c:v>
                </c:pt>
                <c:pt idx="2">
                  <c:v>Reported operating profit</c:v>
                </c:pt>
              </c:strCache>
            </c:strRef>
          </c:cat>
          <c:val>
            <c:numRef>
              <c:f>Sheet1!$B$2:$B$4</c:f>
              <c:numCache>
                <c:formatCode>General</c:formatCode>
                <c:ptCount val="3"/>
                <c:pt idx="0">
                  <c:v>2.39</c:v>
                </c:pt>
                <c:pt idx="1">
                  <c:v>-0.92</c:v>
                </c:pt>
                <c:pt idx="2">
                  <c:v>1.47</c:v>
                </c:pt>
              </c:numCache>
            </c:numRef>
          </c:val>
        </c:ser>
        <c:dLbls>
          <c:numFmt formatCode="$0.00&quot;M&quot;" sourceLinked="0"/>
          <c:txPr>
            <a:bodyPr/>
            <a:lstStyle/>
            <a:p>
              <a:pPr>
                <a:defRPr sz="1100" b="1">
                  <a:solidFill>
                    <a:srgbClr val="322014"/>
                  </a:solidFill>
                  <a:latin typeface="Aria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low"/>
        <c:spPr>
          <a:ln w="12700">
            <a:solidFill>
              <a:srgbClr val="322014"/>
            </a:solidFill>
          </a:ln>
        </c:spPr>
        <c:txPr>
          <a:bodyPr/>
          <a:lstStyle/>
          <a:p>
            <a:pPr>
              <a:defRPr sz="900">
                <a:solidFill>
                  <a:srgbClr val="322014"/>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spPr>
            <a:solidFill>
              <a:srgbClr val="A22727"/>
            </a:solidFill>
          </c:spPr>
          <c:cat>
            <c:strRef>
              <c:f>Sheet1!$A$2:$A$11</c:f>
              <c:strCache>
                <c:ptCount val="10"/>
                <c:pt idx="0">
                  <c:v>South Korea</c:v>
                </c:pt>
                <c:pt idx="1">
                  <c:v>Philippines</c:v>
                </c:pt>
                <c:pt idx="2">
                  <c:v>Sweden</c:v>
                </c:pt>
                <c:pt idx="3">
                  <c:v>Panama</c:v>
                </c:pt>
                <c:pt idx="4">
                  <c:v>Argentina</c:v>
                </c:pt>
                <c:pt idx="5">
                  <c:v>Pakistan</c:v>
                </c:pt>
                <c:pt idx="6">
                  <c:v>Honduras</c:v>
                </c:pt>
                <c:pt idx="7">
                  <c:v>Netherlands</c:v>
                </c:pt>
                <c:pt idx="8">
                  <c:v>Nigeria</c:v>
                </c:pt>
                <c:pt idx="9">
                  <c:v>Turkey</c:v>
                </c:pt>
              </c:strCache>
            </c:strRef>
          </c:cat>
          <c:val>
            <c:numRef>
              <c:f>Sheet1!$B$2:$B$11</c:f>
              <c:numCache>
                <c:formatCode>General</c:formatCode>
                <c:ptCount val="10"/>
                <c:pt idx="0">
                  <c:v>13</c:v>
                </c:pt>
                <c:pt idx="1">
                  <c:v>16</c:v>
                </c:pt>
                <c:pt idx="2">
                  <c:v>18</c:v>
                </c:pt>
                <c:pt idx="3">
                  <c:v>18</c:v>
                </c:pt>
                <c:pt idx="4">
                  <c:v>19</c:v>
                </c:pt>
                <c:pt idx="5">
                  <c:v>22</c:v>
                </c:pt>
                <c:pt idx="6">
                  <c:v>29</c:v>
                </c:pt>
                <c:pt idx="7">
                  <c:v>41</c:v>
                </c:pt>
                <c:pt idx="8">
                  <c:v>81</c:v>
                </c:pt>
                <c:pt idx="9">
                  <c:v>98</c:v>
                </c:pt>
              </c:numCache>
            </c:numRef>
          </c:val>
        </c:ser>
        <c:dLbls>
          <c:numFmt formatCode="-0&quot;K&quot;" sourceLinked="0"/>
          <c:txPr>
            <a:bodyPr/>
            <a:lstStyle/>
            <a:p>
              <a:pPr>
                <a:defRPr sz="1000" b="1">
                  <a:solidFill>
                    <a:srgbClr val="322014"/>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w="12700">
            <a:solidFill>
              <a:srgbClr val="322014"/>
            </a:solidFill>
          </a:ln>
        </c:spPr>
        <c:txPr>
          <a:bodyPr/>
          <a:lstStyle/>
          <a:p>
            <a:pPr>
              <a:defRPr sz="900">
                <a:solidFill>
                  <a:srgbClr val="322014"/>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spPr>
            <a:solidFill>
              <a:srgbClr val="5A3921"/>
            </a:solidFill>
          </c:spPr>
          <c:dPt>
            <c:idx val="0"/>
            <c:spPr>
              <a:solidFill>
                <a:srgbClr val="5A3921"/>
              </a:solidFill>
            </c:spPr>
          </c:dPt>
          <c:dPt>
            <c:idx val="1"/>
            <c:spPr>
              <a:solidFill>
                <a:srgbClr val="5A3921"/>
              </a:solidFill>
            </c:spPr>
          </c:dPt>
          <c:dPt>
            <c:idx val="2"/>
            <c:spPr>
              <a:solidFill>
                <a:srgbClr val="5A3921"/>
              </a:solidFill>
            </c:spPr>
          </c:dPt>
          <c:dPt>
            <c:idx val="3"/>
            <c:spPr>
              <a:solidFill>
                <a:srgbClr val="5A3921"/>
              </a:solidFill>
            </c:spPr>
          </c:dPt>
          <c:dPt>
            <c:idx val="4"/>
            <c:spPr>
              <a:solidFill>
                <a:srgbClr val="5A3921"/>
              </a:solidFill>
            </c:spPr>
          </c:dPt>
          <c:dPt>
            <c:idx val="5"/>
            <c:spPr>
              <a:solidFill>
                <a:srgbClr val="5A3921"/>
              </a:solidFill>
            </c:spPr>
          </c:dPt>
          <c:dPt>
            <c:idx val="6"/>
            <c:spPr>
              <a:solidFill>
                <a:srgbClr val="5A3921"/>
              </a:solidFill>
            </c:spPr>
          </c:dPt>
          <c:dPt>
            <c:idx val="7"/>
            <c:spPr>
              <a:solidFill>
                <a:srgbClr val="5A3921"/>
              </a:solidFill>
            </c:spPr>
          </c:dPt>
          <c:dPt>
            <c:idx val="8"/>
            <c:spPr>
              <a:solidFill>
                <a:srgbClr val="5A3921"/>
              </a:solidFill>
            </c:spPr>
          </c:dPt>
          <c:dPt>
            <c:idx val="9"/>
            <c:spPr>
              <a:solidFill>
                <a:srgbClr val="5A3921"/>
              </a:solidFill>
            </c:spPr>
          </c:dPt>
          <c:dPt>
            <c:idx val="10"/>
            <c:spPr>
              <a:solidFill>
                <a:srgbClr val="5A3921"/>
              </a:solidFill>
            </c:spPr>
          </c:dPt>
          <c:dPt>
            <c:idx val="11"/>
            <c:spPr>
              <a:solidFill>
                <a:srgbClr val="5A3921"/>
              </a:solidFill>
            </c:spPr>
          </c:dPt>
          <c:dPt>
            <c:idx val="12"/>
            <c:spPr>
              <a:solidFill>
                <a:srgbClr val="5A3921"/>
              </a:solidFill>
            </c:spPr>
          </c:dPt>
          <c:dPt>
            <c:idx val="13"/>
            <c:spPr>
              <a:solidFill>
                <a:srgbClr val="5A3921"/>
              </a:solidFill>
            </c:spPr>
          </c:dPt>
          <c:dPt>
            <c:idx val="14"/>
            <c:spPr>
              <a:solidFill>
                <a:srgbClr val="5A3921"/>
              </a:solidFill>
            </c:spPr>
          </c:dPt>
          <c:dPt>
            <c:idx val="15"/>
            <c:spPr>
              <a:solidFill>
                <a:srgbClr val="5A3921"/>
              </a:solidFill>
            </c:spPr>
          </c:dPt>
          <c:dPt>
            <c:idx val="16"/>
            <c:spPr>
              <a:solidFill>
                <a:srgbClr val="A22727"/>
              </a:solidFill>
            </c:spPr>
          </c:dPt>
          <c:cat>
            <c:strRef>
              <c:f>Sheet1!$A$2:$A$18</c:f>
              <c:strCache>
                <c:ptCount val="17"/>
                <c:pt idx="0">
                  <c:v>Copiers</c:v>
                </c:pt>
                <c:pt idx="1">
                  <c:v>Phones</c:v>
                </c:pt>
                <c:pt idx="2">
                  <c:v>Bookcases</c:v>
                </c:pt>
                <c:pt idx="3">
                  <c:v>Appliances</c:v>
                </c:pt>
                <c:pt idx="4">
                  <c:v>Chairs</c:v>
                </c:pt>
                <c:pt idx="5">
                  <c:v>Accessories</c:v>
                </c:pt>
                <c:pt idx="6">
                  <c:v>Storage</c:v>
                </c:pt>
                <c:pt idx="7">
                  <c:v>Binders</c:v>
                </c:pt>
                <c:pt idx="8">
                  <c:v>Paper</c:v>
                </c:pt>
                <c:pt idx="9">
                  <c:v>Machines</c:v>
                </c:pt>
                <c:pt idx="10">
                  <c:v>Art</c:v>
                </c:pt>
                <c:pt idx="11">
                  <c:v>Furnishings</c:v>
                </c:pt>
                <c:pt idx="12">
                  <c:v>Envelopes</c:v>
                </c:pt>
                <c:pt idx="13">
                  <c:v>Supplies</c:v>
                </c:pt>
                <c:pt idx="14">
                  <c:v>Labels</c:v>
                </c:pt>
                <c:pt idx="15">
                  <c:v>Fasteners</c:v>
                </c:pt>
                <c:pt idx="16">
                  <c:v>Tables</c:v>
                </c:pt>
              </c:strCache>
            </c:strRef>
          </c:cat>
          <c:val>
            <c:numRef>
              <c:f>Sheet1!$B$2:$B$18</c:f>
              <c:numCache>
                <c:formatCode>General</c:formatCode>
                <c:ptCount val="17"/>
                <c:pt idx="0">
                  <c:v>259</c:v>
                </c:pt>
                <c:pt idx="1">
                  <c:v>217</c:v>
                </c:pt>
                <c:pt idx="2">
                  <c:v>162</c:v>
                </c:pt>
                <c:pt idx="3">
                  <c:v>142</c:v>
                </c:pt>
                <c:pt idx="4">
                  <c:v>140</c:v>
                </c:pt>
                <c:pt idx="5">
                  <c:v>130</c:v>
                </c:pt>
                <c:pt idx="6">
                  <c:v>108</c:v>
                </c:pt>
                <c:pt idx="7">
                  <c:v>72</c:v>
                </c:pt>
                <c:pt idx="8">
                  <c:v>59</c:v>
                </c:pt>
                <c:pt idx="9">
                  <c:v>59</c:v>
                </c:pt>
                <c:pt idx="10">
                  <c:v>58</c:v>
                </c:pt>
                <c:pt idx="11">
                  <c:v>47</c:v>
                </c:pt>
                <c:pt idx="12">
                  <c:v>30</c:v>
                </c:pt>
                <c:pt idx="13">
                  <c:v>23</c:v>
                </c:pt>
                <c:pt idx="14">
                  <c:v>15</c:v>
                </c:pt>
                <c:pt idx="15">
                  <c:v>12</c:v>
                </c:pt>
                <c:pt idx="16">
                  <c:v>-64</c:v>
                </c:pt>
              </c:numCache>
            </c:numRef>
          </c:val>
        </c:ser>
        <c:dLbls>
          <c:numFmt formatCode="0&quot;K&quot;" sourceLinked="0"/>
          <c:txPr>
            <a:bodyPr/>
            <a:lstStyle/>
            <a:p>
              <a:pPr>
                <a:defRPr sz="850" b="1">
                  <a:solidFill>
                    <a:srgbClr val="322014"/>
                  </a:solidFill>
                  <a:latin typeface="Aria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low"/>
        <c:spPr>
          <a:ln w="12700">
            <a:solidFill>
              <a:srgbClr val="322014"/>
            </a:solidFill>
          </a:ln>
        </c:spPr>
        <c:txPr>
          <a:bodyPr/>
          <a:lstStyle/>
          <a:p>
            <a:pPr>
              <a:defRPr sz="800">
                <a:solidFill>
                  <a:srgbClr val="322014"/>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spPr>
            <a:solidFill>
              <a:srgbClr val="5A3921"/>
            </a:solidFill>
          </c:spPr>
          <c:dPt>
            <c:idx val="0"/>
            <c:spPr>
              <a:solidFill>
                <a:srgbClr val="5A3921"/>
              </a:solidFill>
            </c:spPr>
          </c:dPt>
          <c:dPt>
            <c:idx val="1"/>
            <c:spPr>
              <a:solidFill>
                <a:srgbClr val="5A3921"/>
              </a:solidFill>
            </c:spPr>
          </c:dPt>
          <c:dPt>
            <c:idx val="2"/>
            <c:spPr>
              <a:solidFill>
                <a:srgbClr val="5A3921"/>
              </a:solidFill>
            </c:spPr>
          </c:dPt>
          <c:dPt>
            <c:idx val="3"/>
            <c:spPr>
              <a:solidFill>
                <a:srgbClr val="A22727"/>
              </a:solidFill>
            </c:spPr>
          </c:dPt>
          <c:dPt>
            <c:idx val="4"/>
            <c:spPr>
              <a:solidFill>
                <a:srgbClr val="A22727"/>
              </a:solidFill>
            </c:spPr>
          </c:dPt>
          <c:dPt>
            <c:idx val="5"/>
            <c:spPr>
              <a:solidFill>
                <a:srgbClr val="A22727"/>
              </a:solidFill>
            </c:spPr>
          </c:dPt>
          <c:dPt>
            <c:idx val="6"/>
            <c:spPr>
              <a:solidFill>
                <a:srgbClr val="A22727"/>
              </a:solidFill>
            </c:spPr>
          </c:dPt>
          <c:cat>
            <c:strRef>
              <c:f>Sheet1!$A$2:$A$8</c:f>
              <c:strCache>
                <c:ptCount val="7"/>
                <c:pt idx="0">
                  <c:v>0%</c:v>
                </c:pt>
                <c:pt idx="1">
                  <c:v>0.1-10%</c:v>
                </c:pt>
                <c:pt idx="2">
                  <c:v>10.1-20%</c:v>
                </c:pt>
                <c:pt idx="3">
                  <c:v>20.1-30%</c:v>
                </c:pt>
                <c:pt idx="4">
                  <c:v>30.1-40%</c:v>
                </c:pt>
                <c:pt idx="5">
                  <c:v>40.1-50%</c:v>
                </c:pt>
                <c:pt idx="6">
                  <c:v>&gt;50%</c:v>
                </c:pt>
              </c:strCache>
            </c:strRef>
          </c:cat>
          <c:val>
            <c:numRef>
              <c:f>Sheet1!$B$2:$B$8</c:f>
              <c:numCache>
                <c:formatCode>General</c:formatCode>
                <c:ptCount val="7"/>
                <c:pt idx="0">
                  <c:v>0.2532</c:v>
                </c:pt>
                <c:pt idx="1">
                  <c:v>0.1723</c:v>
                </c:pt>
                <c:pt idx="2">
                  <c:v>0.0986</c:v>
                </c:pt>
                <c:pt idx="3">
                  <c:v>-0.0553</c:v>
                </c:pt>
                <c:pt idx="4">
                  <c:v>-0.2369</c:v>
                </c:pt>
                <c:pt idx="5">
                  <c:v>-0.4526</c:v>
                </c:pt>
                <c:pt idx="6">
                  <c:v>-1.1102</c:v>
                </c:pt>
              </c:numCache>
            </c:numRef>
          </c:val>
        </c:ser>
        <c:dLbls>
          <c:numFmt formatCode="0.0%" sourceLinked="0"/>
          <c:txPr>
            <a:bodyPr/>
            <a:lstStyle/>
            <a:p>
              <a:pPr>
                <a:defRPr sz="1000" b="1">
                  <a:solidFill>
                    <a:srgbClr val="322014"/>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w="12700">
            <a:solidFill>
              <a:srgbClr val="322014"/>
            </a:solidFill>
          </a:ln>
        </c:spPr>
        <c:txPr>
          <a:bodyPr/>
          <a:lstStyle/>
          <a:p>
            <a:pPr>
              <a:defRPr sz="900">
                <a:solidFill>
                  <a:srgbClr val="322014"/>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spPr>
            <a:solidFill>
              <a:srgbClr val="5A3921"/>
            </a:solidFill>
          </c:spPr>
          <c:dPt>
            <c:idx val="0"/>
            <c:spPr>
              <a:solidFill>
                <a:srgbClr val="C5A681"/>
              </a:solidFill>
            </c:spPr>
          </c:dPt>
          <c:dPt>
            <c:idx val="1"/>
            <c:spPr>
              <a:solidFill>
                <a:srgbClr val="C5A681"/>
              </a:solidFill>
            </c:spPr>
          </c:dPt>
          <c:dPt>
            <c:idx val="2"/>
            <c:spPr>
              <a:solidFill>
                <a:srgbClr val="5A3921"/>
              </a:solidFill>
            </c:spPr>
          </c:dPt>
          <c:dPt>
            <c:idx val="3"/>
            <c:spPr>
              <a:solidFill>
                <a:srgbClr val="C5A681"/>
              </a:solidFill>
            </c:spPr>
          </c:dPt>
          <c:dPt>
            <c:idx val="4"/>
            <c:spPr>
              <a:solidFill>
                <a:srgbClr val="C5A681"/>
              </a:solidFill>
            </c:spPr>
          </c:dPt>
          <c:dPt>
            <c:idx val="5"/>
            <c:spPr>
              <a:solidFill>
                <a:srgbClr val="5A3921"/>
              </a:solidFill>
            </c:spPr>
          </c:dPt>
          <c:cat>
            <c:strRef>
              <c:f>Sheet1!$A$2:$A$7</c:f>
              <c:strCache>
                <c:ptCount val="6"/>
                <c:pt idx="0">
                  <c:v>Standard Class</c:v>
                </c:pt>
                <c:pt idx="1">
                  <c:v>Second Class</c:v>
                </c:pt>
                <c:pt idx="2">
                  <c:v>High priority</c:v>
                </c:pt>
                <c:pt idx="3">
                  <c:v>First Class</c:v>
                </c:pt>
                <c:pt idx="4">
                  <c:v>Same Day</c:v>
                </c:pt>
                <c:pt idx="5">
                  <c:v>Critical priority</c:v>
                </c:pt>
              </c:strCache>
            </c:strRef>
          </c:cat>
          <c:val>
            <c:numRef>
              <c:f>Sheet1!$B$2:$B$7</c:f>
              <c:numCache>
                <c:formatCode>General</c:formatCode>
                <c:ptCount val="6"/>
                <c:pt idx="0">
                  <c:v>0.0811</c:v>
                </c:pt>
                <c:pt idx="1">
                  <c:v>0.1224</c:v>
                </c:pt>
                <c:pt idx="2">
                  <c:v>0.1338</c:v>
                </c:pt>
                <c:pt idx="3">
                  <c:v>0.1683</c:v>
                </c:pt>
                <c:pt idx="4">
                  <c:v>0.1738</c:v>
                </c:pt>
                <c:pt idx="5">
                  <c:v>0.2381</c:v>
                </c:pt>
              </c:numCache>
            </c:numRef>
          </c:val>
        </c:ser>
        <c:dLbls>
          <c:numFmt formatCode="0.0%" sourceLinked="0"/>
          <c:txPr>
            <a:bodyPr/>
            <a:lstStyle/>
            <a:p>
              <a:pPr>
                <a:defRPr sz="1100" b="1">
                  <a:solidFill>
                    <a:srgbClr val="322014"/>
                  </a:solidFill>
                  <a:latin typeface="Aria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out"/>
        <c:minorTickMark val="none"/>
        <c:tickLblPos val="nextTo"/>
        <c:spPr>
          <a:ln w="12700">
            <a:solidFill>
              <a:srgbClr val="322014"/>
            </a:solidFill>
          </a:ln>
        </c:spPr>
        <c:txPr>
          <a:bodyPr/>
          <a:lstStyle/>
          <a:p>
            <a:pPr>
              <a:defRPr sz="1000">
                <a:solidFill>
                  <a:srgbClr val="322014"/>
                </a:solidFill>
                <a:latin typeface="Arial"/>
              </a:defRPr>
            </a:pPr>
          </a:p>
        </c:txPr>
        <c:crossAx val="-2113994440"/>
        <c:crosses val="autoZero"/>
        <c:auto val="1"/>
        <c:lblAlgn val="ctr"/>
        <c:lblOffset val="100"/>
        <c:noMultiLvlLbl val="0"/>
      </c:catAx>
      <c:valAx>
        <c:axId val="-2113994440"/>
        <c:scaling/>
        <c:delete val="0"/>
        <c:axPos val="b"/>
        <c:majorGridlines>
          <c:spPr>
            <a:ln w="9525">
              <a:solidFill>
                <a:srgbClr val="E2DCD2"/>
              </a:solidFill>
            </a:ln>
          </c:spPr>
        </c:majorGridlines>
        <c:majorTickMark val="out"/>
        <c:minorTickMark val="none"/>
        <c:tickLblPos val="nextTo"/>
        <c:spPr>
          <a:ln>
            <a:noFill/>
          </a:ln>
        </c:spPr>
        <c:txPr>
          <a:bodyPr/>
          <a:lstStyle/>
          <a:p>
            <a:pPr>
              <a:defRPr sz="800">
                <a:solidFill>
                  <a:srgbClr val="8A7B6B"/>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1 of 18]</a:t>
            </a:r>
          </a:p>
          <a:p>
            <a:r>
              <a:t>SAY: "Good morning. We studied four years of sales data - 51,290 order lines. We found one thing: Global Superstore does not have a growth problem. It has a pricing problem. In the next ten minutes we will show you where the profit is going, and a three-step plan that brings back $1.23M without spending any new money."</a:t>
            </a:r>
          </a:p>
          <a:p>
            <a:r>
              <a:t>DELIVERY: Say one line about the team - Syndicate 6, seven analysts - then move on. Do not read the name list.</a:t>
            </a:r>
          </a:p>
          <a:p>
            <a:r>
              <a:t>TRANSITION: "Let us start with the headline."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Slide 2 of 18]</a:t>
            </a:r>
          </a:p>
          <a:p>
            <a:r>
              <a:t>SAY: Four numbers tell the whole story. Revenue almost doubled, from $2.26M to $4.30M - up 90.3% - so the rumours about falling sales are wrong. But margin stayed at 11.6%. Why? One in four order lines was sold at a loss, and those losses destroyed $920,646. The fix is not more sales - it is three actions that bring back $1.23M, an 84% increase, with no new money.</a:t>
            </a:r>
          </a:p>
          <a:p>
            <a:r>
              <a:t>DELIVERY: Point at each of the four cards as you say it. Pause after "$920,646".</a:t>
            </a:r>
          </a:p>
          <a:p>
            <a:r>
              <a:t>IF ASKED "is $1.23M realistic?": "It is the base case of our simulator. Even the careful case gives +$0.91M - slide 14 shows that test."</a:t>
            </a:r>
          </a:p>
          <a:p>
            <a:r>
              <a:t>TRANSITION: "First: is the growth real?"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3 of 18]</a:t>
            </a:r>
          </a:p>
          <a:p>
            <a:r>
              <a:t>SAY: The growth is real, and it comes from more orders. Revenue rose every year: +18.5%, +27.2%, +26.3%. Operating profit more than doubled, to $504K. Orders grew from 4,440 to 8,531. The average order stayed at about $505. We grew by adding customers, not by raising prices - and that is why margin never improved.</a:t>
            </a:r>
          </a:p>
          <a:p>
            <a:r>
              <a:t>TRANSITION: "Look at the margin line: every extra dollar came with the same thin profit."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4 of 18]</a:t>
            </a:r>
          </a:p>
          <a:p>
            <a:r>
              <a:t>SAY: Margin stayed between 11.0% and 11.9% for four years. Profit grew at the same speed as sales, so getting bigger did not make us more profitable. Why? The company pays bonuses for sales volume, so nobody protected the price. From today, margin - not revenue - is the number to watch.</a:t>
            </a:r>
          </a:p>
          <a:p>
            <a:r>
              <a:t>TRANSITION: "So where does the profit go? One in four orders loses money."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Slide 5 of 18]</a:t>
            </a:r>
          </a:p>
          <a:p>
            <a:r>
              <a:t>SAY: Read the bridge from left to right. Orders that make money bring in $2.39M - that part is strong. But 12,544 order lines - one in four - were sold below cost, and they destroyed $920,646 of it. What is left: $1.47M.</a:t>
            </a:r>
          </a:p>
          <a:p>
            <a:r>
              <a:t>DELIVERY: Slow down on "one in four".</a:t>
            </a:r>
          </a:p>
          <a:p>
            <a:r>
              <a:t>IF ASKED "is 24.5% normal?": "Healthy shops lose money on only a few percent of orders. Our number is high because of our own pricing rules - slide 8 shows exactly how."</a:t>
            </a:r>
          </a:p>
          <a:p>
            <a:r>
              <a:t>TRANSITION: "Where is the loss? First, the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6 of 18]</a:t>
            </a:r>
          </a:p>
          <a:p>
            <a:r>
              <a:t>SAY: 29 of 147 countries lose money. Turkey (-$98K) and Nigeria (-$81K) are the biggest. Both sold with 60-70% discounts, and we paid their shipping costs ourselves. This is a policy problem, not a market problem: EMEA earns 5.4% margin while our healthy markets earn 12-13%.</a:t>
            </a:r>
          </a:p>
          <a:p>
            <a:r>
              <a:t>TRANSITION: "One product tells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7 of 18]</a:t>
            </a:r>
          </a:p>
          <a:p>
            <a:r>
              <a:t>SAY: 16 of 17 product lines make money - Copiers +$259K, Phones +$217K. Only Tables loses: -$64K on $757K of sales, with a 29.1% average discount and the highest shipping cost per item. That is why Furniture earns 6.9% and Technology 14.0%.</a:t>
            </a:r>
          </a:p>
          <a:p>
            <a:r>
              <a:t>TRANSITION: "But the biggest single cause is one number: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Slide 8 of 18]</a:t>
            </a:r>
          </a:p>
          <a:p>
            <a:r>
              <a:t>SAY: This is the most important chart in the deck. Below 20% discount, every group makes money: +25.3% with no discount, still +9.9% at 10-20%. Above 20%, every group loses: -5.5%, then -111% past 50%. 11,328 order lines - 22.1% - crossed that line and lost $814,682. That is 88.5% of all the money we lose.</a:t>
            </a:r>
          </a:p>
          <a:p>
            <a:r>
              <a:t>DELIVERY: Move your hand along the fall. Pause on "88.5%".</a:t>
            </a:r>
          </a:p>
          <a:p>
            <a:r>
              <a:t>NEW ON THIS SLIDE: past 50% off, 100% of orders lose money. The correlation between discount and profit is -0.60 (rank) - proof that the damage is a cliff, not a slow slide.</a:t>
            </a:r>
          </a:p>
          <a:p>
            <a:r>
              <a:t>IF ASKED "why exactly 20%?": "Because that is where the data turns negative. It is not a round number we picked - our margin cannot survive discounts deeper than 20%."</a:t>
            </a:r>
          </a:p>
          <a:p>
            <a:r>
              <a:t>TRANSITION: "Shipping is the second cause."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9 of 18]</a:t>
            </a:r>
          </a:p>
          <a:p>
            <a:r>
              <a:t>SAY: Critical-priority orders spend 23.8% of their sales value on shipping; Same Day spends 17.4%. Standard Class spends only 8.1%. Across the company, shipping is 10.7% of sales, and we never charge it to the customer. Big discounts and heavy shipping land on the same orders.</a:t>
            </a:r>
          </a:p>
          <a:p>
            <a:r>
              <a:t>TRANSITION: "Put the three causes together and the picture is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10 of 18]</a:t>
            </a:r>
          </a:p>
          <a:p>
            <a:r>
              <a:t>SAY: Three root causes, and all three are our own rules. Uncontrolled discounts: +$1.03M to fix. Direct shipping to Turkey and Nigeria: +$0.18M. Free freight on Tables: +$0.05M. The recovery is bigger than the $921K leak, because capping discounts turns those orders back into profitable ones.</a:t>
            </a:r>
          </a:p>
          <a:p>
            <a:r>
              <a:t>TRANSITION: "Before the plan - what else did we consider?"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Slide 11 of 18]</a:t>
            </a:r>
          </a:p>
          <a:p>
            <a:r>
              <a:t>SAY: We tested three other ideas, and rejected all three. First: raise prices but allow bigger discounts. No - the loss follows the size of the discount, not the list price: 88.5% of the lost money sits above 20%. Second: stop selling in Turkey and Nigeria. No - that gives up $163K of sales; local partners remove the same $179K loss and keep every sale. Third: ask all carriers for cheaper shipping. Not enough - a 10% better price returns about $0.14M after a year of talks, and does not touch the $814,682 discount problem.</a:t>
            </a:r>
          </a:p>
          <a:p>
            <a:r>
              <a:t>IF ASKED "why not raise prices anyway?": "Higher prices hit the 75.5% of orders that are healthy. The cap only touches the 22% that lose money."</a:t>
            </a:r>
          </a:p>
          <a:p>
            <a:r>
              <a:t>TRANSITION: "So here is the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Slide 12 of 18]</a:t>
            </a:r>
          </a:p>
          <a:p>
            <a:r>
              <a:t>SAY: Three actions, each with an owner and a date. One: cap all discounts at 20% in the ordering system - Chief Commercial Officer, months 1-2, +$1.03M. Two: move Turkey and Nigeria to local delivery partners - VP Supply Chain, months 3-4, +$0.18M. Three: charge shipping costs on Tables - Head of Merchandising, months 5-7, +$0.05M. Each action has a KPI, shown on the slide.</a:t>
            </a:r>
          </a:p>
          <a:p>
            <a:r>
              <a:t>TRANSITION: "After customer losses, here is the money."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13 of 18]</a:t>
            </a:r>
          </a:p>
          <a:p>
            <a:r>
              <a:t>SAY: From $1.47M today: add $1.03M from the cap, $0.18M from local partners, $0.05M from freight fees, take away $0.02M for customers who leave - and we reach $2.70M. Margin goes from 11.6% to 19.9%. That is about $0.31M more per year.</a:t>
            </a:r>
          </a:p>
          <a:p>
            <a:r>
              <a:t>IF ASKED about the 5%: "It is a safety margin for customers who leave. The next slide shows we are safe even at 7%."</a:t>
            </a:r>
          </a:p>
          <a:p>
            <a:r>
              <a:t>TRANSITION: "And the plan survives a stress 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Slide 14 of 18]</a:t>
            </a:r>
          </a:p>
          <a:p>
            <a:r>
              <a:t>SAY: The careful case - a 25% cap, no fees, 7% customer loss, half the local-partner change - still adds +$0.91M, to $2.37M. The strong case reaches $3.0M. One sentence: the recommendation does not depend on optimism.</a:t>
            </a:r>
          </a:p>
          <a:p>
            <a:r>
              <a:t>TRANSITION: "Execution is a four-phase plan over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15 of 18]</a:t>
            </a:r>
          </a:p>
          <a:p>
            <a:r>
              <a:t>SAY: Phase 1, months 1-2, is one rule in the ordering system - no new money, no new software. Phase 2, months 3-4, cuts the regional loss by 70%. Phase 3, months 5-7, brings Tables back to zero loss. Phase 4, months 8-12, makes it permanent with quarterly reviews and a margin committee. Target: margin above 15.5%.</a:t>
            </a:r>
          </a:p>
          <a:p>
            <a:r>
              <a:t>TRANSITION: "So what does the future look like if we do this?"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17 of 18]</a:t>
            </a:r>
          </a:p>
          <a:p>
            <a:r>
              <a:t>SAY: Three decisions. Approve the 20% discount cap - manager approval between 15% and 20%, blocked above 20%. Approve the change to local delivery partners in Turkey and Nigeria. Start a margin committee led by the CFO. No new money is needed; first savings come inside 90 days; the full gain is $1.23M and a 19.9% margin.</a:t>
            </a:r>
          </a:p>
          <a:p>
            <a:r>
              <a:t>IF ASKED "what if we approve only the cap?": "The cap alone gives $1.03M of the $1.23M - but Turkey and Nigeria keep losing $179K, so we would ask for that step again within a year."</a:t>
            </a:r>
          </a:p>
          <a:p>
            <a:r>
              <a:t>TRANSITION: "Thank you - we are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Slide 18 of 18]</a:t>
            </a:r>
          </a:p>
          <a:p>
            <a:r>
              <a:t>SAY: End with the quote, then: "This company is losing $921K a year. We know exactly where the money goes, and the repair is three decisions - not a rescue plan. We ask for approval this quarter."</a:t>
            </a:r>
          </a:p>
          <a:p>
            <a:r>
              <a:t>Q&amp;A PREP - the three hardest questions:</a:t>
            </a:r>
          </a:p>
          <a:p>
            <a:r>
              <a:t>1. "Is 5% customer loss too optimistic?" - The careful case uses 7% and still gains +$0.91M (slide 14).</a:t>
            </a:r>
          </a:p>
          <a:p>
            <a:r>
              <a:t>2. "Why not simply raise prices?" - The loss follows the discount size, not the list price; 88.5% of losses sit above the 20% cap (slide 11).</a:t>
            </a:r>
          </a:p>
          <a:p>
            <a:r>
              <a:t>3. "Is the local-partner change risky?" - It goes step by step, per country, with a break-even target in 90 days (slide 12).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Slide 16 of 18]</a:t>
            </a:r>
          </a:p>
          <a:p>
            <a:r>
              <a:t>SAY: Three predictions, all tested on data the models never saw. One: FY2015 revenue will be about $5.28M, up 23%, if trends continue. Two: the 20% cap keeps almost all volume - about 101% - because big discounts never brought many sales. Three: we can name the customers most likely to stop buying. The riskiest tenth of them leave at almost three times the average rate.</a:t>
            </a:r>
          </a:p>
          <a:p>
            <a:r>
              <a:t>DELIVERY: Say slowly: "the cap costs us almost no volume." This is the key new fact.</a:t>
            </a:r>
          </a:p>
          <a:p>
            <a:r>
              <a:t>IF ASKED "how reliable are these numbers?": "The forecast was tested on FY2014: error 10%. The churn model was tested on held-out customers: 0.80 AUC."</a:t>
            </a:r>
          </a:p>
          <a:p>
            <a:r>
              <a:t>TRANSITION: "That brings us to the three approvals we need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2.jp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Board of Directors briefing</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566928" y="2148840"/>
            <a:ext cx="9399163" cy="1463040"/>
          </a:xfrm>
          <a:prstGeom prst="rect">
            <a:avLst/>
          </a:prstGeom>
          <a:noFill/>
        </p:spPr>
        <p:txBody>
          <a:bodyPr wrap="square" anchor="t" lIns="0" rIns="0" tIns="0" bIns="0">
            <a:spAutoFit/>
          </a:bodyPr>
          <a:lstStyle/>
          <a:p>
            <a:pPr algn="l">
              <a:lnSpc>
                <a:spcPct val="106000"/>
              </a:lnSpc>
              <a:spcBef>
                <a:spcPts val="0"/>
              </a:spcBef>
              <a:spcAft>
                <a:spcPts val="200"/>
              </a:spcAft>
            </a:pPr>
            <a:r>
              <a:rPr sz="3400" b="1" i="0">
                <a:solidFill>
                  <a:srgbClr val="322014"/>
                </a:solidFill>
                <a:latin typeface="Georgia"/>
              </a:rPr>
              <a:t>Global Superstore:</a:t>
            </a:r>
          </a:p>
          <a:p>
            <a:pPr algn="l">
              <a:lnSpc>
                <a:spcPct val="106000"/>
              </a:lnSpc>
              <a:spcBef>
                <a:spcPts val="0"/>
              </a:spcBef>
              <a:spcAft>
                <a:spcPts val="300"/>
              </a:spcAft>
            </a:pPr>
            <a:r>
              <a:rPr sz="3400" b="1" i="0">
                <a:solidFill>
                  <a:srgbClr val="322014"/>
                </a:solidFill>
                <a:latin typeface="Georgia"/>
              </a:rPr>
              <a:t>The Revival Strategy</a:t>
            </a:r>
          </a:p>
        </p:txBody>
      </p:sp>
      <p:sp>
        <p:nvSpPr>
          <p:cNvPr id="8" name="Rectangle 7"/>
          <p:cNvSpPr/>
          <p:nvPr/>
        </p:nvSpPr>
        <p:spPr>
          <a:xfrm>
            <a:off x="566928" y="3767328"/>
            <a:ext cx="1143000" cy="54864"/>
          </a:xfrm>
          <a:prstGeom prst="rect">
            <a:avLst/>
          </a:prstGeom>
          <a:solidFill>
            <a:srgbClr val="5A3921"/>
          </a:solidFill>
          <a:ln>
            <a:noFill/>
          </a:ln>
          <a:effectLst/>
        </p:spPr>
        <p:txBody>
          <a:bodyPr rtlCol="0" anchor="ctr"/>
          <a:lstStyle/>
          <a:p/>
        </p:txBody>
      </p:sp>
      <p:sp>
        <p:nvSpPr>
          <p:cNvPr id="9" name="TextBox 8"/>
          <p:cNvSpPr txBox="1"/>
          <p:nvPr/>
        </p:nvSpPr>
        <p:spPr>
          <a:xfrm>
            <a:off x="566928" y="3977639"/>
            <a:ext cx="9399163" cy="365760"/>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5A3921"/>
                </a:solidFill>
                <a:latin typeface="Georgia"/>
              </a:rPr>
              <a:t>From forensic diagnosis to a 6-12 month turnaround plan</a:t>
            </a:r>
          </a:p>
        </p:txBody>
      </p:sp>
      <p:sp>
        <p:nvSpPr>
          <p:cNvPr id="10" name="Rectangle 9"/>
          <p:cNvSpPr/>
          <p:nvPr/>
        </p:nvSpPr>
        <p:spPr>
          <a:xfrm>
            <a:off x="566928" y="4370832"/>
            <a:ext cx="1143000" cy="54864"/>
          </a:xfrm>
          <a:prstGeom prst="rect">
            <a:avLst/>
          </a:prstGeom>
          <a:solidFill>
            <a:srgbClr val="5A3921"/>
          </a:solidFill>
          <a:ln>
            <a:noFill/>
          </a:ln>
          <a:effectLst/>
        </p:spPr>
        <p:txBody>
          <a:bodyPr rtlCol="0" anchor="ctr"/>
          <a:lstStyle/>
          <a:p/>
        </p:txBody>
      </p:sp>
      <p:sp>
        <p:nvSpPr>
          <p:cNvPr id="11" name="TextBox 10"/>
          <p:cNvSpPr txBox="1"/>
          <p:nvPr/>
        </p:nvSpPr>
        <p:spPr>
          <a:xfrm>
            <a:off x="566928" y="4572000"/>
            <a:ext cx="9399163"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322014"/>
                </a:solidFill>
                <a:latin typeface="Georgia"/>
              </a:rPr>
              <a:t>Syndicate 6</a:t>
            </a:r>
          </a:p>
        </p:txBody>
      </p:sp>
      <p:sp>
        <p:nvSpPr>
          <p:cNvPr id="12" name="TextBox 11"/>
          <p:cNvSpPr txBox="1"/>
          <p:nvPr/>
        </p:nvSpPr>
        <p:spPr>
          <a:xfrm>
            <a:off x="566928" y="4846320"/>
            <a:ext cx="4644292" cy="201168"/>
          </a:xfrm>
          <a:prstGeom prst="rect">
            <a:avLst/>
          </a:prstGeom>
          <a:noFill/>
        </p:spPr>
        <p:txBody>
          <a:bodyPr wrap="square" anchor="t" lIns="0" rIns="0" tIns="0" bIns="0">
            <a:spAutoFit/>
          </a:bodyPr>
          <a:lstStyle/>
          <a:p>
            <a:pPr algn="l">
              <a:lnSpc>
                <a:spcPct val="106000"/>
              </a:lnSpc>
              <a:spcBef>
                <a:spcPts val="0"/>
              </a:spcBef>
              <a:spcAft>
                <a:spcPts val="300"/>
              </a:spcAft>
            </a:pPr>
            <a:r>
              <a:rPr sz="950" b="0" i="0">
                <a:solidFill>
                  <a:srgbClr val="322014"/>
                </a:solidFill>
                <a:latin typeface="Arial"/>
              </a:rPr>
              <a:t>1. Giga Hidjrika Aura Adkhy (388)</a:t>
            </a:r>
          </a:p>
        </p:txBody>
      </p:sp>
      <p:sp>
        <p:nvSpPr>
          <p:cNvPr id="13" name="TextBox 12"/>
          <p:cNvSpPr txBox="1"/>
          <p:nvPr/>
        </p:nvSpPr>
        <p:spPr>
          <a:xfrm>
            <a:off x="5348380" y="4846320"/>
            <a:ext cx="4644292" cy="201168"/>
          </a:xfrm>
          <a:prstGeom prst="rect">
            <a:avLst/>
          </a:prstGeom>
          <a:noFill/>
        </p:spPr>
        <p:txBody>
          <a:bodyPr wrap="square" anchor="t" lIns="0" rIns="0" tIns="0" bIns="0">
            <a:spAutoFit/>
          </a:bodyPr>
          <a:lstStyle/>
          <a:p>
            <a:pPr algn="l">
              <a:lnSpc>
                <a:spcPct val="106000"/>
              </a:lnSpc>
              <a:spcBef>
                <a:spcPts val="0"/>
              </a:spcBef>
              <a:spcAft>
                <a:spcPts val="300"/>
              </a:spcAft>
            </a:pPr>
            <a:r>
              <a:rPr sz="950" b="0" i="0">
                <a:solidFill>
                  <a:srgbClr val="322014"/>
                </a:solidFill>
                <a:latin typeface="Arial"/>
              </a:rPr>
              <a:t>5. Nurul Aulia Rahmawati (359)</a:t>
            </a:r>
          </a:p>
        </p:txBody>
      </p:sp>
      <p:sp>
        <p:nvSpPr>
          <p:cNvPr id="14" name="TextBox 13"/>
          <p:cNvSpPr txBox="1"/>
          <p:nvPr/>
        </p:nvSpPr>
        <p:spPr>
          <a:xfrm>
            <a:off x="566928" y="5047488"/>
            <a:ext cx="4644292" cy="201168"/>
          </a:xfrm>
          <a:prstGeom prst="rect">
            <a:avLst/>
          </a:prstGeom>
          <a:noFill/>
        </p:spPr>
        <p:txBody>
          <a:bodyPr wrap="square" anchor="t" lIns="0" rIns="0" tIns="0" bIns="0">
            <a:spAutoFit/>
          </a:bodyPr>
          <a:lstStyle/>
          <a:p>
            <a:pPr algn="l">
              <a:lnSpc>
                <a:spcPct val="106000"/>
              </a:lnSpc>
              <a:spcBef>
                <a:spcPts val="0"/>
              </a:spcBef>
              <a:spcAft>
                <a:spcPts val="300"/>
              </a:spcAft>
            </a:pPr>
            <a:r>
              <a:rPr sz="950" b="0" i="0">
                <a:solidFill>
                  <a:srgbClr val="322014"/>
                </a:solidFill>
                <a:latin typeface="Arial"/>
              </a:rPr>
              <a:t>2. Safia Aisyah Nur Savanah (364)</a:t>
            </a:r>
          </a:p>
        </p:txBody>
      </p:sp>
      <p:sp>
        <p:nvSpPr>
          <p:cNvPr id="15" name="TextBox 14"/>
          <p:cNvSpPr txBox="1"/>
          <p:nvPr/>
        </p:nvSpPr>
        <p:spPr>
          <a:xfrm>
            <a:off x="5348380" y="5047488"/>
            <a:ext cx="4644292" cy="201168"/>
          </a:xfrm>
          <a:prstGeom prst="rect">
            <a:avLst/>
          </a:prstGeom>
          <a:noFill/>
        </p:spPr>
        <p:txBody>
          <a:bodyPr wrap="square" anchor="t" lIns="0" rIns="0" tIns="0" bIns="0">
            <a:spAutoFit/>
          </a:bodyPr>
          <a:lstStyle/>
          <a:p>
            <a:pPr algn="l">
              <a:lnSpc>
                <a:spcPct val="106000"/>
              </a:lnSpc>
              <a:spcBef>
                <a:spcPts val="0"/>
              </a:spcBef>
              <a:spcAft>
                <a:spcPts val="300"/>
              </a:spcAft>
            </a:pPr>
            <a:r>
              <a:rPr sz="950" b="0" i="0">
                <a:solidFill>
                  <a:srgbClr val="322014"/>
                </a:solidFill>
                <a:latin typeface="Arial"/>
              </a:rPr>
              <a:t>6. Cindy Monica Manurung (384)</a:t>
            </a:r>
          </a:p>
        </p:txBody>
      </p:sp>
      <p:sp>
        <p:nvSpPr>
          <p:cNvPr id="16" name="TextBox 15"/>
          <p:cNvSpPr txBox="1"/>
          <p:nvPr/>
        </p:nvSpPr>
        <p:spPr>
          <a:xfrm>
            <a:off x="566928" y="5248656"/>
            <a:ext cx="4644292" cy="201168"/>
          </a:xfrm>
          <a:prstGeom prst="rect">
            <a:avLst/>
          </a:prstGeom>
          <a:noFill/>
        </p:spPr>
        <p:txBody>
          <a:bodyPr wrap="square" anchor="t" lIns="0" rIns="0" tIns="0" bIns="0">
            <a:spAutoFit/>
          </a:bodyPr>
          <a:lstStyle/>
          <a:p>
            <a:pPr algn="l">
              <a:lnSpc>
                <a:spcPct val="106000"/>
              </a:lnSpc>
              <a:spcBef>
                <a:spcPts val="0"/>
              </a:spcBef>
              <a:spcAft>
                <a:spcPts val="300"/>
              </a:spcAft>
            </a:pPr>
            <a:r>
              <a:rPr sz="950" b="0" i="0">
                <a:solidFill>
                  <a:srgbClr val="322014"/>
                </a:solidFill>
                <a:latin typeface="Arial"/>
              </a:rPr>
              <a:t>3. Adiva Fitri Khalishah Cipta Raharja (377)</a:t>
            </a:r>
          </a:p>
        </p:txBody>
      </p:sp>
      <p:sp>
        <p:nvSpPr>
          <p:cNvPr id="17" name="TextBox 16"/>
          <p:cNvSpPr txBox="1"/>
          <p:nvPr/>
        </p:nvSpPr>
        <p:spPr>
          <a:xfrm>
            <a:off x="5348380" y="5248656"/>
            <a:ext cx="4644292" cy="201168"/>
          </a:xfrm>
          <a:prstGeom prst="rect">
            <a:avLst/>
          </a:prstGeom>
          <a:noFill/>
        </p:spPr>
        <p:txBody>
          <a:bodyPr wrap="square" anchor="t" lIns="0" rIns="0" tIns="0" bIns="0">
            <a:spAutoFit/>
          </a:bodyPr>
          <a:lstStyle/>
          <a:p>
            <a:pPr algn="l">
              <a:lnSpc>
                <a:spcPct val="106000"/>
              </a:lnSpc>
              <a:spcBef>
                <a:spcPts val="0"/>
              </a:spcBef>
              <a:spcAft>
                <a:spcPts val="300"/>
              </a:spcAft>
            </a:pPr>
            <a:r>
              <a:rPr sz="950" b="0" i="0">
                <a:solidFill>
                  <a:srgbClr val="322014"/>
                </a:solidFill>
                <a:latin typeface="Arial"/>
              </a:rPr>
              <a:t>7. Louis Alessandro Bonaparte (356)</a:t>
            </a:r>
          </a:p>
        </p:txBody>
      </p:sp>
      <p:sp>
        <p:nvSpPr>
          <p:cNvPr id="18" name="TextBox 17"/>
          <p:cNvSpPr txBox="1"/>
          <p:nvPr/>
        </p:nvSpPr>
        <p:spPr>
          <a:xfrm>
            <a:off x="566928" y="5449824"/>
            <a:ext cx="4644292" cy="201168"/>
          </a:xfrm>
          <a:prstGeom prst="rect">
            <a:avLst/>
          </a:prstGeom>
          <a:noFill/>
        </p:spPr>
        <p:txBody>
          <a:bodyPr wrap="square" anchor="t" lIns="0" rIns="0" tIns="0" bIns="0">
            <a:spAutoFit/>
          </a:bodyPr>
          <a:lstStyle/>
          <a:p>
            <a:pPr algn="l">
              <a:lnSpc>
                <a:spcPct val="106000"/>
              </a:lnSpc>
              <a:spcBef>
                <a:spcPts val="0"/>
              </a:spcBef>
              <a:spcAft>
                <a:spcPts val="300"/>
              </a:spcAft>
            </a:pPr>
            <a:r>
              <a:rPr sz="950" b="0" i="0">
                <a:solidFill>
                  <a:srgbClr val="322014"/>
                </a:solidFill>
                <a:latin typeface="Arial"/>
              </a:rPr>
              <a:t>4. Azka Ghossani A. (357)</a:t>
            </a:r>
          </a:p>
        </p:txBody>
      </p:sp>
      <p:sp>
        <p:nvSpPr>
          <p:cNvPr id="19" name="TextBox 18"/>
          <p:cNvSpPr txBox="1"/>
          <p:nvPr/>
        </p:nvSpPr>
        <p:spPr>
          <a:xfrm>
            <a:off x="566928" y="5623560"/>
            <a:ext cx="11057839" cy="27432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8A7B6B"/>
                </a:solidFill>
                <a:latin typeface="Arial"/>
              </a:rPr>
              <a:t>Analytics Taskforce for the Chief Strategy Officer · FY2011-FY2014 transaction ledger, 51,290 order lines</a:t>
            </a:r>
          </a:p>
        </p:txBody>
      </p:sp>
      <p:pic>
        <p:nvPicPr>
          <p:cNvPr id="20" name="Hero Port Photo" descr="hero_port.jpg"/>
          <p:cNvPicPr>
            <a:picLocks noChangeAspect="1"/>
          </p:cNvPicPr>
          <p:nvPr/>
        </p:nvPicPr>
        <p:blipFill>
          <a:blip r:embed="rId3"/>
          <a:stretch>
            <a:fillRect/>
          </a:stretch>
        </p:blipFill>
        <p:spPr>
          <a:xfrm>
            <a:off x="6675120" y="868680"/>
            <a:ext cx="4946904" cy="29260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Executive summary</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Sales are growing; profit is leaking through discounting and freight</a:t>
            </a:r>
          </a:p>
        </p:txBody>
      </p:sp>
      <p:sp>
        <p:nvSpPr>
          <p:cNvPr id="9" name="Rectangle 8"/>
          <p:cNvSpPr/>
          <p:nvPr/>
        </p:nvSpPr>
        <p:spPr>
          <a:xfrm>
            <a:off x="566928" y="1783080"/>
            <a:ext cx="6400800" cy="4206240"/>
          </a:xfrm>
          <a:prstGeom prst="rect">
            <a:avLst/>
          </a:prstGeom>
          <a:solidFill>
            <a:srgbClr val="322014"/>
          </a:solidFill>
          <a:ln>
            <a:noFill/>
          </a:ln>
          <a:effectLst/>
        </p:spPr>
        <p:txBody>
          <a:bodyPr rtlCol="0" anchor="ctr"/>
          <a:lstStyle/>
          <a:p/>
        </p:txBody>
      </p:sp>
      <p:sp>
        <p:nvSpPr>
          <p:cNvPr id="10" name="TextBox 9"/>
          <p:cNvSpPr txBox="1"/>
          <p:nvPr/>
        </p:nvSpPr>
        <p:spPr>
          <a:xfrm>
            <a:off x="886968" y="2057400"/>
            <a:ext cx="5760720" cy="3611880"/>
          </a:xfrm>
          <a:prstGeom prst="rect">
            <a:avLst/>
          </a:prstGeom>
          <a:noFill/>
        </p:spPr>
        <p:txBody>
          <a:bodyPr wrap="square" anchor="t" lIns="0" rIns="0" tIns="0" bIns="0">
            <a:spAutoFit/>
          </a:bodyPr>
          <a:lstStyle/>
          <a:p>
            <a:pPr algn="l">
              <a:lnSpc>
                <a:spcPct val="106000"/>
              </a:lnSpc>
              <a:spcBef>
                <a:spcPts val="0"/>
              </a:spcBef>
              <a:spcAft>
                <a:spcPts val="800"/>
              </a:spcAft>
            </a:pPr>
            <a:r>
              <a:rPr sz="900" b="1" i="0">
                <a:solidFill>
                  <a:srgbClr val="C5A681"/>
                </a:solidFill>
                <a:latin typeface="Arial"/>
              </a:rPr>
              <a:t>One key message for the Board</a:t>
            </a:r>
          </a:p>
          <a:p>
            <a:pPr algn="l">
              <a:lnSpc>
                <a:spcPct val="118000"/>
              </a:lnSpc>
              <a:spcBef>
                <a:spcPts val="0"/>
              </a:spcBef>
              <a:spcAft>
                <a:spcPts val="300"/>
              </a:spcAft>
            </a:pPr>
            <a:r>
              <a:rPr sz="1450" b="1" i="0">
                <a:solidFill>
                  <a:srgbClr val="FFFFFF"/>
                </a:solidFill>
                <a:latin typeface="Georgia"/>
              </a:rPr>
              <a:t>Global Superstore does not have a growth problem. It has a margin-leakage problem: about a quarter of all order lines sell at a loss, and the loss is concentrated in deep discounts and loss-making overseas territories. Tightening price control and fixing those territories recovers roughly </a:t>
            </a:r>
            <a:r>
              <a:rPr sz="1450" b="1" i="0">
                <a:solidFill>
                  <a:srgbClr val="FFFFFF"/>
                </a:solidFill>
                <a:latin typeface="Georgia"/>
              </a:rPr>
              <a:t>$1.23M of operating profit</a:t>
            </a:r>
            <a:r>
              <a:rPr sz="1450" b="1" i="0">
                <a:solidFill>
                  <a:srgbClr val="FFFFFF"/>
                </a:solidFill>
                <a:latin typeface="Georgia"/>
              </a:rPr>
              <a:t> without adding a single new sale.</a:t>
            </a:r>
          </a:p>
        </p:txBody>
      </p:sp>
      <p:sp>
        <p:nvSpPr>
          <p:cNvPr id="11" name="TextBox 10"/>
          <p:cNvSpPr txBox="1"/>
          <p:nvPr/>
        </p:nvSpPr>
        <p:spPr>
          <a:xfrm>
            <a:off x="7287768" y="1691640"/>
            <a:ext cx="433699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The evidence in four numbers</a:t>
            </a:r>
          </a:p>
        </p:txBody>
      </p:sp>
      <p:cxnSp>
        <p:nvCxnSpPr>
          <p:cNvPr id="12" name="Connector 11"/>
          <p:cNvCxnSpPr/>
          <p:nvPr/>
        </p:nvCxnSpPr>
        <p:spPr>
          <a:xfrm>
            <a:off x="7287768" y="1965960"/>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287768" y="2148840"/>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287768" y="2203704"/>
            <a:ext cx="4336999" cy="310896"/>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322014"/>
                </a:solidFill>
                <a:latin typeface="Arial"/>
              </a:rPr>
              <a:t>$2.26M → $4.30M</a:t>
            </a:r>
          </a:p>
        </p:txBody>
      </p:sp>
      <p:sp>
        <p:nvSpPr>
          <p:cNvPr id="15" name="TextBox 14"/>
          <p:cNvSpPr txBox="1"/>
          <p:nvPr/>
        </p:nvSpPr>
        <p:spPr>
          <a:xfrm>
            <a:off x="7287768" y="2514600"/>
            <a:ext cx="4336999" cy="310896"/>
          </a:xfrm>
          <a:prstGeom prst="rect">
            <a:avLst/>
          </a:prstGeom>
          <a:noFill/>
        </p:spPr>
        <p:txBody>
          <a:bodyPr wrap="square" anchor="t" lIns="0" rIns="0" tIns="0" bIns="0">
            <a:spAutoFit/>
          </a:bodyPr>
          <a:lstStyle/>
          <a:p>
            <a:pPr algn="l">
              <a:lnSpc>
                <a:spcPct val="108000"/>
              </a:lnSpc>
              <a:spcBef>
                <a:spcPts val="0"/>
              </a:spcBef>
              <a:spcAft>
                <a:spcPts val="300"/>
              </a:spcAft>
            </a:pPr>
            <a:r>
              <a:rPr sz="900" b="0" i="0">
                <a:solidFill>
                  <a:srgbClr val="322014"/>
                </a:solidFill>
                <a:latin typeface="Arial"/>
              </a:rPr>
              <a:t>Revenue over four years (+90.3%, 23.9% a year)</a:t>
            </a:r>
          </a:p>
        </p:txBody>
      </p:sp>
      <p:cxnSp>
        <p:nvCxnSpPr>
          <p:cNvPr id="16" name="Connector 15"/>
          <p:cNvCxnSpPr/>
          <p:nvPr/>
        </p:nvCxnSpPr>
        <p:spPr>
          <a:xfrm>
            <a:off x="7287768" y="3044952"/>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87768" y="3099816"/>
            <a:ext cx="4336999" cy="310896"/>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322014"/>
                </a:solidFill>
                <a:latin typeface="Arial"/>
              </a:rPr>
              <a:t>11.6%</a:t>
            </a:r>
          </a:p>
        </p:txBody>
      </p:sp>
      <p:sp>
        <p:nvSpPr>
          <p:cNvPr id="18" name="TextBox 17"/>
          <p:cNvSpPr txBox="1"/>
          <p:nvPr/>
        </p:nvSpPr>
        <p:spPr>
          <a:xfrm>
            <a:off x="7287768" y="3410712"/>
            <a:ext cx="4336999" cy="310896"/>
          </a:xfrm>
          <a:prstGeom prst="rect">
            <a:avLst/>
          </a:prstGeom>
          <a:noFill/>
        </p:spPr>
        <p:txBody>
          <a:bodyPr wrap="square" anchor="t" lIns="0" rIns="0" tIns="0" bIns="0">
            <a:spAutoFit/>
          </a:bodyPr>
          <a:lstStyle/>
          <a:p>
            <a:pPr algn="l">
              <a:lnSpc>
                <a:spcPct val="108000"/>
              </a:lnSpc>
              <a:spcBef>
                <a:spcPts val="0"/>
              </a:spcBef>
              <a:spcAft>
                <a:spcPts val="300"/>
              </a:spcAft>
            </a:pPr>
            <a:r>
              <a:rPr sz="900" b="0" i="0">
                <a:solidFill>
                  <a:srgbClr val="322014"/>
                </a:solidFill>
                <a:latin typeface="Arial"/>
              </a:rPr>
              <a:t>Operating margin, four-year average (annual range: 11.0% to 11.9%)</a:t>
            </a:r>
          </a:p>
        </p:txBody>
      </p:sp>
      <p:cxnSp>
        <p:nvCxnSpPr>
          <p:cNvPr id="19" name="Connector 18"/>
          <p:cNvCxnSpPr/>
          <p:nvPr/>
        </p:nvCxnSpPr>
        <p:spPr>
          <a:xfrm>
            <a:off x="7287768" y="3941064"/>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287768" y="3995928"/>
            <a:ext cx="4336999" cy="310896"/>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A22727"/>
                </a:solidFill>
                <a:latin typeface="Arial"/>
              </a:rPr>
              <a:t>-$920,646</a:t>
            </a:r>
          </a:p>
        </p:txBody>
      </p:sp>
      <p:sp>
        <p:nvSpPr>
          <p:cNvPr id="21" name="TextBox 20"/>
          <p:cNvSpPr txBox="1"/>
          <p:nvPr/>
        </p:nvSpPr>
        <p:spPr>
          <a:xfrm>
            <a:off x="7287768" y="4306824"/>
            <a:ext cx="4336999" cy="310896"/>
          </a:xfrm>
          <a:prstGeom prst="rect">
            <a:avLst/>
          </a:prstGeom>
          <a:noFill/>
        </p:spPr>
        <p:txBody>
          <a:bodyPr wrap="square" anchor="t" lIns="0" rIns="0" tIns="0" bIns="0">
            <a:spAutoFit/>
          </a:bodyPr>
          <a:lstStyle/>
          <a:p>
            <a:pPr algn="l">
              <a:lnSpc>
                <a:spcPct val="108000"/>
              </a:lnSpc>
              <a:spcBef>
                <a:spcPts val="0"/>
              </a:spcBef>
              <a:spcAft>
                <a:spcPts val="300"/>
              </a:spcAft>
            </a:pPr>
            <a:r>
              <a:rPr sz="900" b="0" i="0">
                <a:solidFill>
                  <a:srgbClr val="322014"/>
                </a:solidFill>
                <a:latin typeface="Arial"/>
              </a:rPr>
              <a:t>Profit destroyed by 12,544 loss-making lines (24.5%)</a:t>
            </a:r>
          </a:p>
        </p:txBody>
      </p:sp>
      <p:cxnSp>
        <p:nvCxnSpPr>
          <p:cNvPr id="22" name="Connector 21"/>
          <p:cNvCxnSpPr/>
          <p:nvPr/>
        </p:nvCxnSpPr>
        <p:spPr>
          <a:xfrm>
            <a:off x="7287768" y="4837176"/>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287768" y="4892040"/>
            <a:ext cx="4336999" cy="310896"/>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322014"/>
                </a:solidFill>
                <a:latin typeface="Arial"/>
              </a:rPr>
              <a:t>+$1.23M</a:t>
            </a:r>
          </a:p>
        </p:txBody>
      </p:sp>
      <p:sp>
        <p:nvSpPr>
          <p:cNvPr id="24" name="TextBox 23"/>
          <p:cNvSpPr txBox="1"/>
          <p:nvPr/>
        </p:nvSpPr>
        <p:spPr>
          <a:xfrm>
            <a:off x="7287768" y="5202936"/>
            <a:ext cx="4336999" cy="310896"/>
          </a:xfrm>
          <a:prstGeom prst="rect">
            <a:avLst/>
          </a:prstGeom>
          <a:noFill/>
        </p:spPr>
        <p:txBody>
          <a:bodyPr wrap="square" anchor="t" lIns="0" rIns="0" tIns="0" bIns="0">
            <a:spAutoFit/>
          </a:bodyPr>
          <a:lstStyle/>
          <a:p>
            <a:pPr algn="l">
              <a:lnSpc>
                <a:spcPct val="108000"/>
              </a:lnSpc>
              <a:spcBef>
                <a:spcPts val="0"/>
              </a:spcBef>
              <a:spcAft>
                <a:spcPts val="300"/>
              </a:spcAft>
            </a:pPr>
            <a:r>
              <a:rPr sz="900" b="0" i="0">
                <a:solidFill>
                  <a:srgbClr val="322014"/>
                </a:solidFill>
                <a:latin typeface="Arial"/>
              </a:rPr>
              <a:t>Operating profit recoverable on the current ledger (+84%)</a:t>
            </a:r>
          </a:p>
        </p:txBody>
      </p:sp>
      <p:sp>
        <p:nvSpPr>
          <p:cNvPr id="25" name="TextBox 24"/>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(51,290 order lines). Operating profit is reported profit after cost of goods and freight. Recovery is the base-case simulation output (analytics model, this deck), about $0.31M a year on the same run-rate.</a:t>
            </a:r>
          </a:p>
        </p:txBody>
      </p:sp>
      <p:pic>
        <p:nvPicPr>
          <p:cNvPr id="26" name="Picture 25" descr="ship_leak.png"/>
          <p:cNvPicPr>
            <a:picLocks noChangeAspect="1"/>
          </p:cNvPicPr>
          <p:nvPr/>
        </p:nvPicPr>
        <p:blipFill>
          <a:blip r:embed="rId2"/>
          <a:stretch>
            <a:fillRect/>
          </a:stretch>
        </p:blipFill>
        <p:spPr>
          <a:xfrm>
            <a:off x="4069080" y="4160520"/>
            <a:ext cx="2788920" cy="165506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Growth</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2</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Revenue grew 90% to $4.3M and operating profit more than doubled</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Gross sales and operating profit</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 million (bars), FY2011-FY2014</a:t>
            </a:r>
          </a:p>
        </p:txBody>
      </p:sp>
      <p:graphicFrame>
        <p:nvGraphicFramePr>
          <p:cNvPr id="12" name="Chart 11"/>
          <p:cNvGraphicFramePr>
            <a:graphicFrameLocks noGrp="1"/>
          </p:cNvGraphicFramePr>
          <p:nvPr/>
        </p:nvGraphicFramePr>
        <p:xfrm>
          <a:off x="566928" y="2029968"/>
          <a:ext cx="6766560" cy="3703320"/>
        </p:xfrm>
        <a:graphic>
          <a:graphicData uri="http://schemas.openxmlformats.org/drawingml/2006/chart">
            <c:chart xmlns:c="http://schemas.openxmlformats.org/drawingml/2006/chart" r:id="rId2"/>
          </a:graphicData>
        </a:graphic>
      </p:graphicFrame>
      <p:sp>
        <p:nvSpPr>
          <p:cNvPr id="13" name="Rectangle 12"/>
          <p:cNvSpPr/>
          <p:nvPr/>
        </p:nvSpPr>
        <p:spPr>
          <a:xfrm>
            <a:off x="566928" y="5897880"/>
            <a:ext cx="118872" cy="118872"/>
          </a:xfrm>
          <a:prstGeom prst="rect">
            <a:avLst/>
          </a:prstGeom>
          <a:solidFill>
            <a:srgbClr val="5A3921"/>
          </a:solidFill>
          <a:ln>
            <a:noFill/>
          </a:ln>
          <a:effectLst/>
        </p:spPr>
        <p:txBody>
          <a:bodyPr rtlCol="0" anchor="ctr"/>
          <a:lstStyle/>
          <a:p/>
        </p:txBody>
      </p:sp>
      <p:sp>
        <p:nvSpPr>
          <p:cNvPr id="14" name="TextBox 13"/>
          <p:cNvSpPr txBox="1"/>
          <p:nvPr/>
        </p:nvSpPr>
        <p:spPr>
          <a:xfrm>
            <a:off x="731520" y="5870448"/>
            <a:ext cx="246888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8A7B6B"/>
                </a:solidFill>
                <a:latin typeface="Arial"/>
              </a:rPr>
              <a:t>Gross sales ($M) &amp; Operating profit ($M)</a:t>
            </a:r>
          </a:p>
        </p:txBody>
      </p:sp>
      <p:sp>
        <p:nvSpPr>
          <p:cNvPr id="15" name="TextBox 14"/>
          <p:cNvSpPr txBox="1"/>
          <p:nvPr/>
        </p:nvSpPr>
        <p:spPr>
          <a:xfrm>
            <a:off x="3291840" y="5852159"/>
            <a:ext cx="4041648" cy="219456"/>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8A7B6B"/>
                </a:solidFill>
                <a:latin typeface="Arial"/>
              </a:rPr>
              <a:t>Year-on-year growth: +18.5%, +27.2%, +26.3%</a:t>
            </a:r>
          </a:p>
        </p:txBody>
      </p:sp>
      <p:sp>
        <p:nvSpPr>
          <p:cNvPr id="16" name="TextBox 15"/>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Growth is genuine and volume-driven</a:t>
            </a:r>
          </a:p>
        </p:txBody>
      </p:sp>
      <p:cxnSp>
        <p:nvCxnSpPr>
          <p:cNvPr id="17" name="Connector 16"/>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607808" y="2148840"/>
            <a:ext cx="4016959" cy="3657600"/>
          </a:xfrm>
          <a:prstGeom prst="rect">
            <a:avLst/>
          </a:prstGeom>
          <a:noFill/>
        </p:spPr>
        <p:txBody>
          <a:bodyPr wrap="square" anchor="t" lIns="0" rIns="0" tIns="0" bIns="0">
            <a:spAutoFit/>
          </a:bodyPr>
          <a:lstStyle/>
          <a:p>
            <a:pPr algn="l" marL="155448" indent="-155448">
              <a:lnSpc>
                <a:spcPct val="114000"/>
              </a:lnSpc>
              <a:spcBef>
                <a:spcPts val="0"/>
              </a:spcBef>
              <a:spcAft>
                <a:spcPts val="1000"/>
              </a:spcAft>
              <a:buFont typeface="Arial"/>
              <a:buChar char="•"/>
            </a:pPr>
            <a:r>
              <a:rPr sz="1100" b="0" i="0">
                <a:solidFill>
                  <a:srgbClr val="322014"/>
                </a:solidFill>
                <a:latin typeface="Arial"/>
              </a:rPr>
              <a:t>Revenue rose every year, from $2.26M in FY2011 to $4.30M in FY2014 (+90.3%).</a:t>
            </a:r>
          </a:p>
          <a:p>
            <a:pPr algn="l" marL="155448" indent="-155448">
              <a:lnSpc>
                <a:spcPct val="114000"/>
              </a:lnSpc>
              <a:spcBef>
                <a:spcPts val="0"/>
              </a:spcBef>
              <a:spcAft>
                <a:spcPts val="1000"/>
              </a:spcAft>
              <a:buFont typeface="Arial"/>
              <a:buChar char="•"/>
            </a:pPr>
            <a:r>
              <a:rPr sz="1100" b="0" i="0">
                <a:solidFill>
                  <a:srgbClr val="322014"/>
                </a:solidFill>
                <a:latin typeface="Arial"/>
              </a:rPr>
              <a:t>Operating profit rose every year too, from $249K to $504K (+102.5%).</a:t>
            </a:r>
          </a:p>
          <a:p>
            <a:pPr algn="l" marL="155448" indent="-155448">
              <a:lnSpc>
                <a:spcPct val="114000"/>
              </a:lnSpc>
              <a:spcBef>
                <a:spcPts val="0"/>
              </a:spcBef>
              <a:spcAft>
                <a:spcPts val="1000"/>
              </a:spcAft>
              <a:buFont typeface="Arial"/>
              <a:buChar char="•"/>
            </a:pPr>
            <a:r>
              <a:rPr sz="1100" b="0" i="0">
                <a:solidFill>
                  <a:srgbClr val="322014"/>
                </a:solidFill>
                <a:latin typeface="Arial"/>
              </a:rPr>
              <a:t>Order volume grew from 4,440 to 8,531 orders; average order value stayed flat at about $505.</a:t>
            </a:r>
          </a:p>
          <a:p>
            <a:pPr algn="l" marL="155448" indent="-155448">
              <a:lnSpc>
                <a:spcPct val="114000"/>
              </a:lnSpc>
              <a:spcBef>
                <a:spcPts val="0"/>
              </a:spcBef>
              <a:spcAft>
                <a:spcPts val="300"/>
              </a:spcAft>
              <a:buFont typeface="Arial"/>
              <a:buChar char="•"/>
            </a:pPr>
            <a:r>
              <a:rPr sz="1100" b="0" i="0">
                <a:solidFill>
                  <a:srgbClr val="322014"/>
                </a:solidFill>
                <a:latin typeface="Arial"/>
              </a:rPr>
              <a:t>Growth came from more customers and orders, not from raising prices.</a:t>
            </a:r>
          </a:p>
        </p:txBody>
      </p:sp>
      <p:sp>
        <p:nvSpPr>
          <p:cNvPr id="19" name="TextBox 18"/>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Operating profit is reported profit after cost of goods and freight.</a:t>
            </a:r>
          </a:p>
        </p:txBody>
      </p:sp>
      <p:sp>
        <p:nvSpPr>
          <p:cNvPr id="20" name="Rectangle 19"/>
          <p:cNvSpPr/>
          <p:nvPr/>
        </p:nvSpPr>
        <p:spPr>
          <a:xfrm>
            <a:off x="7589520" y="5303520"/>
            <a:ext cx="4114800" cy="731520"/>
          </a:xfrm>
          <a:prstGeom prst="rect">
            <a:avLst/>
          </a:prstGeom>
          <a:solidFill>
            <a:srgbClr val="EFEEE8"/>
          </a:solidFill>
          <a:ln>
            <a:solidFill>
              <a:srgbClr val="C5A6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22014"/>
                </a:solidFill>
              </a:defRPr>
            </a:pPr>
            <a:r>
              <a:t>Order Volume: 4,440 → 8,531 (+92.1%)  |  Avg Order Value: ~$505 (flat, -0.9%)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Margin</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3</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Operating margin stayed near 11% while sales climbed 90%</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Gross sales and operating margin</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 million (top) · margin % (bottom)</a:t>
            </a:r>
          </a:p>
        </p:txBody>
      </p:sp>
      <p:graphicFrame>
        <p:nvGraphicFramePr>
          <p:cNvPr id="12" name="Chart 11"/>
          <p:cNvGraphicFramePr>
            <a:graphicFrameLocks noGrp="1"/>
          </p:cNvGraphicFramePr>
          <p:nvPr/>
        </p:nvGraphicFramePr>
        <p:xfrm>
          <a:off x="566928" y="2011680"/>
          <a:ext cx="6766560" cy="1828800"/>
        </p:xfrm>
        <a:graphic>
          <a:graphicData uri="http://schemas.openxmlformats.org/drawingml/2006/chart">
            <c:chart xmlns:c="http://schemas.openxmlformats.org/drawingml/2006/chart" r:id="rId2"/>
          </a:graphicData>
        </a:graphic>
      </p:graphicFrame>
      <p:graphicFrame>
        <p:nvGraphicFramePr>
          <p:cNvPr id="13" name="Chart 12"/>
          <p:cNvGraphicFramePr>
            <a:graphicFrameLocks noGrp="1"/>
          </p:cNvGraphicFramePr>
          <p:nvPr/>
        </p:nvGraphicFramePr>
        <p:xfrm>
          <a:off x="566928" y="3858768"/>
          <a:ext cx="6766560" cy="1828800"/>
        </p:xfrm>
        <a:graphic>
          <a:graphicData uri="http://schemas.openxmlformats.org/drawingml/2006/chart">
            <c:chart xmlns:c="http://schemas.openxmlformats.org/drawingml/2006/chart" r:id="rId3"/>
          </a:graphicData>
        </a:graphic>
      </p:graphicFrame>
      <p:sp>
        <p:nvSpPr>
          <p:cNvPr id="14" name="Rectangle 13"/>
          <p:cNvSpPr/>
          <p:nvPr/>
        </p:nvSpPr>
        <p:spPr>
          <a:xfrm>
            <a:off x="566928" y="5769864"/>
            <a:ext cx="118872" cy="118872"/>
          </a:xfrm>
          <a:prstGeom prst="rect">
            <a:avLst/>
          </a:prstGeom>
          <a:solidFill>
            <a:srgbClr val="E2DCD2"/>
          </a:solidFill>
          <a:ln>
            <a:noFill/>
          </a:ln>
          <a:effectLst/>
        </p:spPr>
        <p:txBody>
          <a:bodyPr rtlCol="0" anchor="ctr"/>
          <a:lstStyle/>
          <a:p/>
        </p:txBody>
      </p:sp>
      <p:sp>
        <p:nvSpPr>
          <p:cNvPr id="15" name="TextBox 14"/>
          <p:cNvSpPr txBox="1"/>
          <p:nvPr/>
        </p:nvSpPr>
        <p:spPr>
          <a:xfrm>
            <a:off x="731520" y="574243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Gross sales (top)</a:t>
            </a:r>
          </a:p>
        </p:txBody>
      </p:sp>
      <p:sp>
        <p:nvSpPr>
          <p:cNvPr id="16" name="Rectangle 15"/>
          <p:cNvSpPr/>
          <p:nvPr/>
        </p:nvSpPr>
        <p:spPr>
          <a:xfrm>
            <a:off x="2253996" y="5769864"/>
            <a:ext cx="118872" cy="118872"/>
          </a:xfrm>
          <a:prstGeom prst="rect">
            <a:avLst/>
          </a:prstGeom>
          <a:solidFill>
            <a:srgbClr val="5A3921"/>
          </a:solidFill>
          <a:ln>
            <a:noFill/>
          </a:ln>
          <a:effectLst/>
        </p:spPr>
        <p:txBody>
          <a:bodyPr rtlCol="0" anchor="ctr"/>
          <a:lstStyle/>
          <a:p/>
        </p:txBody>
      </p:sp>
      <p:sp>
        <p:nvSpPr>
          <p:cNvPr id="17" name="TextBox 16"/>
          <p:cNvSpPr txBox="1"/>
          <p:nvPr/>
        </p:nvSpPr>
        <p:spPr>
          <a:xfrm>
            <a:off x="2418588" y="574243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Operating margin (bottom)</a:t>
            </a:r>
          </a:p>
        </p:txBody>
      </p:sp>
      <p:sp>
        <p:nvSpPr>
          <p:cNvPr id="18" name="TextBox 17"/>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Volume was rewarded, margin was not</a:t>
            </a:r>
          </a:p>
        </p:txBody>
      </p:sp>
      <p:cxnSp>
        <p:nvCxnSpPr>
          <p:cNvPr id="19" name="Connector 18"/>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07808" y="2148840"/>
            <a:ext cx="4016959" cy="3657600"/>
          </a:xfrm>
          <a:prstGeom prst="rect">
            <a:avLst/>
          </a:prstGeom>
          <a:noFill/>
        </p:spPr>
        <p:txBody>
          <a:bodyPr wrap="square" anchor="t" lIns="0" rIns="0" tIns="0" bIns="0">
            <a:spAutoFit/>
          </a:bodyPr>
          <a:lstStyle/>
          <a:p>
            <a:pPr algn="l" marL="155448" indent="-155448">
              <a:lnSpc>
                <a:spcPct val="114000"/>
              </a:lnSpc>
              <a:spcBef>
                <a:spcPts val="0"/>
              </a:spcBef>
              <a:spcAft>
                <a:spcPts val="1000"/>
              </a:spcAft>
              <a:buFont typeface="Arial"/>
              <a:buChar char="•"/>
            </a:pPr>
            <a:r>
              <a:rPr sz="1100" b="0" i="0">
                <a:solidFill>
                  <a:srgbClr val="322014"/>
                </a:solidFill>
                <a:latin typeface="Arial"/>
              </a:rPr>
              <a:t>Revenue compounded at 23.9% a year, but operating margin moved only from 11.0% to 11.7%.</a:t>
            </a:r>
          </a:p>
          <a:p>
            <a:pPr algn="l" marL="155448" indent="-155448">
              <a:lnSpc>
                <a:spcPct val="114000"/>
              </a:lnSpc>
              <a:spcBef>
                <a:spcPts val="0"/>
              </a:spcBef>
              <a:spcAft>
                <a:spcPts val="1000"/>
              </a:spcAft>
              <a:buFont typeface="Arial"/>
              <a:buChar char="•"/>
            </a:pPr>
            <a:r>
              <a:rPr sz="1100" b="0" i="0">
                <a:solidFill>
                  <a:srgbClr val="322014"/>
                </a:solidFill>
                <a:latin typeface="Arial"/>
              </a:rPr>
              <a:t>Profit grew almost exactly in line with revenue, so every extra dollar of sales carried the same thin margin.</a:t>
            </a:r>
          </a:p>
          <a:p>
            <a:pPr algn="l" marL="155448" indent="-155448">
              <a:lnSpc>
                <a:spcPct val="114000"/>
              </a:lnSpc>
              <a:spcBef>
                <a:spcPts val="0"/>
              </a:spcBef>
              <a:spcAft>
                <a:spcPts val="1000"/>
              </a:spcAft>
              <a:buFont typeface="Arial"/>
              <a:buChar char="•"/>
            </a:pPr>
            <a:r>
              <a:rPr sz="1100" b="0" i="0">
                <a:solidFill>
                  <a:srgbClr val="322014"/>
                </a:solidFill>
                <a:latin typeface="Arial"/>
              </a:rPr>
              <a:t>The company measures and pays for gross volume, so sales teams had no reason to defend price.</a:t>
            </a:r>
          </a:p>
          <a:p>
            <a:pPr algn="l" marL="155448" indent="-155448">
              <a:lnSpc>
                <a:spcPct val="114000"/>
              </a:lnSpc>
              <a:spcBef>
                <a:spcPts val="0"/>
              </a:spcBef>
              <a:spcAft>
                <a:spcPts val="300"/>
              </a:spcAft>
              <a:buFont typeface="Arial"/>
              <a:buChar char="•"/>
            </a:pPr>
            <a:r>
              <a:rPr sz="1100" b="0" i="0">
                <a:solidFill>
                  <a:srgbClr val="322014"/>
                </a:solidFill>
                <a:latin typeface="Arial"/>
              </a:rPr>
              <a:t>Margin, not revenue, is the number the Board should track from here.</a:t>
            </a:r>
          </a:p>
        </p:txBody>
      </p:sp>
      <p:sp>
        <p:nvSpPr>
          <p:cNvPr id="21" name="TextBox 20"/>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Operating margin = profit / gross sales.</a:t>
            </a:r>
          </a:p>
        </p:txBody>
      </p:sp>
      <p:pic>
        <p:nvPicPr>
          <p:cNvPr id="22" name="Picture 21" descr="gauge_flat.png"/>
          <p:cNvPicPr>
            <a:picLocks noChangeAspect="1"/>
          </p:cNvPicPr>
          <p:nvPr/>
        </p:nvPicPr>
        <p:blipFill>
          <a:blip r:embed="rId4"/>
          <a:stretch>
            <a:fillRect/>
          </a:stretch>
        </p:blipFill>
        <p:spPr>
          <a:xfrm>
            <a:off x="8165592" y="4553712"/>
            <a:ext cx="3383280" cy="13716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Profit leakage</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4</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One in four order lines loses money and drains $921K of earned profit</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From earned profit to reported profit</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 million, FY2011-FY2014 cumulative</a:t>
            </a:r>
          </a:p>
        </p:txBody>
      </p:sp>
      <p:graphicFrame>
        <p:nvGraphicFramePr>
          <p:cNvPr id="12" name="Chart 11"/>
          <p:cNvGraphicFramePr>
            <a:graphicFrameLocks noGrp="1"/>
          </p:cNvGraphicFramePr>
          <p:nvPr/>
        </p:nvGraphicFramePr>
        <p:xfrm>
          <a:off x="566928" y="2029968"/>
          <a:ext cx="6766560" cy="3657600"/>
        </p:xfrm>
        <a:graphic>
          <a:graphicData uri="http://schemas.openxmlformats.org/drawingml/2006/chart">
            <c:chart xmlns:c="http://schemas.openxmlformats.org/drawingml/2006/chart" r:id="rId2"/>
          </a:graphicData>
        </a:graphic>
      </p:graphicFrame>
      <p:sp>
        <p:nvSpPr>
          <p:cNvPr id="13" name="Rectangle 12"/>
          <p:cNvSpPr/>
          <p:nvPr/>
        </p:nvSpPr>
        <p:spPr>
          <a:xfrm>
            <a:off x="566928" y="5833872"/>
            <a:ext cx="118872" cy="118872"/>
          </a:xfrm>
          <a:prstGeom prst="rect">
            <a:avLst/>
          </a:prstGeom>
          <a:solidFill>
            <a:srgbClr val="322014"/>
          </a:solidFill>
          <a:ln>
            <a:noFill/>
          </a:ln>
          <a:effectLst/>
        </p:spPr>
        <p:txBody>
          <a:bodyPr rtlCol="0" anchor="ctr"/>
          <a:lstStyle/>
          <a:p/>
        </p:txBody>
      </p:sp>
      <p:sp>
        <p:nvSpPr>
          <p:cNvPr id="14" name="TextBox 13"/>
          <p:cNvSpPr txBox="1"/>
          <p:nvPr/>
        </p:nvSpPr>
        <p:spPr>
          <a:xfrm>
            <a:off x="731520" y="5806440"/>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Earned</a:t>
            </a:r>
          </a:p>
        </p:txBody>
      </p:sp>
      <p:sp>
        <p:nvSpPr>
          <p:cNvPr id="15" name="Rectangle 14"/>
          <p:cNvSpPr/>
          <p:nvPr/>
        </p:nvSpPr>
        <p:spPr>
          <a:xfrm>
            <a:off x="1499616" y="5833872"/>
            <a:ext cx="118872" cy="118872"/>
          </a:xfrm>
          <a:prstGeom prst="rect">
            <a:avLst/>
          </a:prstGeom>
          <a:solidFill>
            <a:srgbClr val="A22727"/>
          </a:solidFill>
          <a:ln>
            <a:noFill/>
          </a:ln>
          <a:effectLst/>
        </p:spPr>
        <p:txBody>
          <a:bodyPr rtlCol="0" anchor="ctr"/>
          <a:lstStyle/>
          <a:p/>
        </p:txBody>
      </p:sp>
      <p:sp>
        <p:nvSpPr>
          <p:cNvPr id="16" name="TextBox 15"/>
          <p:cNvSpPr txBox="1"/>
          <p:nvPr/>
        </p:nvSpPr>
        <p:spPr>
          <a:xfrm>
            <a:off x="1664208" y="5806440"/>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Lost</a:t>
            </a:r>
          </a:p>
        </p:txBody>
      </p:sp>
      <p:sp>
        <p:nvSpPr>
          <p:cNvPr id="17" name="Rectangle 16"/>
          <p:cNvSpPr/>
          <p:nvPr/>
        </p:nvSpPr>
        <p:spPr>
          <a:xfrm>
            <a:off x="2295144" y="5833872"/>
            <a:ext cx="118872" cy="118872"/>
          </a:xfrm>
          <a:prstGeom prst="rect">
            <a:avLst/>
          </a:prstGeom>
          <a:solidFill>
            <a:srgbClr val="5A3921"/>
          </a:solidFill>
          <a:ln>
            <a:noFill/>
          </a:ln>
          <a:effectLst/>
        </p:spPr>
        <p:txBody>
          <a:bodyPr rtlCol="0" anchor="ctr"/>
          <a:lstStyle/>
          <a:p/>
        </p:txBody>
      </p:sp>
      <p:sp>
        <p:nvSpPr>
          <p:cNvPr id="18" name="TextBox 17"/>
          <p:cNvSpPr txBox="1"/>
          <p:nvPr/>
        </p:nvSpPr>
        <p:spPr>
          <a:xfrm>
            <a:off x="2459736" y="5806440"/>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Reported</a:t>
            </a:r>
          </a:p>
        </p:txBody>
      </p:sp>
      <p:sp>
        <p:nvSpPr>
          <p:cNvPr id="19" name="TextBox 18"/>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What the bridge shows</a:t>
            </a:r>
          </a:p>
        </p:txBody>
      </p:sp>
      <p:cxnSp>
        <p:nvCxnSpPr>
          <p:cNvPr id="20" name="Connector 19"/>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607808" y="2148840"/>
            <a:ext cx="4016959" cy="3657600"/>
          </a:xfrm>
          <a:prstGeom prst="rect">
            <a:avLst/>
          </a:prstGeom>
          <a:noFill/>
        </p:spPr>
        <p:txBody>
          <a:bodyPr wrap="square" anchor="t" lIns="0" rIns="0" tIns="0" bIns="0">
            <a:spAutoFit/>
          </a:bodyPr>
          <a:lstStyle/>
          <a:p>
            <a:pPr algn="l" marL="155448" indent="-155448">
              <a:lnSpc>
                <a:spcPct val="114000"/>
              </a:lnSpc>
              <a:spcBef>
                <a:spcPts val="0"/>
              </a:spcBef>
              <a:spcAft>
                <a:spcPts val="1000"/>
              </a:spcAft>
              <a:buFont typeface="Arial"/>
              <a:buChar char="•"/>
            </a:pPr>
            <a:r>
              <a:rPr sz="1100" b="0" i="0">
                <a:solidFill>
                  <a:srgbClr val="322014"/>
                </a:solidFill>
                <a:latin typeface="Arial"/>
              </a:rPr>
              <a:t>Profitable lines earn $2.39M before the losses; that core is strong on its own.</a:t>
            </a:r>
          </a:p>
          <a:p>
            <a:pPr algn="l" marL="155448" indent="-155448">
              <a:lnSpc>
                <a:spcPct val="114000"/>
              </a:lnSpc>
              <a:spcBef>
                <a:spcPts val="0"/>
              </a:spcBef>
              <a:spcAft>
                <a:spcPts val="1000"/>
              </a:spcAft>
              <a:buFont typeface="Arial"/>
              <a:buChar char="•"/>
            </a:pPr>
            <a:r>
              <a:rPr sz="1100" b="0" i="0">
                <a:solidFill>
                  <a:srgbClr val="322014"/>
                </a:solidFill>
                <a:latin typeface="Arial"/>
              </a:rPr>
              <a:t>12,544 lines (24.5% of all lines) were priced at a loss and removed $0.92M of that profit.</a:t>
            </a:r>
          </a:p>
          <a:p>
            <a:pPr algn="l" marL="155448" indent="-155448">
              <a:lnSpc>
                <a:spcPct val="114000"/>
              </a:lnSpc>
              <a:spcBef>
                <a:spcPts val="0"/>
              </a:spcBef>
              <a:spcAft>
                <a:spcPts val="1000"/>
              </a:spcAft>
              <a:buFont typeface="Arial"/>
              <a:buChar char="•"/>
            </a:pPr>
            <a:r>
              <a:rPr sz="1100" b="0" i="0">
                <a:solidFill>
                  <a:srgbClr val="322014"/>
                </a:solidFill>
                <a:latin typeface="Arial"/>
              </a:rPr>
              <a:t>Reported operating profit of $1.47M understates how profitable the healthy core really is.</a:t>
            </a:r>
          </a:p>
          <a:p>
            <a:pPr algn="l" marL="155448" indent="-155448">
              <a:lnSpc>
                <a:spcPct val="114000"/>
              </a:lnSpc>
              <a:spcBef>
                <a:spcPts val="0"/>
              </a:spcBef>
              <a:spcAft>
                <a:spcPts val="300"/>
              </a:spcAft>
              <a:buFont typeface="Arial"/>
              <a:buChar char="•"/>
            </a:pPr>
            <a:r>
              <a:rPr sz="1100" b="0" i="0">
                <a:solidFill>
                  <a:srgbClr val="322014"/>
                </a:solidFill>
                <a:latin typeface="Arial"/>
              </a:rPr>
              <a:t>The loss is a pricing and cost-to-serve outcome, not a weak market.</a:t>
            </a:r>
          </a:p>
        </p:txBody>
      </p:sp>
      <p:sp>
        <p:nvSpPr>
          <p:cNvPr id="22" name="TextBox 21"/>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A line is loss-making where reported profit, net of cost of goods and freight, is negative.</a:t>
            </a:r>
          </a:p>
        </p:txBody>
      </p:sp>
      <p:pic>
        <p:nvPicPr>
          <p:cNvPr id="23" name="Picture 22" descr="leaky_bucket.png"/>
          <p:cNvPicPr>
            <a:picLocks noChangeAspect="1"/>
          </p:cNvPicPr>
          <p:nvPr/>
        </p:nvPicPr>
        <p:blipFill>
          <a:blip r:embed="rId3"/>
          <a:stretch>
            <a:fillRect/>
          </a:stretch>
        </p:blipFill>
        <p:spPr>
          <a:xfrm>
            <a:off x="8165592" y="4553712"/>
            <a:ext cx="3383280" cy="13716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Geography</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5</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Losses concentrate in four countries, led by Turkey and Nigeria</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Operating profit by country</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 thousand, FY2011-FY2014 cumulative</a:t>
            </a:r>
          </a:p>
        </p:txBody>
      </p:sp>
      <p:graphicFrame>
        <p:nvGraphicFramePr>
          <p:cNvPr id="12" name="Chart 11"/>
          <p:cNvGraphicFramePr>
            <a:graphicFrameLocks noGrp="1"/>
          </p:cNvGraphicFramePr>
          <p:nvPr/>
        </p:nvGraphicFramePr>
        <p:xfrm>
          <a:off x="566928" y="2029968"/>
          <a:ext cx="6766560" cy="3703320"/>
        </p:xfrm>
        <a:graphic>
          <a:graphicData uri="http://schemas.openxmlformats.org/drawingml/2006/chart">
            <c:chart xmlns:c="http://schemas.openxmlformats.org/drawingml/2006/chart" r:id="rId2"/>
          </a:graphicData>
        </a:graphic>
      </p:graphicFrame>
      <p:sp>
        <p:nvSpPr>
          <p:cNvPr id="13" name="TextBox 12"/>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A company-policy loss, not a market loss</a:t>
            </a:r>
          </a:p>
        </p:txBody>
      </p:sp>
      <p:cxnSp>
        <p:nvCxnSpPr>
          <p:cNvPr id="14" name="Connector 13"/>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07808" y="2103120"/>
            <a:ext cx="4016959" cy="3749039"/>
          </a:xfrm>
          <a:prstGeom prst="rect">
            <a:avLst/>
          </a:prstGeom>
          <a:noFill/>
        </p:spPr>
        <p:txBody>
          <a:bodyPr wrap="square" anchor="t" lIns="0" rIns="0" tIns="0" bIns="0">
            <a:spAutoFit/>
          </a:bodyPr>
          <a:lstStyle/>
          <a:p>
            <a:pPr algn="l" marL="155448" indent="-155448">
              <a:lnSpc>
                <a:spcPct val="114000"/>
              </a:lnSpc>
              <a:spcBef>
                <a:spcPts val="0"/>
              </a:spcBef>
              <a:spcAft>
                <a:spcPts val="800"/>
              </a:spcAft>
              <a:buFont typeface="Arial"/>
              <a:buChar char="•"/>
            </a:pPr>
            <a:r>
              <a:rPr sz="1050" b="0" i="0">
                <a:solidFill>
                  <a:srgbClr val="322014"/>
                </a:solidFill>
                <a:latin typeface="Arial"/>
              </a:rPr>
              <a:t>Turkey (-$98K) and Nigeria (-$81K) alone account for $179K of the deficit.</a:t>
            </a:r>
          </a:p>
          <a:p>
            <a:pPr algn="l" marL="155448" indent="-155448">
              <a:lnSpc>
                <a:spcPct val="114000"/>
              </a:lnSpc>
              <a:spcBef>
                <a:spcPts val="0"/>
              </a:spcBef>
              <a:spcAft>
                <a:spcPts val="800"/>
              </a:spcAft>
              <a:buFont typeface="Arial"/>
              <a:buChar char="•"/>
            </a:pPr>
            <a:r>
              <a:rPr sz="1050" b="0" i="0">
                <a:solidFill>
                  <a:srgbClr val="322014"/>
                </a:solidFill>
                <a:latin typeface="Arial"/>
              </a:rPr>
              <a:t>29 of 147 countries are net-negative; the top four carry 56% of that deficit.</a:t>
            </a:r>
          </a:p>
          <a:p>
            <a:pPr algn="l" marL="155448" indent="-155448">
              <a:lnSpc>
                <a:spcPct val="114000"/>
              </a:lnSpc>
              <a:spcBef>
                <a:spcPts val="0"/>
              </a:spcBef>
              <a:spcAft>
                <a:spcPts val="800"/>
              </a:spcAft>
              <a:buFont typeface="Arial"/>
              <a:buChar char="•"/>
            </a:pPr>
            <a:r>
              <a:rPr sz="1050" b="0" i="0">
                <a:solidFill>
                  <a:srgbClr val="322014"/>
                </a:solidFill>
                <a:latin typeface="Arial"/>
              </a:rPr>
              <a:t>Both were sold at extreme average discounts: 60% in Turkey and 70% in Nigeria.</a:t>
            </a:r>
          </a:p>
          <a:p>
            <a:pPr algn="l" marL="155448" indent="-155448">
              <a:lnSpc>
                <a:spcPct val="114000"/>
              </a:lnSpc>
              <a:spcBef>
                <a:spcPts val="0"/>
              </a:spcBef>
              <a:spcAft>
                <a:spcPts val="800"/>
              </a:spcAft>
              <a:buFont typeface="Arial"/>
              <a:buChar char="•"/>
            </a:pPr>
            <a:r>
              <a:rPr sz="1050" b="0" i="0">
                <a:solidFill>
                  <a:srgbClr val="322014"/>
                </a:solidFill>
                <a:latin typeface="Arial"/>
              </a:rPr>
              <a:t>The EMEA market (Europe, Middle East and Africa) runs a 5.4% margin, well below 12-13% in the other markets.</a:t>
            </a:r>
          </a:p>
          <a:p>
            <a:pPr algn="l" marL="155448" indent="-155448">
              <a:lnSpc>
                <a:spcPct val="114000"/>
              </a:lnSpc>
              <a:spcBef>
                <a:spcPts val="0"/>
              </a:spcBef>
              <a:spcAft>
                <a:spcPts val="300"/>
              </a:spcAft>
              <a:buFont typeface="Arial"/>
              <a:buChar char="•"/>
            </a:pPr>
            <a:r>
              <a:rPr sz="1050" b="0" i="0">
                <a:solidFill>
                  <a:srgbClr val="322014"/>
                </a:solidFill>
                <a:latin typeface="Arial"/>
              </a:rPr>
              <a:t>No discount or freight cost was charged back to these territories, so their losses were absorbed centrally.</a:t>
            </a:r>
          </a:p>
        </p:txBody>
      </p:sp>
      <p:sp>
        <p:nvSpPr>
          <p:cNvPr id="16" name="TextBox 15"/>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Discount is the order-line average; country profit is net of all lines in that country.</a:t>
            </a:r>
          </a:p>
        </p:txBody>
      </p:sp>
      <p:pic>
        <p:nvPicPr>
          <p:cNvPr id="17" name="Picture 16" descr="globe_pins.png"/>
          <p:cNvPicPr>
            <a:picLocks noChangeAspect="1"/>
          </p:cNvPicPr>
          <p:nvPr/>
        </p:nvPicPr>
        <p:blipFill>
          <a:blip r:embed="rId3"/>
          <a:stretch>
            <a:fillRect/>
          </a:stretch>
        </p:blipFill>
        <p:spPr>
          <a:xfrm>
            <a:off x="8165592" y="4553712"/>
            <a:ext cx="3383280" cy="13716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Product</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6</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Tables is the only one of 17 sub-categories that loses money</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Operating profit by sub-category</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 thousand, FY2011-FY2014 cumulative</a:t>
            </a:r>
          </a:p>
        </p:txBody>
      </p:sp>
      <p:graphicFrame>
        <p:nvGraphicFramePr>
          <p:cNvPr id="12" name="Chart 11"/>
          <p:cNvGraphicFramePr>
            <a:graphicFrameLocks noGrp="1"/>
          </p:cNvGraphicFramePr>
          <p:nvPr/>
        </p:nvGraphicFramePr>
        <p:xfrm>
          <a:off x="566928" y="2029968"/>
          <a:ext cx="6766560" cy="3703320"/>
        </p:xfrm>
        <a:graphic>
          <a:graphicData uri="http://schemas.openxmlformats.org/drawingml/2006/chart">
            <c:chart xmlns:c="http://schemas.openxmlformats.org/drawingml/2006/chart" r:id="rId2"/>
          </a:graphicData>
        </a:graphic>
      </p:graphicFrame>
      <p:sp>
        <p:nvSpPr>
          <p:cNvPr id="13" name="Rectangle 12"/>
          <p:cNvSpPr/>
          <p:nvPr/>
        </p:nvSpPr>
        <p:spPr>
          <a:xfrm>
            <a:off x="566928" y="5861304"/>
            <a:ext cx="118872" cy="118872"/>
          </a:xfrm>
          <a:prstGeom prst="rect">
            <a:avLst/>
          </a:prstGeom>
          <a:solidFill>
            <a:srgbClr val="A22727"/>
          </a:solidFill>
          <a:ln>
            <a:noFill/>
          </a:ln>
          <a:effectLst/>
        </p:spPr>
        <p:txBody>
          <a:bodyPr rtlCol="0" anchor="ctr"/>
          <a:lstStyle/>
          <a:p/>
        </p:txBody>
      </p:sp>
      <p:sp>
        <p:nvSpPr>
          <p:cNvPr id="14" name="TextBox 13"/>
          <p:cNvSpPr txBox="1"/>
          <p:nvPr/>
        </p:nvSpPr>
        <p:spPr>
          <a:xfrm>
            <a:off x="731520" y="583387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Loss-making</a:t>
            </a:r>
          </a:p>
        </p:txBody>
      </p:sp>
      <p:sp>
        <p:nvSpPr>
          <p:cNvPr id="15" name="Rectangle 14"/>
          <p:cNvSpPr/>
          <p:nvPr/>
        </p:nvSpPr>
        <p:spPr>
          <a:xfrm>
            <a:off x="1842516" y="5861304"/>
            <a:ext cx="118872" cy="118872"/>
          </a:xfrm>
          <a:prstGeom prst="rect">
            <a:avLst/>
          </a:prstGeom>
          <a:solidFill>
            <a:srgbClr val="5A3921"/>
          </a:solidFill>
          <a:ln>
            <a:noFill/>
          </a:ln>
          <a:effectLst/>
        </p:spPr>
        <p:txBody>
          <a:bodyPr rtlCol="0" anchor="ctr"/>
          <a:lstStyle/>
          <a:p/>
        </p:txBody>
      </p:sp>
      <p:sp>
        <p:nvSpPr>
          <p:cNvPr id="16" name="TextBox 15"/>
          <p:cNvSpPr txBox="1"/>
          <p:nvPr/>
        </p:nvSpPr>
        <p:spPr>
          <a:xfrm>
            <a:off x="2007108" y="583387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Profitable</a:t>
            </a:r>
          </a:p>
        </p:txBody>
      </p:sp>
      <p:sp>
        <p:nvSpPr>
          <p:cNvPr id="17" name="TextBox 16"/>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A pricing and freight problem, not demand</a:t>
            </a:r>
          </a:p>
        </p:txBody>
      </p:sp>
      <p:cxnSp>
        <p:nvCxnSpPr>
          <p:cNvPr id="18" name="Connector 17"/>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07808" y="2148840"/>
            <a:ext cx="4016959" cy="3657600"/>
          </a:xfrm>
          <a:prstGeom prst="rect">
            <a:avLst/>
          </a:prstGeom>
          <a:noFill/>
        </p:spPr>
        <p:txBody>
          <a:bodyPr wrap="square" anchor="t" lIns="0" rIns="0" tIns="0" bIns="0">
            <a:spAutoFit/>
          </a:bodyPr>
          <a:lstStyle/>
          <a:p>
            <a:pPr algn="l" marL="155448" indent="-155448">
              <a:lnSpc>
                <a:spcPct val="114000"/>
              </a:lnSpc>
              <a:spcBef>
                <a:spcPts val="0"/>
              </a:spcBef>
              <a:spcAft>
                <a:spcPts val="1000"/>
              </a:spcAft>
              <a:buFont typeface="Arial"/>
              <a:buChar char="•"/>
            </a:pPr>
            <a:r>
              <a:rPr sz="1100" b="0" i="0">
                <a:solidFill>
                  <a:srgbClr val="322014"/>
                </a:solidFill>
                <a:latin typeface="Arial"/>
              </a:rPr>
              <a:t>Tables lost $64.1K on $757K of sales, a -8.5% margin, and is the only deficit sub-category.</a:t>
            </a:r>
          </a:p>
          <a:p>
            <a:pPr algn="l" marL="155448" indent="-155448">
              <a:lnSpc>
                <a:spcPct val="114000"/>
              </a:lnSpc>
              <a:spcBef>
                <a:spcPts val="0"/>
              </a:spcBef>
              <a:spcAft>
                <a:spcPts val="1000"/>
              </a:spcAft>
              <a:buFont typeface="Arial"/>
              <a:buChar char="•"/>
            </a:pPr>
            <a:r>
              <a:rPr sz="1100" b="0" i="0">
                <a:solidFill>
                  <a:srgbClr val="322014"/>
                </a:solidFill>
                <a:latin typeface="Arial"/>
              </a:rPr>
              <a:t>It carried a 29.1% average discount plus the highest freight per unit of any line.</a:t>
            </a:r>
          </a:p>
          <a:p>
            <a:pPr algn="l" marL="155448" indent="-155448">
              <a:lnSpc>
                <a:spcPct val="114000"/>
              </a:lnSpc>
              <a:spcBef>
                <a:spcPts val="0"/>
              </a:spcBef>
              <a:spcAft>
                <a:spcPts val="1000"/>
              </a:spcAft>
              <a:buFont typeface="Arial"/>
              <a:buChar char="•"/>
            </a:pPr>
            <a:r>
              <a:rPr sz="1100" b="0" i="0">
                <a:solidFill>
                  <a:srgbClr val="322014"/>
                </a:solidFill>
                <a:latin typeface="Arial"/>
              </a:rPr>
              <a:t>The rest of the portfolio is profitable: Copiers +$259K, Phones +$217K, Bookcases +$162K.</a:t>
            </a:r>
          </a:p>
          <a:p>
            <a:pPr algn="l" marL="155448" indent="-155448">
              <a:lnSpc>
                <a:spcPct val="114000"/>
              </a:lnSpc>
              <a:spcBef>
                <a:spcPts val="0"/>
              </a:spcBef>
              <a:spcAft>
                <a:spcPts val="300"/>
              </a:spcAft>
              <a:buFont typeface="Arial"/>
              <a:buChar char="•"/>
            </a:pPr>
            <a:r>
              <a:rPr sz="1100" b="0" i="0">
                <a:solidFill>
                  <a:srgbClr val="322014"/>
                </a:solidFill>
                <a:latin typeface="Arial"/>
              </a:rPr>
              <a:t>Furniture overall runs a 6.9% margin against 14.0% for Technology.</a:t>
            </a:r>
          </a:p>
        </p:txBody>
      </p:sp>
      <p:sp>
        <p:nvSpPr>
          <p:cNvPr id="20" name="TextBox 19"/>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All 17 sub-categories, ranked by operating profit.</a:t>
            </a:r>
          </a:p>
        </p:txBody>
      </p:sp>
      <p:pic>
        <p:nvPicPr>
          <p:cNvPr id="21" name="Picture 20" descr="table_tag.png"/>
          <p:cNvPicPr>
            <a:picLocks noChangeAspect="1"/>
          </p:cNvPicPr>
          <p:nvPr/>
        </p:nvPicPr>
        <p:blipFill>
          <a:blip r:embed="rId3"/>
          <a:stretch>
            <a:fillRect/>
          </a:stretch>
        </p:blipFill>
        <p:spPr>
          <a:xfrm>
            <a:off x="8165592" y="4553712"/>
            <a:ext cx="3383280" cy="1371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Discounting</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7</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Order economics invert once the discount passes 20%</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Operating margin by discount band</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margin %, all order lines FY2011-FY2014</a:t>
            </a:r>
          </a:p>
        </p:txBody>
      </p:sp>
      <p:graphicFrame>
        <p:nvGraphicFramePr>
          <p:cNvPr id="12" name="Chart 11"/>
          <p:cNvGraphicFramePr>
            <a:graphicFrameLocks noGrp="1"/>
          </p:cNvGraphicFramePr>
          <p:nvPr/>
        </p:nvGraphicFramePr>
        <p:xfrm>
          <a:off x="566928" y="2029968"/>
          <a:ext cx="6766560" cy="3703320"/>
        </p:xfrm>
        <a:graphic>
          <a:graphicData uri="http://schemas.openxmlformats.org/drawingml/2006/chart">
            <c:chart xmlns:c="http://schemas.openxmlformats.org/drawingml/2006/chart" r:id="rId2"/>
          </a:graphicData>
        </a:graphic>
      </p:graphicFrame>
      <p:cxnSp>
        <p:nvCxnSpPr>
          <p:cNvPr id="13" name="Connector 12"/>
          <p:cNvCxnSpPr/>
          <p:nvPr/>
        </p:nvCxnSpPr>
        <p:spPr>
          <a:xfrm>
            <a:off x="3786922" y="1965960"/>
            <a:ext cx="0" cy="3657599"/>
          </a:xfrm>
          <a:prstGeom prst="line">
            <a:avLst/>
          </a:prstGeom>
          <a:ln w="15875">
            <a:solidFill>
              <a:srgbClr val="322014"/>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32642" y="1755648"/>
            <a:ext cx="1737360" cy="219456"/>
          </a:xfrm>
          <a:prstGeom prst="rect">
            <a:avLst/>
          </a:prstGeom>
          <a:noFill/>
        </p:spPr>
        <p:txBody>
          <a:bodyPr wrap="square" anchor="t" lIns="0" rIns="0" tIns="0" bIns="0">
            <a:spAutoFit/>
          </a:bodyPr>
          <a:lstStyle/>
          <a:p>
            <a:pPr algn="l">
              <a:lnSpc>
                <a:spcPct val="106000"/>
              </a:lnSpc>
              <a:spcBef>
                <a:spcPts val="0"/>
              </a:spcBef>
              <a:spcAft>
                <a:spcPts val="300"/>
              </a:spcAft>
            </a:pPr>
            <a:r>
              <a:rPr sz="900" b="1" i="0">
                <a:solidFill>
                  <a:srgbClr val="5A3921"/>
                </a:solidFill>
                <a:latin typeface="Arial"/>
              </a:rPr>
              <a:t>20% discount line</a:t>
            </a:r>
          </a:p>
        </p:txBody>
      </p:sp>
      <p:sp>
        <p:nvSpPr>
          <p:cNvPr id="15" name="TextBox 14"/>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The 20% break-even</a:t>
            </a:r>
          </a:p>
        </p:txBody>
      </p:sp>
      <p:cxnSp>
        <p:nvCxnSpPr>
          <p:cNvPr id="16" name="Connector 15"/>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607808" y="2148840"/>
            <a:ext cx="4016959" cy="3657600"/>
          </a:xfrm>
          <a:prstGeom prst="rect">
            <a:avLst/>
          </a:prstGeom>
          <a:noFill/>
        </p:spPr>
        <p:txBody>
          <a:bodyPr wrap="square" anchor="t" lIns="0" rIns="0" tIns="0" bIns="0">
            <a:spAutoFit/>
          </a:bodyPr>
          <a:lstStyle/>
          <a:p>
            <a:pPr algn="l" marL="155448" indent="-155448">
              <a:lnSpc>
                <a:spcPct val="114000"/>
              </a:lnSpc>
              <a:spcBef>
                <a:spcPts val="0"/>
              </a:spcBef>
              <a:spcAft>
                <a:spcPts val="1000"/>
              </a:spcAft>
              <a:buFont typeface="Arial"/>
              <a:buChar char="•"/>
            </a:pPr>
            <a:r>
              <a:rPr sz="1100" b="0" i="0">
                <a:solidFill>
                  <a:srgbClr val="322014"/>
                </a:solidFill>
                <a:latin typeface="Arial"/>
              </a:rPr>
              <a:t>Below 20% every line is profitable: margin runs from +25.3% at no discount to +9.9% at 10-20%.</a:t>
            </a:r>
          </a:p>
          <a:p>
            <a:pPr algn="l" marL="155448" indent="-155448">
              <a:lnSpc>
                <a:spcPct val="114000"/>
              </a:lnSpc>
              <a:spcBef>
                <a:spcPts val="0"/>
              </a:spcBef>
              <a:spcAft>
                <a:spcPts val="1000"/>
              </a:spcAft>
              <a:buFont typeface="Arial"/>
              <a:buChar char="•"/>
            </a:pPr>
            <a:r>
              <a:rPr sz="1100" b="0" i="0">
                <a:solidFill>
                  <a:srgbClr val="322014"/>
                </a:solidFill>
                <a:latin typeface="Arial"/>
              </a:rPr>
              <a:t>Above 20% every band is loss-making, sliding from -5.5% to -111%.</a:t>
            </a:r>
          </a:p>
          <a:p>
            <a:pPr algn="l" marL="155448" indent="-155448">
              <a:lnSpc>
                <a:spcPct val="114000"/>
              </a:lnSpc>
              <a:spcBef>
                <a:spcPts val="0"/>
              </a:spcBef>
              <a:spcAft>
                <a:spcPts val="1000"/>
              </a:spcAft>
              <a:buFont typeface="Arial"/>
              <a:buChar char="•"/>
            </a:pPr>
            <a:r>
              <a:rPr sz="1100" b="0" i="0">
                <a:solidFill>
                  <a:srgbClr val="322014"/>
                </a:solidFill>
                <a:latin typeface="Arial"/>
              </a:rPr>
              <a:t>11,328 lines (22.1%) were priced above the 20% line and lost $814,682 in total.</a:t>
            </a:r>
          </a:p>
          <a:p>
            <a:pPr algn="l" marL="155448" indent="-155448">
              <a:lnSpc>
                <a:spcPct val="114000"/>
              </a:lnSpc>
              <a:spcBef>
                <a:spcPts val="0"/>
              </a:spcBef>
              <a:spcAft>
                <a:spcPts val="300"/>
              </a:spcAft>
              <a:buFont typeface="Arial"/>
              <a:buChar char="•"/>
            </a:pPr>
            <a:r>
              <a:rPr sz="1100" b="0" i="0">
                <a:solidFill>
                  <a:srgbClr val="322014"/>
                </a:solidFill>
                <a:latin typeface="Arial"/>
              </a:rPr>
              <a:t>Gross margin cannot cover concessions deeper than 20%, so the cap follows from the data.</a:t>
            </a:r>
          </a:p>
          <a:p>
            <a:pPr algn="l" marL="155448" indent="-155448">
              <a:lnSpc>
                <a:spcPct val="114000"/>
              </a:lnSpc>
              <a:spcBef>
                <a:spcPts val="0"/>
              </a:spcBef>
              <a:spcAft>
                <a:spcPts val="300"/>
              </a:spcAft>
              <a:buFont typeface="Arial"/>
              <a:buChar char="•"/>
            </a:pPr>
            <a:r>
              <a:rPr sz="1100" b="0" i="0">
                <a:solidFill>
                  <a:srgbClr val="322014"/>
                </a:solidFill>
                <a:latin typeface="Arial"/>
              </a:rPr>
              <a:t>Past 50% off, 100% of orders lose money.</a:t>
            </a:r>
          </a:p>
        </p:txBody>
      </p:sp>
      <p:sp>
        <p:nvSpPr>
          <p:cNvPr id="18" name="TextBox 17"/>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Bands follow the discount distribution in the ledger. Discount-profit rank correlation: -0.60 (Pearson: -0.32).</a:t>
            </a:r>
          </a:p>
        </p:txBody>
      </p:sp>
      <p:sp>
        <p:nvSpPr>
          <p:cNvPr id="19" name="Rectangle 18"/>
          <p:cNvSpPr/>
          <p:nvPr/>
        </p:nvSpPr>
        <p:spPr>
          <a:xfrm>
            <a:off x="566928" y="5852160"/>
            <a:ext cx="137160" cy="137160"/>
          </a:xfrm>
          <a:prstGeom prst="rect">
            <a:avLst/>
          </a:prstGeom>
          <a:solidFill>
            <a:srgbClr val="5A3921"/>
          </a:solidFill>
          <a:ln>
            <a:solidFill>
              <a:srgbClr val="5A39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5806440"/>
            <a:ext cx="2286000" cy="228600"/>
          </a:xfrm>
          <a:prstGeom prst="rect">
            <a:avLst/>
          </a:prstGeom>
          <a:noFill/>
        </p:spPr>
        <p:txBody>
          <a:bodyPr wrap="none">
            <a:spAutoFit/>
          </a:bodyPr>
          <a:lstStyle/>
          <a:p>
            <a:pPr>
              <a:defRPr sz="900">
                <a:solidFill>
                  <a:srgbClr val="322014"/>
                </a:solidFill>
              </a:defRPr>
            </a:pPr>
            <a:r>
              <a:t>Profitable (≤20% discount)</a:t>
            </a:r>
          </a:p>
        </p:txBody>
      </p:sp>
      <p:sp>
        <p:nvSpPr>
          <p:cNvPr id="21" name="Rectangle 20"/>
          <p:cNvSpPr/>
          <p:nvPr/>
        </p:nvSpPr>
        <p:spPr>
          <a:xfrm>
            <a:off x="3108960" y="5852160"/>
            <a:ext cx="137160" cy="137160"/>
          </a:xfrm>
          <a:prstGeom prst="rect">
            <a:avLst/>
          </a:prstGeom>
          <a:solidFill>
            <a:srgbClr val="A22727"/>
          </a:solidFill>
          <a:ln>
            <a:solidFill>
              <a:srgbClr val="A227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91840" y="5806440"/>
            <a:ext cx="2286000" cy="228600"/>
          </a:xfrm>
          <a:prstGeom prst="rect">
            <a:avLst/>
          </a:prstGeom>
          <a:noFill/>
        </p:spPr>
        <p:txBody>
          <a:bodyPr wrap="none">
            <a:spAutoFit/>
          </a:bodyPr>
          <a:lstStyle/>
          <a:p>
            <a:pPr>
              <a:defRPr sz="900">
                <a:solidFill>
                  <a:srgbClr val="322014"/>
                </a:solidFill>
              </a:defRPr>
            </a:pPr>
            <a:r>
              <a:t>Operating deficit (&gt;20% discount)</a:t>
            </a:r>
          </a:p>
        </p:txBody>
      </p:sp>
      <p:pic>
        <p:nvPicPr>
          <p:cNvPr id="23" name="Picture 22" descr="discount_cliff.png"/>
          <p:cNvPicPr>
            <a:picLocks noChangeAspect="1"/>
          </p:cNvPicPr>
          <p:nvPr/>
        </p:nvPicPr>
        <p:blipFill>
          <a:blip r:embed="rId3"/>
          <a:stretch>
            <a:fillRect/>
          </a:stretch>
        </p:blipFill>
        <p:spPr>
          <a:xfrm>
            <a:off x="8165592" y="4553712"/>
            <a:ext cx="3383280" cy="1371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Cost to serve</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8</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Expedited orders lose up to 24% of sales value to freight</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Freight cost as a share of sales</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 of invoiced sales</a:t>
            </a:r>
          </a:p>
        </p:txBody>
      </p:sp>
      <p:graphicFrame>
        <p:nvGraphicFramePr>
          <p:cNvPr id="12" name="Chart 11"/>
          <p:cNvGraphicFramePr>
            <a:graphicFrameLocks noGrp="1"/>
          </p:cNvGraphicFramePr>
          <p:nvPr/>
        </p:nvGraphicFramePr>
        <p:xfrm>
          <a:off x="566928" y="2029968"/>
          <a:ext cx="6766560" cy="3703320"/>
        </p:xfrm>
        <a:graphic>
          <a:graphicData uri="http://schemas.openxmlformats.org/drawingml/2006/chart">
            <c:chart xmlns:c="http://schemas.openxmlformats.org/drawingml/2006/chart" r:id="rId2"/>
          </a:graphicData>
        </a:graphic>
      </p:graphicFrame>
      <p:sp>
        <p:nvSpPr>
          <p:cNvPr id="13" name="Rectangle 12"/>
          <p:cNvSpPr/>
          <p:nvPr/>
        </p:nvSpPr>
        <p:spPr>
          <a:xfrm>
            <a:off x="566928" y="5861304"/>
            <a:ext cx="118872" cy="118872"/>
          </a:xfrm>
          <a:prstGeom prst="rect">
            <a:avLst/>
          </a:prstGeom>
          <a:solidFill>
            <a:srgbClr val="5A3921"/>
          </a:solidFill>
          <a:ln>
            <a:noFill/>
          </a:ln>
          <a:effectLst/>
        </p:spPr>
        <p:txBody>
          <a:bodyPr rtlCol="0" anchor="ctr"/>
          <a:lstStyle/>
          <a:p/>
        </p:txBody>
      </p:sp>
      <p:sp>
        <p:nvSpPr>
          <p:cNvPr id="14" name="TextBox 13"/>
          <p:cNvSpPr txBox="1"/>
          <p:nvPr/>
        </p:nvSpPr>
        <p:spPr>
          <a:xfrm>
            <a:off x="731520" y="583387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Order priority</a:t>
            </a:r>
          </a:p>
        </p:txBody>
      </p:sp>
      <p:sp>
        <p:nvSpPr>
          <p:cNvPr id="15" name="Rectangle 14"/>
          <p:cNvSpPr/>
          <p:nvPr/>
        </p:nvSpPr>
        <p:spPr>
          <a:xfrm>
            <a:off x="2048256" y="5861304"/>
            <a:ext cx="118872" cy="118872"/>
          </a:xfrm>
          <a:prstGeom prst="rect">
            <a:avLst/>
          </a:prstGeom>
          <a:solidFill>
            <a:srgbClr val="C5A681"/>
          </a:solidFill>
          <a:ln>
            <a:noFill/>
          </a:ln>
          <a:effectLst/>
        </p:spPr>
        <p:txBody>
          <a:bodyPr rtlCol="0" anchor="ctr"/>
          <a:lstStyle/>
          <a:p/>
        </p:txBody>
      </p:sp>
      <p:sp>
        <p:nvSpPr>
          <p:cNvPr id="16" name="TextBox 15"/>
          <p:cNvSpPr txBox="1"/>
          <p:nvPr/>
        </p:nvSpPr>
        <p:spPr>
          <a:xfrm>
            <a:off x="2212848" y="583387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Ship mode</a:t>
            </a:r>
          </a:p>
        </p:txBody>
      </p:sp>
      <p:sp>
        <p:nvSpPr>
          <p:cNvPr id="17" name="TextBox 16"/>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Cost to serve is never charged back</a:t>
            </a:r>
          </a:p>
        </p:txBody>
      </p:sp>
      <p:cxnSp>
        <p:nvCxnSpPr>
          <p:cNvPr id="18" name="Connector 17"/>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07808" y="2148840"/>
            <a:ext cx="4016959" cy="3657600"/>
          </a:xfrm>
          <a:prstGeom prst="rect">
            <a:avLst/>
          </a:prstGeom>
          <a:noFill/>
        </p:spPr>
        <p:txBody>
          <a:bodyPr wrap="square" anchor="t" lIns="0" rIns="0" tIns="0" bIns="0">
            <a:spAutoFit/>
          </a:bodyPr>
          <a:lstStyle/>
          <a:p>
            <a:pPr algn="l" marL="155448" indent="-155448">
              <a:lnSpc>
                <a:spcPct val="114000"/>
              </a:lnSpc>
              <a:spcBef>
                <a:spcPts val="0"/>
              </a:spcBef>
              <a:spcAft>
                <a:spcPts val="1000"/>
              </a:spcAft>
              <a:buFont typeface="Arial"/>
              <a:buChar char="•"/>
            </a:pPr>
            <a:r>
              <a:rPr sz="1100" b="0" i="0">
                <a:solidFill>
                  <a:srgbClr val="322014"/>
                </a:solidFill>
                <a:latin typeface="Arial"/>
              </a:rPr>
              <a:t>Critical-priority orders spend 23.8% of their sales value on freight; Same Day spends 17.4%.</a:t>
            </a:r>
          </a:p>
          <a:p>
            <a:pPr algn="l" marL="155448" indent="-155448">
              <a:lnSpc>
                <a:spcPct val="114000"/>
              </a:lnSpc>
              <a:spcBef>
                <a:spcPts val="0"/>
              </a:spcBef>
              <a:spcAft>
                <a:spcPts val="1000"/>
              </a:spcAft>
              <a:buFont typeface="Arial"/>
              <a:buChar char="•"/>
            </a:pPr>
            <a:r>
              <a:rPr sz="1100" b="0" i="0">
                <a:solidFill>
                  <a:srgbClr val="322014"/>
                </a:solidFill>
                <a:latin typeface="Arial"/>
              </a:rPr>
              <a:t>Standard Class spends only 8.1%, a third of the Critical rate.</a:t>
            </a:r>
          </a:p>
          <a:p>
            <a:pPr algn="l" marL="155448" indent="-155448">
              <a:lnSpc>
                <a:spcPct val="114000"/>
              </a:lnSpc>
              <a:spcBef>
                <a:spcPts val="0"/>
              </a:spcBef>
              <a:spcAft>
                <a:spcPts val="1000"/>
              </a:spcAft>
              <a:buFont typeface="Arial"/>
              <a:buChar char="•"/>
            </a:pPr>
            <a:r>
              <a:rPr sz="1100" b="0" i="0">
                <a:solidFill>
                  <a:srgbClr val="322014"/>
                </a:solidFill>
                <a:latin typeface="Arial"/>
              </a:rPr>
              <a:t>Company-wide freight is 10.7% of sales and is not passed through on bulky or expedited lines.</a:t>
            </a:r>
          </a:p>
          <a:p>
            <a:pPr algn="l" marL="155448" indent="-155448">
              <a:lnSpc>
                <a:spcPct val="114000"/>
              </a:lnSpc>
              <a:spcBef>
                <a:spcPts val="0"/>
              </a:spcBef>
              <a:spcAft>
                <a:spcPts val="300"/>
              </a:spcAft>
              <a:buFont typeface="Arial"/>
              <a:buChar char="•"/>
            </a:pPr>
            <a:r>
              <a:rPr sz="1100" b="0" i="0">
                <a:solidFill>
                  <a:srgbClr val="322014"/>
                </a:solidFill>
                <a:latin typeface="Arial"/>
              </a:rPr>
              <a:t>Deep discounts and heavy freight co-occur on the same orders, so those orders struggle to recover.</a:t>
            </a:r>
          </a:p>
        </p:txBody>
      </p:sp>
      <p:sp>
        <p:nvSpPr>
          <p:cNvPr id="20" name="TextBox 19"/>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Global Superstore transaction ledger, FY2011-FY2014. Freight ratio = shipping cost / gross sales.</a:t>
            </a:r>
          </a:p>
        </p:txBody>
      </p:sp>
      <p:pic>
        <p:nvPicPr>
          <p:cNvPr id="21" name="Picture 20" descr="freight_truck.png"/>
          <p:cNvPicPr>
            <a:picLocks noChangeAspect="1"/>
          </p:cNvPicPr>
          <p:nvPr/>
        </p:nvPicPr>
        <p:blipFill>
          <a:blip r:embed="rId3"/>
          <a:stretch>
            <a:fillRect/>
          </a:stretch>
        </p:blipFill>
        <p:spPr>
          <a:xfrm>
            <a:off x="8165592" y="4553712"/>
            <a:ext cx="3383280" cy="1371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Diagnosis · Root causes</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9</a:t>
            </a:r>
          </a:p>
        </p:txBody>
      </p:sp>
      <p:sp>
        <p:nvSpPr>
          <p:cNvPr id="8" name="TextBox 7"/>
          <p:cNvSpPr txBox="1"/>
          <p:nvPr/>
        </p:nvSpPr>
        <p:spPr>
          <a:xfrm>
            <a:off x="566928" y="731520"/>
            <a:ext cx="11057839" cy="822960"/>
          </a:xfrm>
          <a:prstGeom prst="rect">
            <a:avLst/>
          </a:prstGeom>
          <a:noFill/>
        </p:spPr>
        <p:txBody>
          <a:bodyPr wrap="square" anchor="t" lIns="0" rIns="0" tIns="0" bIns="0">
            <a:spAutoFit/>
          </a:bodyPr>
          <a:lstStyle/>
          <a:p>
            <a:pPr algn="l">
              <a:lnSpc>
                <a:spcPct val="102000"/>
              </a:lnSpc>
              <a:spcBef>
                <a:spcPts val="0"/>
              </a:spcBef>
              <a:spcAft>
                <a:spcPts val="300"/>
              </a:spcAft>
            </a:pPr>
            <a:r>
              <a:rPr sz="2100" b="1" i="0">
                <a:solidFill>
                  <a:srgbClr val="322014"/>
                </a:solidFill>
                <a:latin typeface="Georgia"/>
              </a:rPr>
              <a:t>Deep discounts, loss-making territories and bulky Tables drive the $921K leak</a:t>
            </a:r>
          </a:p>
        </p:txBody>
      </p:sp>
      <p:graphicFrame>
        <p:nvGraphicFramePr>
          <p:cNvPr id="9" name="Table 8"/>
          <p:cNvGraphicFramePr>
            <a:graphicFrameLocks noGrp="1"/>
          </p:cNvGraphicFramePr>
          <p:nvPr/>
        </p:nvGraphicFramePr>
        <p:xfrm>
          <a:off x="566928" y="1737360"/>
          <a:ext cx="11064240" cy="3803904"/>
        </p:xfrm>
        <a:graphic>
          <a:graphicData uri="http://schemas.openxmlformats.org/drawingml/2006/table">
            <a:tbl>
              <a:tblPr>
                <a:tableStyleId>{2D5ABB26-0587-4C30-8999-92F81FD0307C}</a:tableStyleId>
              </a:tblPr>
              <a:tblGrid>
                <a:gridCol w="2606040"/>
                <a:gridCol w="4160520"/>
                <a:gridCol w="2606040"/>
                <a:gridCol w="1691640"/>
              </a:tblGrid>
              <a:tr h="402336">
                <a:tc>
                  <a:txBody>
                    <a:bodyPr wrap="square"/>
                    <a:lstStyle/>
                    <a:p>
                      <a:pPr>
                        <a:lnSpc>
                          <a:spcPct val="105000"/>
                        </a:lnSpc>
                      </a:pPr>
                      <a:r>
                        <a:rPr sz="1200" b="1">
                          <a:solidFill>
                            <a:srgbClr val="322014"/>
                          </a:solidFill>
                          <a:latin typeface="Arial"/>
                        </a:rPr>
                        <a:t>Root cause</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Evidence in the data</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Where it concentrates</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Profit recovered by the fix</a:t>
                      </a:r>
                    </a:p>
                  </a:txBody>
                  <a:tcPr marL="91440" marR="73152" marT="45720" marB="45720" anchor="ctr">
                    <a:lnB w="19050" cap="flat" cmpd="sng" algn="ctr">
                      <a:solidFill>
                        <a:srgbClr val="322014"/>
                      </a:solidFill>
                    </a:lnB>
                    <a:solidFill>
                      <a:srgbClr val="FFFFFF"/>
                    </a:solidFill>
                  </a:tcPr>
                </a:tc>
              </a:tr>
              <a:tr h="1133856">
                <a:tc>
                  <a:txBody>
                    <a:bodyPr wrap="square"/>
                    <a:lstStyle/>
                    <a:p>
                      <a:pPr>
                        <a:lnSpc>
                          <a:spcPct val="105000"/>
                        </a:lnSpc>
                      </a:pPr>
                      <a:r>
                        <a:rPr sz="1400" b="1">
                          <a:solidFill>
                            <a:srgbClr val="5A3921"/>
                          </a:solidFill>
                          <a:latin typeface="Georgia"/>
                        </a:rPr>
                        <a:t>Uncontrolled discounting</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22.1% of lines were priced above a 20% discount</a:t>
                      </a:r>
                    </a:p>
                    <a:p>
                      <a:pPr>
                        <a:lnSpc>
                          <a:spcPct val="105000"/>
                        </a:lnSpc>
                      </a:pPr>
                      <a:r>
                        <a:rPr sz="1100" b="0">
                          <a:solidFill>
                            <a:srgbClr val="322014"/>
                          </a:solidFill>
                          <a:latin typeface="Arial"/>
                        </a:rPr>
                        <a:t>Margin inverts at the 20% line, from +9.9% to -5.5%</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Every market; worst in EMEA and LATAM</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+$1.03M</a:t>
                      </a:r>
                    </a:p>
                  </a:txBody>
                  <a:tcPr marL="91440" marR="73152" marT="45720" marB="45720" anchor="ctr">
                    <a:lnT w="9525" cap="flat" cmpd="sng" algn="ctr">
                      <a:solidFill>
                        <a:srgbClr val="E2DCD2"/>
                      </a:solidFill>
                    </a:lnT>
                    <a:solidFill>
                      <a:srgbClr val="FFFFFF"/>
                    </a:solidFill>
                  </a:tcPr>
                </a:tc>
              </a:tr>
              <a:tr h="1133856">
                <a:tc>
                  <a:txBody>
                    <a:bodyPr wrap="square"/>
                    <a:lstStyle/>
                    <a:p>
                      <a:pPr>
                        <a:lnSpc>
                          <a:spcPct val="105000"/>
                        </a:lnSpc>
                      </a:pPr>
                      <a:r>
                        <a:rPr sz="1400" b="1">
                          <a:solidFill>
                            <a:srgbClr val="5A3921"/>
                          </a:solidFill>
                          <a:latin typeface="Georgia"/>
                        </a:rPr>
                        <a:t>Loss-making overseas territories</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Turkey -$98K and Nigeria -$81K at 60-70% average discounts</a:t>
                      </a:r>
                    </a:p>
                    <a:p>
                      <a:pPr>
                        <a:lnSpc>
                          <a:spcPct val="105000"/>
                        </a:lnSpc>
                      </a:pPr>
                      <a:r>
                        <a:rPr sz="1100" b="0">
                          <a:solidFill>
                            <a:srgbClr val="322014"/>
                          </a:solidFill>
                          <a:latin typeface="Arial"/>
                        </a:rPr>
                        <a:t>EMEA margin 5.4% against 12-13% elsewhere</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Turkey, Nigeria, Netherlands</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+$0.18M</a:t>
                      </a:r>
                    </a:p>
                  </a:txBody>
                  <a:tcPr marL="91440" marR="73152" marT="45720" marB="45720" anchor="ctr">
                    <a:lnT w="9525" cap="flat" cmpd="sng" algn="ctr">
                      <a:solidFill>
                        <a:srgbClr val="E2DCD2"/>
                      </a:solidFill>
                    </a:lnT>
                    <a:solidFill>
                      <a:srgbClr val="FFFFFF"/>
                    </a:solidFill>
                  </a:tcPr>
                </a:tc>
              </a:tr>
              <a:tr h="1133856">
                <a:tc>
                  <a:txBody>
                    <a:bodyPr wrap="square"/>
                    <a:lstStyle/>
                    <a:p>
                      <a:pPr>
                        <a:lnSpc>
                          <a:spcPct val="105000"/>
                        </a:lnSpc>
                      </a:pPr>
                      <a:r>
                        <a:rPr sz="1400" b="1">
                          <a:solidFill>
                            <a:srgbClr val="5A3921"/>
                          </a:solidFill>
                          <a:latin typeface="Georgia"/>
                        </a:rPr>
                        <a:t>Bulk freight on Tables</a:t>
                      </a:r>
                    </a:p>
                  </a:txBody>
                  <a:tcPr marL="91440" marR="73152" marT="45720" marB="45720" anchor="ctr">
                    <a:lnR w="19050" cap="flat" cmpd="sng" algn="ctr">
                      <a:solidFill>
                        <a:srgbClr val="322014"/>
                      </a:solidFill>
                    </a:ln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Tables -$64K at a 29.1% average discount</a:t>
                      </a:r>
                    </a:p>
                    <a:p>
                      <a:pPr>
                        <a:lnSpc>
                          <a:spcPct val="105000"/>
                        </a:lnSpc>
                      </a:pPr>
                      <a:r>
                        <a:rPr sz="1100" b="0">
                          <a:solidFill>
                            <a:srgbClr val="322014"/>
                          </a:solidFill>
                          <a:latin typeface="Arial"/>
                        </a:rPr>
                        <a:t>Expedited freight runs at 17-24% of sales</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Tables within Furniture</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+$0.05M</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r>
            </a:tbl>
          </a:graphicData>
        </a:graphic>
      </p:graphicFrame>
      <p:sp>
        <p:nvSpPr>
          <p:cNvPr id="10" name="TextBox 9"/>
          <p:cNvSpPr txBox="1"/>
          <p:nvPr/>
        </p:nvSpPr>
        <p:spPr>
          <a:xfrm>
            <a:off x="566928" y="5879592"/>
            <a:ext cx="11057839" cy="201168"/>
          </a:xfrm>
          <a:prstGeom prst="rect">
            <a:avLst/>
          </a:prstGeom>
          <a:noFill/>
        </p:spPr>
        <p:txBody>
          <a:bodyPr wrap="square" anchor="t" lIns="0" rIns="0" tIns="0" bIns="0">
            <a:spAutoFit/>
          </a:bodyPr>
          <a:lstStyle/>
          <a:p>
            <a:pPr algn="l">
              <a:lnSpc>
                <a:spcPct val="106000"/>
              </a:lnSpc>
              <a:spcBef>
                <a:spcPts val="0"/>
              </a:spcBef>
              <a:spcAft>
                <a:spcPts val="300"/>
              </a:spcAft>
            </a:pPr>
            <a:r>
              <a:rPr sz="850" b="0" i="0">
                <a:solidFill>
                  <a:srgbClr val="8A7B6B"/>
                </a:solidFill>
                <a:latin typeface="Arial"/>
              </a:rPr>
              <a:t>Recovery exceeds the reported $921K loss because capping discounts at 20% returns those lines to a positive margin (+9.9%), rather than just break-even.</a:t>
            </a:r>
          </a:p>
        </p:txBody>
      </p:sp>
      <p:sp>
        <p:nvSpPr>
          <p:cNvPr id="11" name="TextBox 10"/>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base-case simulation on the FY2011-FY2014 ledger, before the churn allowance. Figures are an analytics estimate, not a forecast.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Turnaround · Options considered</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10</a:t>
            </a:r>
          </a:p>
        </p:txBody>
      </p:sp>
      <p:sp>
        <p:nvSpPr>
          <p:cNvPr id="8" name="TextBox 7"/>
          <p:cNvSpPr txBox="1"/>
          <p:nvPr/>
        </p:nvSpPr>
        <p:spPr>
          <a:xfrm>
            <a:off x="566928" y="731520"/>
            <a:ext cx="11057839" cy="822960"/>
          </a:xfrm>
          <a:prstGeom prst="rect">
            <a:avLst/>
          </a:prstGeom>
          <a:noFill/>
        </p:spPr>
        <p:txBody>
          <a:bodyPr wrap="square" anchor="t" lIns="0" rIns="0" tIns="0" bIns="0">
            <a:spAutoFit/>
          </a:bodyPr>
          <a:lstStyle/>
          <a:p>
            <a:pPr algn="l">
              <a:lnSpc>
                <a:spcPct val="102000"/>
              </a:lnSpc>
              <a:spcBef>
                <a:spcPts val="0"/>
              </a:spcBef>
              <a:spcAft>
                <a:spcPts val="300"/>
              </a:spcAft>
            </a:pPr>
            <a:r>
              <a:rPr sz="2100" b="1" i="0">
                <a:solidFill>
                  <a:srgbClr val="322014"/>
                </a:solidFill>
                <a:latin typeface="Georgia"/>
              </a:rPr>
              <a:t>The three-lever recovery plan outearns every alternative tested</a:t>
            </a:r>
          </a:p>
        </p:txBody>
      </p:sp>
      <p:graphicFrame>
        <p:nvGraphicFramePr>
          <p:cNvPr id="9" name="Table 8"/>
          <p:cNvGraphicFramePr>
            <a:graphicFrameLocks noGrp="1"/>
          </p:cNvGraphicFramePr>
          <p:nvPr/>
        </p:nvGraphicFramePr>
        <p:xfrm>
          <a:off x="566928" y="1737360"/>
          <a:ext cx="11064240" cy="3803904"/>
        </p:xfrm>
        <a:graphic>
          <a:graphicData uri="http://schemas.openxmlformats.org/drawingml/2006/table">
            <a:tbl>
              <a:tblPr>
                <a:tableStyleId>{2D5ABB26-0587-4C30-8999-92F81FD0307C}</a:tableStyleId>
              </a:tblPr>
              <a:tblGrid>
                <a:gridCol w="2606040"/>
                <a:gridCol w="4160520"/>
                <a:gridCol w="2606040"/>
                <a:gridCol w="1691640"/>
              </a:tblGrid>
              <a:tr h="402336">
                <a:tc>
                  <a:txBody>
                    <a:bodyPr wrap="square"/>
                    <a:lstStyle/>
                    <a:p>
                      <a:pPr>
                        <a:lnSpc>
                          <a:spcPct val="105000"/>
                        </a:lnSpc>
                      </a:pPr>
                      <a:r>
                        <a:rPr sz="1200" b="1">
                          <a:solidFill>
                            <a:srgbClr val="322014"/>
                          </a:solidFill>
                          <a:latin typeface="Arial"/>
                        </a:rPr>
                        <a:t>Alternative considered</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What it promises</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Why it is eliminated</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Verdict</a:t>
                      </a:r>
                    </a:p>
                  </a:txBody>
                  <a:tcPr marL="91440" marR="73152" marT="45720" marB="45720" anchor="ctr">
                    <a:lnB w="19050" cap="flat" cmpd="sng" algn="ctr">
                      <a:solidFill>
                        <a:srgbClr val="322014"/>
                      </a:solidFill>
                    </a:lnB>
                    <a:solidFill>
                      <a:srgbClr val="FFFFFF"/>
                    </a:solidFill>
                  </a:tcPr>
                </a:tc>
              </a:tr>
              <a:tr h="1133856">
                <a:tc>
                  <a:txBody>
                    <a:bodyPr wrap="square"/>
                    <a:lstStyle/>
                    <a:p>
                      <a:pPr>
                        <a:lnSpc>
                          <a:spcPct val="105000"/>
                        </a:lnSpc>
                      </a:pPr>
                      <a:r>
                        <a:rPr sz="1400" b="1">
                          <a:solidFill>
                            <a:srgbClr val="5A3921"/>
                          </a:solidFill>
                          <a:latin typeface="Georgia"/>
                        </a:rPr>
                        <a:t>Raise list prices, allow deeper discounts</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Bigger concessions look affordable from a higher invoice price</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The leak follows the discount, not the list price: margin runs +9.9% at 10-20% off but -5.5% at 20-30%, and 88.5% of loss dollars sit above the 20% line</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Eliminated</a:t>
                      </a:r>
                    </a:p>
                  </a:txBody>
                  <a:tcPr marL="91440" marR="73152" marT="45720" marB="45720" anchor="ctr">
                    <a:lnT w="9525" cap="flat" cmpd="sng" algn="ctr">
                      <a:solidFill>
                        <a:srgbClr val="E2DCD2"/>
                      </a:solidFill>
                    </a:lnT>
                    <a:solidFill>
                      <a:srgbClr val="FFFFFF"/>
                    </a:solidFill>
                  </a:tcPr>
                </a:tc>
              </a:tr>
              <a:tr h="1133856">
                <a:tc>
                  <a:txBody>
                    <a:bodyPr wrap="square"/>
                    <a:lstStyle/>
                    <a:p>
                      <a:pPr>
                        <a:lnSpc>
                          <a:spcPct val="105000"/>
                        </a:lnSpc>
                      </a:pPr>
                      <a:r>
                        <a:rPr sz="1400" b="1">
                          <a:solidFill>
                            <a:srgbClr val="5A3921"/>
                          </a:solidFill>
                          <a:latin typeface="Georgia"/>
                        </a:rPr>
                        <a:t>Exit Turkey and Nigeria entirely</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Instant stop to the -$179K country deficit</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Abandons $163K of revenue and two developing markets; 3PL restructuring removes the same losses while keeping every sale</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Eliminated</a:t>
                      </a:r>
                    </a:p>
                  </a:txBody>
                  <a:tcPr marL="91440" marR="73152" marT="45720" marB="45720" anchor="ctr">
                    <a:lnT w="9525" cap="flat" cmpd="sng" algn="ctr">
                      <a:solidFill>
                        <a:srgbClr val="E2DCD2"/>
                      </a:solidFill>
                    </a:lnT>
                    <a:solidFill>
                      <a:srgbClr val="FFFFFF"/>
                    </a:solidFill>
                  </a:tcPr>
                </a:tc>
              </a:tr>
              <a:tr h="1133856">
                <a:tc>
                  <a:txBody>
                    <a:bodyPr wrap="square"/>
                    <a:lstStyle/>
                    <a:p>
                      <a:pPr>
                        <a:lnSpc>
                          <a:spcPct val="105000"/>
                        </a:lnSpc>
                      </a:pPr>
                      <a:r>
                        <a:rPr sz="1400" b="1">
                          <a:solidFill>
                            <a:srgbClr val="5A3921"/>
                          </a:solidFill>
                          <a:latin typeface="Georgia"/>
                        </a:rPr>
                        <a:t>Renegotiate carrier rates company-wide</a:t>
                      </a:r>
                    </a:p>
                  </a:txBody>
                  <a:tcPr marL="91440" marR="73152" marT="45720" marB="45720" anchor="ctr">
                    <a:lnR w="19050" cap="flat" cmpd="sng" algn="ctr">
                      <a:solidFill>
                        <a:srgbClr val="322014"/>
                      </a:solidFill>
                    </a:ln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Cheaper freight on every order</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Freight is $1.35M over four years; a realistic ~10% cut returns ~$0.14M after 12+ months of contracting, leaving the $814,682 discount leak untouched</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Support lever only</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r>
            </a:tbl>
          </a:graphicData>
        </a:graphic>
      </p:graphicFrame>
      <p:sp>
        <p:nvSpPr>
          <p:cNvPr id="10" name="TextBox 9"/>
          <p:cNvSpPr txBox="1"/>
          <p:nvPr/>
        </p:nvSpPr>
        <p:spPr>
          <a:xfrm>
            <a:off x="566928" y="5879592"/>
            <a:ext cx="11057839" cy="201168"/>
          </a:xfrm>
          <a:prstGeom prst="rect">
            <a:avLst/>
          </a:prstGeom>
          <a:noFill/>
        </p:spPr>
        <p:txBody>
          <a:bodyPr wrap="square" anchor="t" lIns="0" rIns="0" tIns="0" bIns="0">
            <a:spAutoFit/>
          </a:bodyPr>
          <a:lstStyle/>
          <a:p>
            <a:pPr algn="l">
              <a:lnSpc>
                <a:spcPct val="106000"/>
              </a:lnSpc>
              <a:spcBef>
                <a:spcPts val="0"/>
              </a:spcBef>
              <a:spcAft>
                <a:spcPts val="300"/>
              </a:spcAft>
            </a:pPr>
            <a:r>
              <a:rPr sz="850" b="0" i="0">
                <a:solidFill>
                  <a:srgbClr val="8A7B6B"/>
                </a:solidFill>
                <a:latin typeface="Arial"/>
              </a:rPr>
              <a:t>Capping discounts at 20% dominates: it is the only alternative that returns more than it risks, needs no capital, and takes effect inside two months.</a:t>
            </a:r>
          </a:p>
        </p:txBody>
      </p:sp>
      <p:sp>
        <p:nvSpPr>
          <p:cNvPr id="11" name="TextBox 10"/>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alternatives assessed on the FY2011-FY2014 ledger. Freight totals $1.35M (10.7% of sales); deep-discount losses $814,682 across 11,328 lines; Turkey and Nigeria revenue $163K. Modelling estimates, not forecasts.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Turnaround · Plan</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11</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$1.23M of operating profit is recoverable on the full-ledger basis</a:t>
            </a:r>
          </a:p>
        </p:txBody>
      </p:sp>
      <p:graphicFrame>
        <p:nvGraphicFramePr>
          <p:cNvPr id="9" name="Table 8"/>
          <p:cNvGraphicFramePr>
            <a:graphicFrameLocks noGrp="1"/>
          </p:cNvGraphicFramePr>
          <p:nvPr/>
        </p:nvGraphicFramePr>
        <p:xfrm>
          <a:off x="566928" y="1737360"/>
          <a:ext cx="11064240" cy="3895344"/>
        </p:xfrm>
        <a:graphic>
          <a:graphicData uri="http://schemas.openxmlformats.org/drawingml/2006/table">
            <a:tbl>
              <a:tblPr>
                <a:tableStyleId>{2D5ABB26-0587-4C30-8999-92F81FD0307C}</a:tableStyleId>
              </a:tblPr>
              <a:tblGrid>
                <a:gridCol w="3108960"/>
                <a:gridCol w="1600200"/>
                <a:gridCol w="1143000"/>
                <a:gridCol w="3566160"/>
                <a:gridCol w="1645920"/>
              </a:tblGrid>
              <a:tr h="384048">
                <a:tc>
                  <a:txBody>
                    <a:bodyPr wrap="square"/>
                    <a:lstStyle/>
                    <a:p>
                      <a:pPr>
                        <a:lnSpc>
                          <a:spcPct val="105000"/>
                        </a:lnSpc>
                      </a:pPr>
                      <a:r>
                        <a:rPr sz="1200" b="1">
                          <a:solidFill>
                            <a:srgbClr val="322014"/>
                          </a:solidFill>
                          <a:latin typeface="Arial"/>
                        </a:rPr>
                        <a:t>Initiative</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Owner</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Timing</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KPI to track</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Expected impact</a:t>
                      </a:r>
                    </a:p>
                  </a:txBody>
                  <a:tcPr marL="91440" marR="73152" marT="45720" marB="45720" anchor="ctr">
                    <a:lnB w="19050" cap="flat" cmpd="sng" algn="ctr">
                      <a:solidFill>
                        <a:srgbClr val="322014"/>
                      </a:solidFill>
                    </a:lnB>
                    <a:solidFill>
                      <a:srgbClr val="FFFFFF"/>
                    </a:solidFill>
                  </a:tcPr>
                </a:tc>
              </a:tr>
              <a:tr h="1170432">
                <a:tc>
                  <a:txBody>
                    <a:bodyPr wrap="square"/>
                    <a:lstStyle/>
                    <a:p>
                      <a:pPr>
                        <a:lnSpc>
                          <a:spcPct val="105000"/>
                        </a:lnSpc>
                      </a:pPr>
                      <a:r>
                        <a:rPr sz="1350" b="1">
                          <a:solidFill>
                            <a:srgbClr val="5A3921"/>
                          </a:solidFill>
                          <a:latin typeface="Georgia"/>
                        </a:rPr>
                        <a:t>1. Pricing governance: cap discounts at 20%</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Chief Commercial Officer</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Months 1-2</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Orders above 15% discount: below 2%</a:t>
                      </a:r>
                    </a:p>
                    <a:p>
                      <a:pPr>
                        <a:lnSpc>
                          <a:spcPct val="105000"/>
                        </a:lnSpc>
                      </a:pPr>
                      <a:r>
                        <a:rPr sz="1050" b="0">
                          <a:solidFill>
                            <a:srgbClr val="322014"/>
                          </a:solidFill>
                          <a:latin typeface="Arial"/>
                        </a:rPr>
                        <a:t>Average discount: below 12%</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050" b="1">
                          <a:solidFill>
                            <a:srgbClr val="322014"/>
                          </a:solidFill>
                          <a:latin typeface="Arial"/>
                        </a:rPr>
                        <a:t>+$1.03M</a:t>
                      </a:r>
                    </a:p>
                  </a:txBody>
                  <a:tcPr marL="91440" marR="73152" marT="45720" marB="45720" anchor="ctr">
                    <a:lnT w="9525" cap="flat" cmpd="sng" algn="ctr">
                      <a:solidFill>
                        <a:srgbClr val="E2DCD2"/>
                      </a:solidFill>
                    </a:lnT>
                    <a:solidFill>
                      <a:srgbClr val="FFFFFF"/>
                    </a:solidFill>
                  </a:tcPr>
                </a:tc>
              </a:tr>
              <a:tr h="1170432">
                <a:tc>
                  <a:txBody>
                    <a:bodyPr wrap="square"/>
                    <a:lstStyle/>
                    <a:p>
                      <a:pPr>
                        <a:lnSpc>
                          <a:spcPct val="105000"/>
                        </a:lnSpc>
                      </a:pPr>
                      <a:r>
                        <a:rPr sz="1350" b="1">
                          <a:solidFill>
                            <a:srgbClr val="5A3921"/>
                          </a:solidFill>
                          <a:latin typeface="Georgia"/>
                        </a:rPr>
                        <a:t>2. Restructure loss-making territories to third-party logistics (3PL)</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VP Global Supply Chain</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Months 3-4</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Country operating margin: break-even within 90 days</a:t>
                      </a:r>
                    </a:p>
                    <a:p>
                      <a:pPr>
                        <a:lnSpc>
                          <a:spcPct val="105000"/>
                        </a:lnSpc>
                      </a:pPr>
                      <a:r>
                        <a:rPr sz="1050" b="0">
                          <a:solidFill>
                            <a:srgbClr val="322014"/>
                          </a:solidFill>
                          <a:latin typeface="Arial"/>
                        </a:rPr>
                        <a:t>Freight: below 12% of sales</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050" b="1">
                          <a:solidFill>
                            <a:srgbClr val="322014"/>
                          </a:solidFill>
                          <a:latin typeface="Arial"/>
                        </a:rPr>
                        <a:t>+$0.18M</a:t>
                      </a:r>
                    </a:p>
                  </a:txBody>
                  <a:tcPr marL="91440" marR="73152" marT="45720" marB="45720" anchor="ctr">
                    <a:lnT w="9525" cap="flat" cmpd="sng" algn="ctr">
                      <a:solidFill>
                        <a:srgbClr val="E2DCD2"/>
                      </a:solidFill>
                    </a:lnT>
                    <a:solidFill>
                      <a:srgbClr val="FFFFFF"/>
                    </a:solidFill>
                  </a:tcPr>
                </a:tc>
              </a:tr>
              <a:tr h="1170432">
                <a:tc>
                  <a:txBody>
                    <a:bodyPr wrap="square"/>
                    <a:lstStyle/>
                    <a:p>
                      <a:pPr>
                        <a:lnSpc>
                          <a:spcPct val="105000"/>
                        </a:lnSpc>
                      </a:pPr>
                      <a:r>
                        <a:rPr sz="1350" b="1">
                          <a:solidFill>
                            <a:srgbClr val="5A3921"/>
                          </a:solidFill>
                          <a:latin typeface="Georgia"/>
                        </a:rPr>
                        <a:t>3. Tables freight pass-through and repricing</a:t>
                      </a:r>
                    </a:p>
                  </a:txBody>
                  <a:tcPr marL="91440" marR="73152" marT="45720" marB="45720" anchor="ctr">
                    <a:lnR w="19050" cap="flat" cmpd="sng" algn="ctr">
                      <a:solidFill>
                        <a:srgbClr val="322014"/>
                      </a:solidFill>
                    </a:ln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Head of Merchandising</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Months 5-7</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050" b="0">
                          <a:solidFill>
                            <a:srgbClr val="322014"/>
                          </a:solidFill>
                          <a:latin typeface="Arial"/>
                        </a:rPr>
                        <a:t>Tables operating margin: above +10%</a:t>
                      </a:r>
                    </a:p>
                    <a:p>
                      <a:pPr>
                        <a:lnSpc>
                          <a:spcPct val="105000"/>
                        </a:lnSpc>
                      </a:pPr>
                      <a:r>
                        <a:rPr sz="1050" b="0">
                          <a:solidFill>
                            <a:srgbClr val="322014"/>
                          </a:solidFill>
                          <a:latin typeface="Arial"/>
                        </a:rPr>
                        <a:t>Dimensional freight recovery: 100%</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050" b="1">
                          <a:solidFill>
                            <a:srgbClr val="322014"/>
                          </a:solidFill>
                          <a:latin typeface="Arial"/>
                        </a:rPr>
                        <a:t>+$0.05M</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r>
            </a:tbl>
          </a:graphicData>
        </a:graphic>
      </p:graphicFrame>
      <p:sp>
        <p:nvSpPr>
          <p:cNvPr id="10" name="TextBox 9"/>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base-case simulation on the FY2011-FY2014 ledger; levers are gross and the $1.23M headline is net of a churn allowance, about $0.31M a year on the same run-rate. Modelling estimate, not a forecast.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Turnaround · Financial impact</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12</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The base case lifts operating profit 84% and margin to 19.9%</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Operating profit bridge, baseline to projected</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44568" y="1737360"/>
            <a:ext cx="2788920" cy="219456"/>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 million, FY2011-FY2014 ledger basis</a:t>
            </a:r>
          </a:p>
        </p:txBody>
      </p:sp>
      <p:sp>
        <p:nvSpPr>
          <p:cNvPr id="12" name="Rectangle 11"/>
          <p:cNvSpPr/>
          <p:nvPr/>
        </p:nvSpPr>
        <p:spPr>
          <a:xfrm>
            <a:off x="974598" y="3743928"/>
            <a:ext cx="541020" cy="1577879"/>
          </a:xfrm>
          <a:prstGeom prst="rect">
            <a:avLst/>
          </a:prstGeom>
          <a:solidFill>
            <a:srgbClr val="322014"/>
          </a:solidFill>
          <a:ln>
            <a:noFill/>
          </a:ln>
          <a:effectLst/>
        </p:spPr>
        <p:txBody>
          <a:bodyPr rtlCol="0" anchor="ctr"/>
          <a:lstStyle/>
          <a:p/>
        </p:txBody>
      </p:sp>
      <p:sp>
        <p:nvSpPr>
          <p:cNvPr id="13" name="TextBox 12"/>
          <p:cNvSpPr txBox="1"/>
          <p:nvPr/>
        </p:nvSpPr>
        <p:spPr>
          <a:xfrm>
            <a:off x="605028" y="3506184"/>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1000" b="1" i="0">
                <a:solidFill>
                  <a:srgbClr val="322014"/>
                </a:solidFill>
                <a:latin typeface="Arial"/>
              </a:rPr>
              <a:t>$1.47M</a:t>
            </a:r>
          </a:p>
        </p:txBody>
      </p:sp>
      <p:sp>
        <p:nvSpPr>
          <p:cNvPr id="14" name="TextBox 13"/>
          <p:cNvSpPr txBox="1"/>
          <p:nvPr/>
        </p:nvSpPr>
        <p:spPr>
          <a:xfrm>
            <a:off x="605028" y="5376671"/>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850" b="0" i="0">
                <a:solidFill>
                  <a:srgbClr val="322014"/>
                </a:solidFill>
                <a:latin typeface="Arial"/>
              </a:rPr>
              <a:t>Baseline</a:t>
            </a:r>
          </a:p>
        </p:txBody>
      </p:sp>
      <p:sp>
        <p:nvSpPr>
          <p:cNvPr id="15" name="Rectangle 14"/>
          <p:cNvSpPr/>
          <p:nvPr/>
        </p:nvSpPr>
        <p:spPr>
          <a:xfrm>
            <a:off x="2056637" y="2633927"/>
            <a:ext cx="541020" cy="1110001"/>
          </a:xfrm>
          <a:prstGeom prst="rect">
            <a:avLst/>
          </a:prstGeom>
          <a:solidFill>
            <a:srgbClr val="C5A681"/>
          </a:solidFill>
          <a:ln>
            <a:noFill/>
          </a:ln>
          <a:effectLst/>
        </p:spPr>
        <p:txBody>
          <a:bodyPr rtlCol="0" anchor="ctr"/>
          <a:lstStyle/>
          <a:p/>
        </p:txBody>
      </p:sp>
      <p:cxnSp>
        <p:nvCxnSpPr>
          <p:cNvPr id="16" name="Connector 15"/>
          <p:cNvCxnSpPr/>
          <p:nvPr/>
        </p:nvCxnSpPr>
        <p:spPr>
          <a:xfrm>
            <a:off x="1515618" y="3743928"/>
            <a:ext cx="541019" cy="0"/>
          </a:xfrm>
          <a:prstGeom prst="line">
            <a:avLst/>
          </a:prstGeom>
          <a:ln w="9525">
            <a:solidFill>
              <a:srgbClr val="E2DCD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687068" y="2396183"/>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1000" b="1" i="0">
                <a:solidFill>
                  <a:srgbClr val="322014"/>
                </a:solidFill>
                <a:latin typeface="Arial"/>
              </a:rPr>
              <a:t>+$1.03M</a:t>
            </a:r>
          </a:p>
        </p:txBody>
      </p:sp>
      <p:sp>
        <p:nvSpPr>
          <p:cNvPr id="18" name="TextBox 17"/>
          <p:cNvSpPr txBox="1"/>
          <p:nvPr/>
        </p:nvSpPr>
        <p:spPr>
          <a:xfrm>
            <a:off x="1687068" y="5376671"/>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850" b="0" i="0">
                <a:solidFill>
                  <a:srgbClr val="322014"/>
                </a:solidFill>
                <a:latin typeface="Arial"/>
              </a:rPr>
              <a:t>Discount cap</a:t>
            </a:r>
          </a:p>
        </p:txBody>
      </p:sp>
      <p:sp>
        <p:nvSpPr>
          <p:cNvPr id="19" name="Rectangle 18"/>
          <p:cNvSpPr/>
          <p:nvPr/>
        </p:nvSpPr>
        <p:spPr>
          <a:xfrm>
            <a:off x="3138678" y="2441398"/>
            <a:ext cx="541020" cy="192529"/>
          </a:xfrm>
          <a:prstGeom prst="rect">
            <a:avLst/>
          </a:prstGeom>
          <a:solidFill>
            <a:srgbClr val="C5A681"/>
          </a:solidFill>
          <a:ln>
            <a:noFill/>
          </a:ln>
          <a:effectLst/>
        </p:spPr>
        <p:txBody>
          <a:bodyPr rtlCol="0" anchor="ctr"/>
          <a:lstStyle/>
          <a:p/>
        </p:txBody>
      </p:sp>
      <p:cxnSp>
        <p:nvCxnSpPr>
          <p:cNvPr id="20" name="Connector 19"/>
          <p:cNvCxnSpPr/>
          <p:nvPr/>
        </p:nvCxnSpPr>
        <p:spPr>
          <a:xfrm>
            <a:off x="2597658" y="2633927"/>
            <a:ext cx="541020" cy="0"/>
          </a:xfrm>
          <a:prstGeom prst="line">
            <a:avLst/>
          </a:prstGeom>
          <a:ln w="9525">
            <a:solidFill>
              <a:srgbClr val="E2DCD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69108" y="2203654"/>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1000" b="1" i="0">
                <a:solidFill>
                  <a:srgbClr val="322014"/>
                </a:solidFill>
                <a:latin typeface="Arial"/>
              </a:rPr>
              <a:t>+$0.18M</a:t>
            </a:r>
          </a:p>
        </p:txBody>
      </p:sp>
      <p:sp>
        <p:nvSpPr>
          <p:cNvPr id="22" name="TextBox 21"/>
          <p:cNvSpPr txBox="1"/>
          <p:nvPr/>
        </p:nvSpPr>
        <p:spPr>
          <a:xfrm>
            <a:off x="2769108" y="5376671"/>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850" b="0" i="0">
                <a:solidFill>
                  <a:srgbClr val="322014"/>
                </a:solidFill>
                <a:latin typeface="Arial"/>
              </a:rPr>
              <a:t>Territory 3PL</a:t>
            </a:r>
          </a:p>
        </p:txBody>
      </p:sp>
      <p:sp>
        <p:nvSpPr>
          <p:cNvPr id="23" name="Rectangle 22"/>
          <p:cNvSpPr/>
          <p:nvPr/>
        </p:nvSpPr>
        <p:spPr>
          <a:xfrm>
            <a:off x="4220718" y="2391921"/>
            <a:ext cx="541020" cy="49476"/>
          </a:xfrm>
          <a:prstGeom prst="rect">
            <a:avLst/>
          </a:prstGeom>
          <a:solidFill>
            <a:srgbClr val="C5A681"/>
          </a:solidFill>
          <a:ln>
            <a:noFill/>
          </a:ln>
          <a:effectLst/>
        </p:spPr>
        <p:txBody>
          <a:bodyPr rtlCol="0" anchor="ctr"/>
          <a:lstStyle/>
          <a:p/>
        </p:txBody>
      </p:sp>
      <p:cxnSp>
        <p:nvCxnSpPr>
          <p:cNvPr id="24" name="Connector 23"/>
          <p:cNvCxnSpPr/>
          <p:nvPr/>
        </p:nvCxnSpPr>
        <p:spPr>
          <a:xfrm>
            <a:off x="3679698" y="2441398"/>
            <a:ext cx="541020" cy="0"/>
          </a:xfrm>
          <a:prstGeom prst="line">
            <a:avLst/>
          </a:prstGeom>
          <a:ln w="9525">
            <a:solidFill>
              <a:srgbClr val="E2DCD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851148" y="2154177"/>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1000" b="1" i="0">
                <a:solidFill>
                  <a:srgbClr val="322014"/>
                </a:solidFill>
                <a:latin typeface="Arial"/>
              </a:rPr>
              <a:t>+$0.05M</a:t>
            </a:r>
          </a:p>
        </p:txBody>
      </p:sp>
      <p:sp>
        <p:nvSpPr>
          <p:cNvPr id="26" name="TextBox 25"/>
          <p:cNvSpPr txBox="1"/>
          <p:nvPr/>
        </p:nvSpPr>
        <p:spPr>
          <a:xfrm>
            <a:off x="3851148" y="5376671"/>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850" b="0" i="0">
                <a:solidFill>
                  <a:srgbClr val="322014"/>
                </a:solidFill>
                <a:latin typeface="Arial"/>
              </a:rPr>
              <a:t>Freight</a:t>
            </a:r>
          </a:p>
        </p:txBody>
      </p:sp>
      <p:sp>
        <p:nvSpPr>
          <p:cNvPr id="27" name="Rectangle 26"/>
          <p:cNvSpPr/>
          <p:nvPr/>
        </p:nvSpPr>
        <p:spPr>
          <a:xfrm>
            <a:off x="5302758" y="2391921"/>
            <a:ext cx="541020" cy="25813"/>
          </a:xfrm>
          <a:prstGeom prst="rect">
            <a:avLst/>
          </a:prstGeom>
          <a:solidFill>
            <a:srgbClr val="A22727"/>
          </a:solidFill>
          <a:ln>
            <a:noFill/>
          </a:ln>
          <a:effectLst/>
        </p:spPr>
        <p:txBody>
          <a:bodyPr rtlCol="0" anchor="ctr"/>
          <a:lstStyle/>
          <a:p/>
        </p:txBody>
      </p:sp>
      <p:cxnSp>
        <p:nvCxnSpPr>
          <p:cNvPr id="28" name="Connector 27"/>
          <p:cNvCxnSpPr/>
          <p:nvPr/>
        </p:nvCxnSpPr>
        <p:spPr>
          <a:xfrm>
            <a:off x="4761738" y="2391921"/>
            <a:ext cx="541020" cy="0"/>
          </a:xfrm>
          <a:prstGeom prst="line">
            <a:avLst/>
          </a:prstGeom>
          <a:ln w="9525">
            <a:solidFill>
              <a:srgbClr val="E2DCD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933188" y="2445167"/>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1000" b="1" i="0">
                <a:solidFill>
                  <a:srgbClr val="A22727"/>
                </a:solidFill>
                <a:latin typeface="Arial"/>
              </a:rPr>
              <a:t>-$0.02M</a:t>
            </a:r>
          </a:p>
        </p:txBody>
      </p:sp>
      <p:sp>
        <p:nvSpPr>
          <p:cNvPr id="30" name="TextBox 29"/>
          <p:cNvSpPr txBox="1"/>
          <p:nvPr/>
        </p:nvSpPr>
        <p:spPr>
          <a:xfrm>
            <a:off x="4933188" y="5376671"/>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850" b="0" i="0">
                <a:solidFill>
                  <a:srgbClr val="322014"/>
                </a:solidFill>
                <a:latin typeface="Arial"/>
              </a:rPr>
              <a:t>Churn (5%)</a:t>
            </a:r>
          </a:p>
        </p:txBody>
      </p:sp>
      <p:sp>
        <p:nvSpPr>
          <p:cNvPr id="31" name="Rectangle 30"/>
          <p:cNvSpPr/>
          <p:nvPr/>
        </p:nvSpPr>
        <p:spPr>
          <a:xfrm>
            <a:off x="6384798" y="2416660"/>
            <a:ext cx="541020" cy="2905147"/>
          </a:xfrm>
          <a:prstGeom prst="rect">
            <a:avLst/>
          </a:prstGeom>
          <a:solidFill>
            <a:srgbClr val="5A3921"/>
          </a:solidFill>
          <a:ln>
            <a:noFill/>
          </a:ln>
          <a:effectLst/>
        </p:spPr>
        <p:txBody>
          <a:bodyPr rtlCol="0" anchor="ctr"/>
          <a:lstStyle/>
          <a:p/>
        </p:txBody>
      </p:sp>
      <p:cxnSp>
        <p:nvCxnSpPr>
          <p:cNvPr id="32" name="Connector 31"/>
          <p:cNvCxnSpPr/>
          <p:nvPr/>
        </p:nvCxnSpPr>
        <p:spPr>
          <a:xfrm>
            <a:off x="5843778" y="2417735"/>
            <a:ext cx="541020" cy="0"/>
          </a:xfrm>
          <a:prstGeom prst="line">
            <a:avLst/>
          </a:prstGeom>
          <a:ln w="9525">
            <a:solidFill>
              <a:srgbClr val="E2DCD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015228" y="2178916"/>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1000" b="1" i="0">
                <a:solidFill>
                  <a:srgbClr val="322014"/>
                </a:solidFill>
                <a:latin typeface="Arial"/>
              </a:rPr>
              <a:t>$2.70M</a:t>
            </a:r>
          </a:p>
        </p:txBody>
      </p:sp>
      <p:sp>
        <p:nvSpPr>
          <p:cNvPr id="34" name="TextBox 33"/>
          <p:cNvSpPr txBox="1"/>
          <p:nvPr/>
        </p:nvSpPr>
        <p:spPr>
          <a:xfrm>
            <a:off x="6015228" y="5376671"/>
            <a:ext cx="1280160" cy="201168"/>
          </a:xfrm>
          <a:prstGeom prst="rect">
            <a:avLst/>
          </a:prstGeom>
          <a:noFill/>
        </p:spPr>
        <p:txBody>
          <a:bodyPr wrap="square" anchor="t" lIns="0" rIns="0" tIns="0" bIns="0">
            <a:spAutoFit/>
          </a:bodyPr>
          <a:lstStyle/>
          <a:p>
            <a:pPr algn="ctr">
              <a:lnSpc>
                <a:spcPct val="106000"/>
              </a:lnSpc>
              <a:spcBef>
                <a:spcPts val="0"/>
              </a:spcBef>
              <a:spcAft>
                <a:spcPts val="300"/>
              </a:spcAft>
            </a:pPr>
            <a:r>
              <a:rPr sz="850" b="0" i="0">
                <a:solidFill>
                  <a:srgbClr val="322014"/>
                </a:solidFill>
                <a:latin typeface="Arial"/>
              </a:rPr>
              <a:t>Projected</a:t>
            </a:r>
          </a:p>
        </p:txBody>
      </p:sp>
      <p:cxnSp>
        <p:nvCxnSpPr>
          <p:cNvPr id="35" name="Connector 34"/>
          <p:cNvCxnSpPr/>
          <p:nvPr/>
        </p:nvCxnSpPr>
        <p:spPr>
          <a:xfrm>
            <a:off x="704088" y="5321807"/>
            <a:ext cx="64922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66928" y="5586984"/>
            <a:ext cx="118872" cy="118872"/>
          </a:xfrm>
          <a:prstGeom prst="rect">
            <a:avLst/>
          </a:prstGeom>
          <a:solidFill>
            <a:srgbClr val="322014"/>
          </a:solidFill>
          <a:ln>
            <a:noFill/>
          </a:ln>
          <a:effectLst/>
        </p:spPr>
        <p:txBody>
          <a:bodyPr rtlCol="0" anchor="ctr"/>
          <a:lstStyle/>
          <a:p/>
        </p:txBody>
      </p:sp>
      <p:sp>
        <p:nvSpPr>
          <p:cNvPr id="37" name="TextBox 36"/>
          <p:cNvSpPr txBox="1"/>
          <p:nvPr/>
        </p:nvSpPr>
        <p:spPr>
          <a:xfrm>
            <a:off x="731520" y="555955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Baseline</a:t>
            </a:r>
          </a:p>
        </p:txBody>
      </p:sp>
      <p:sp>
        <p:nvSpPr>
          <p:cNvPr id="38" name="Rectangle 37"/>
          <p:cNvSpPr/>
          <p:nvPr/>
        </p:nvSpPr>
        <p:spPr>
          <a:xfrm>
            <a:off x="1636776" y="5586984"/>
            <a:ext cx="118872" cy="118872"/>
          </a:xfrm>
          <a:prstGeom prst="rect">
            <a:avLst/>
          </a:prstGeom>
          <a:solidFill>
            <a:srgbClr val="C5A681"/>
          </a:solidFill>
          <a:ln>
            <a:noFill/>
          </a:ln>
          <a:effectLst/>
        </p:spPr>
        <p:txBody>
          <a:bodyPr rtlCol="0" anchor="ctr"/>
          <a:lstStyle/>
          <a:p/>
        </p:txBody>
      </p:sp>
      <p:sp>
        <p:nvSpPr>
          <p:cNvPr id="39" name="TextBox 38"/>
          <p:cNvSpPr txBox="1"/>
          <p:nvPr/>
        </p:nvSpPr>
        <p:spPr>
          <a:xfrm>
            <a:off x="1801368" y="555955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Recovery levers</a:t>
            </a:r>
          </a:p>
        </p:txBody>
      </p:sp>
      <p:sp>
        <p:nvSpPr>
          <p:cNvPr id="40" name="Rectangle 39"/>
          <p:cNvSpPr/>
          <p:nvPr/>
        </p:nvSpPr>
        <p:spPr>
          <a:xfrm>
            <a:off x="3186684" y="5586984"/>
            <a:ext cx="118872" cy="118872"/>
          </a:xfrm>
          <a:prstGeom prst="rect">
            <a:avLst/>
          </a:prstGeom>
          <a:solidFill>
            <a:srgbClr val="A22727"/>
          </a:solidFill>
          <a:ln>
            <a:noFill/>
          </a:ln>
          <a:effectLst/>
        </p:spPr>
        <p:txBody>
          <a:bodyPr rtlCol="0" anchor="ctr"/>
          <a:lstStyle/>
          <a:p/>
        </p:txBody>
      </p:sp>
      <p:sp>
        <p:nvSpPr>
          <p:cNvPr id="41" name="TextBox 40"/>
          <p:cNvSpPr txBox="1"/>
          <p:nvPr/>
        </p:nvSpPr>
        <p:spPr>
          <a:xfrm>
            <a:off x="3351276" y="555955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Churn allowance</a:t>
            </a:r>
          </a:p>
        </p:txBody>
      </p:sp>
      <p:sp>
        <p:nvSpPr>
          <p:cNvPr id="42" name="Rectangle 41"/>
          <p:cNvSpPr/>
          <p:nvPr/>
        </p:nvSpPr>
        <p:spPr>
          <a:xfrm>
            <a:off x="4736592" y="5586984"/>
            <a:ext cx="118872" cy="118872"/>
          </a:xfrm>
          <a:prstGeom prst="rect">
            <a:avLst/>
          </a:prstGeom>
          <a:solidFill>
            <a:srgbClr val="5A3921"/>
          </a:solidFill>
          <a:ln>
            <a:noFill/>
          </a:ln>
          <a:effectLst/>
        </p:spPr>
        <p:txBody>
          <a:bodyPr rtlCol="0" anchor="ctr"/>
          <a:lstStyle/>
          <a:p/>
        </p:txBody>
      </p:sp>
      <p:sp>
        <p:nvSpPr>
          <p:cNvPr id="43" name="TextBox 42"/>
          <p:cNvSpPr txBox="1"/>
          <p:nvPr/>
        </p:nvSpPr>
        <p:spPr>
          <a:xfrm>
            <a:off x="4901183" y="5559552"/>
            <a:ext cx="1828800" cy="18288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322014"/>
                </a:solidFill>
                <a:latin typeface="Arial"/>
              </a:rPr>
              <a:t>Projected</a:t>
            </a:r>
          </a:p>
        </p:txBody>
      </p:sp>
      <p:sp>
        <p:nvSpPr>
          <p:cNvPr id="44" name="TextBox 43"/>
          <p:cNvSpPr txBox="1"/>
          <p:nvPr/>
        </p:nvSpPr>
        <p:spPr>
          <a:xfrm>
            <a:off x="7607808" y="1664208"/>
            <a:ext cx="401695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The recovery path</a:t>
            </a:r>
          </a:p>
        </p:txBody>
      </p:sp>
      <p:cxnSp>
        <p:nvCxnSpPr>
          <p:cNvPr id="45" name="Connector 44"/>
          <p:cNvCxnSpPr/>
          <p:nvPr/>
        </p:nvCxnSpPr>
        <p:spPr>
          <a:xfrm>
            <a:off x="7607808" y="1938528"/>
            <a:ext cx="401695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607808" y="2148840"/>
            <a:ext cx="4016959" cy="3657600"/>
          </a:xfrm>
          <a:prstGeom prst="rect">
            <a:avLst/>
          </a:prstGeom>
          <a:noFill/>
        </p:spPr>
        <p:txBody>
          <a:bodyPr wrap="square" anchor="t" lIns="0" rIns="0" tIns="0" bIns="0">
            <a:spAutoFit/>
          </a:bodyPr>
          <a:lstStyle/>
          <a:p>
            <a:pPr algn="l" marL="155448" indent="-155448">
              <a:lnSpc>
                <a:spcPct val="114000"/>
              </a:lnSpc>
              <a:spcBef>
                <a:spcPts val="0"/>
              </a:spcBef>
              <a:spcAft>
                <a:spcPts val="1000"/>
              </a:spcAft>
              <a:buFont typeface="Arial"/>
              <a:buChar char="•"/>
            </a:pPr>
            <a:r>
              <a:rPr sz="1100" b="0" i="0">
                <a:solidFill>
                  <a:srgbClr val="322014"/>
                </a:solidFill>
                <a:latin typeface="Arial"/>
              </a:rPr>
              <a:t>Baseline operating profit on the four-year ledger is $1.467M at an 11.6% blended margin.</a:t>
            </a:r>
          </a:p>
          <a:p>
            <a:pPr algn="l" marL="155448" indent="-155448">
              <a:lnSpc>
                <a:spcPct val="114000"/>
              </a:lnSpc>
              <a:spcBef>
                <a:spcPts val="0"/>
              </a:spcBef>
              <a:spcAft>
                <a:spcPts val="1000"/>
              </a:spcAft>
              <a:buFont typeface="Arial"/>
              <a:buChar char="•"/>
            </a:pPr>
            <a:r>
              <a:rPr sz="1100" b="0" i="0">
                <a:solidFill>
                  <a:srgbClr val="322014"/>
                </a:solidFill>
                <a:latin typeface="Arial"/>
              </a:rPr>
              <a:t>The 20% discount cap contributes +$1.03M, the largest single lever.</a:t>
            </a:r>
          </a:p>
          <a:p>
            <a:pPr algn="l" marL="155448" indent="-155448">
              <a:lnSpc>
                <a:spcPct val="114000"/>
              </a:lnSpc>
              <a:spcBef>
                <a:spcPts val="0"/>
              </a:spcBef>
              <a:spcAft>
                <a:spcPts val="1000"/>
              </a:spcAft>
              <a:buFont typeface="Arial"/>
              <a:buChar char="•"/>
            </a:pPr>
            <a:r>
              <a:rPr sz="1100" b="0" i="0">
                <a:solidFill>
                  <a:srgbClr val="322014"/>
                </a:solidFill>
                <a:latin typeface="Arial"/>
              </a:rPr>
              <a:t>Territory restructuring adds +$0.18M and Tables freight +$0.05M.</a:t>
            </a:r>
          </a:p>
          <a:p>
            <a:pPr algn="l" marL="155448" indent="-155448">
              <a:lnSpc>
                <a:spcPct val="114000"/>
              </a:lnSpc>
              <a:spcBef>
                <a:spcPts val="0"/>
              </a:spcBef>
              <a:spcAft>
                <a:spcPts val="300"/>
              </a:spcAft>
              <a:buFont typeface="Arial"/>
              <a:buChar char="•"/>
            </a:pPr>
            <a:r>
              <a:rPr sz="1100" b="0" i="0">
                <a:solidFill>
                  <a:srgbClr val="322014"/>
                </a:solidFill>
                <a:latin typeface="Arial"/>
              </a:rPr>
              <a:t>After the churn allowance the company lands at $2.70M and a 19.9% blended margin, about $0.31M a year higher.</a:t>
            </a:r>
          </a:p>
        </p:txBody>
      </p:sp>
      <p:sp>
        <p:nvSpPr>
          <p:cNvPr id="47" name="TextBox 46"/>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analytics simulation on the FY2011-FY2014 ledger (base case: 20% cap, $15 per table unit surcharge, full 3PL transition, 5% churn allowance). Modelling estimate, not a forecast.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Turnaround · Sensitivity</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13</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The recommendation holds under conservative and aggressive assumptions</a:t>
            </a:r>
          </a:p>
        </p:txBody>
      </p:sp>
      <p:graphicFrame>
        <p:nvGraphicFramePr>
          <p:cNvPr id="9" name="Table 8"/>
          <p:cNvGraphicFramePr>
            <a:graphicFrameLocks noGrp="1"/>
          </p:cNvGraphicFramePr>
          <p:nvPr/>
        </p:nvGraphicFramePr>
        <p:xfrm>
          <a:off x="566928" y="1920240"/>
          <a:ext cx="10698480" cy="3566160"/>
        </p:xfrm>
        <a:graphic>
          <a:graphicData uri="http://schemas.openxmlformats.org/drawingml/2006/table">
            <a:tbl>
              <a:tblPr>
                <a:tableStyleId>{2D5ABB26-0587-4C30-8999-92F81FD0307C}</a:tableStyleId>
              </a:tblPr>
              <a:tblGrid>
                <a:gridCol w="2514600"/>
                <a:gridCol w="1325880"/>
                <a:gridCol w="1463040"/>
                <a:gridCol w="1508760"/>
                <a:gridCol w="1600200"/>
                <a:gridCol w="1051560"/>
                <a:gridCol w="1234440"/>
              </a:tblGrid>
              <a:tr h="420624">
                <a:tc>
                  <a:txBody>
                    <a:bodyPr wrap="square"/>
                    <a:lstStyle/>
                    <a:p>
                      <a:pPr>
                        <a:lnSpc>
                          <a:spcPct val="105000"/>
                        </a:lnSpc>
                      </a:pPr>
                      <a:r>
                        <a:rPr sz="1200" b="1">
                          <a:solidFill>
                            <a:srgbClr val="322014"/>
                          </a:solidFill>
                          <a:latin typeface="Arial"/>
                        </a:rPr>
                        <a:t>Scenario</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Discount cap</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Tables surcharge</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Churn allowance</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Projected profit</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Margin</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Uplift</a:t>
                      </a:r>
                    </a:p>
                  </a:txBody>
                  <a:tcPr marL="91440" marR="73152" marT="45720" marB="45720" anchor="ctr">
                    <a:lnB w="19050" cap="flat" cmpd="sng" algn="ctr">
                      <a:solidFill>
                        <a:srgbClr val="322014"/>
                      </a:solidFill>
                    </a:lnB>
                    <a:solidFill>
                      <a:srgbClr val="FFFFFF"/>
                    </a:solidFill>
                  </a:tcPr>
                </a:tc>
              </a:tr>
              <a:tr h="786384">
                <a:tc>
                  <a:txBody>
                    <a:bodyPr wrap="square"/>
                    <a:lstStyle/>
                    <a:p>
                      <a:pPr>
                        <a:lnSpc>
                          <a:spcPct val="105000"/>
                        </a:lnSpc>
                      </a:pPr>
                      <a:r>
                        <a:rPr sz="1450" b="1">
                          <a:solidFill>
                            <a:srgbClr val="5A3921"/>
                          </a:solidFill>
                          <a:latin typeface="Georgia"/>
                        </a:rPr>
                        <a:t>Baseline (status quo)</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No cap</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$0</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0.0%</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$1.467M</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11.6%</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n/a</a:t>
                      </a:r>
                    </a:p>
                  </a:txBody>
                  <a:tcPr marL="91440" marR="73152" marT="45720" marB="45720" anchor="ctr">
                    <a:lnT w="9525" cap="flat" cmpd="sng" algn="ctr">
                      <a:solidFill>
                        <a:srgbClr val="E2DCD2"/>
                      </a:solidFill>
                    </a:lnT>
                    <a:solidFill>
                      <a:srgbClr val="FFFFFF"/>
                    </a:solidFill>
                  </a:tcPr>
                </a:tc>
              </a:tr>
              <a:tr h="786384">
                <a:tc>
                  <a:txBody>
                    <a:bodyPr wrap="square"/>
                    <a:lstStyle/>
                    <a:p>
                      <a:pPr>
                        <a:lnSpc>
                          <a:spcPct val="105000"/>
                        </a:lnSpc>
                      </a:pPr>
                      <a:r>
                        <a:rPr sz="1450" b="1">
                          <a:solidFill>
                            <a:srgbClr val="5A3921"/>
                          </a:solidFill>
                          <a:latin typeface="Georgia"/>
                        </a:rPr>
                        <a:t>Conservative</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25%</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$0</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7.0%</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$2.373M</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17.8%</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+$0.91M</a:t>
                      </a:r>
                    </a:p>
                  </a:txBody>
                  <a:tcPr marL="91440" marR="73152" marT="45720" marB="45720" anchor="ctr">
                    <a:lnT w="9525" cap="flat" cmpd="sng" algn="ctr">
                      <a:solidFill>
                        <a:srgbClr val="E2DCD2"/>
                      </a:solidFill>
                    </a:lnT>
                    <a:solidFill>
                      <a:srgbClr val="FFFFFF"/>
                    </a:solidFill>
                  </a:tcPr>
                </a:tc>
              </a:tr>
              <a:tr h="786384">
                <a:tc>
                  <a:txBody>
                    <a:bodyPr wrap="square"/>
                    <a:lstStyle/>
                    <a:p>
                      <a:pPr>
                        <a:lnSpc>
                          <a:spcPct val="105000"/>
                        </a:lnSpc>
                      </a:pPr>
                      <a:r>
                        <a:rPr sz="1450" b="1">
                          <a:solidFill>
                            <a:srgbClr val="5A3921"/>
                          </a:solidFill>
                          <a:latin typeface="Georgia"/>
                        </a:rPr>
                        <a:t>Base case (recommended)</a:t>
                      </a:r>
                    </a:p>
                  </a:txBody>
                  <a:tcPr marL="91440" marR="73152" marT="45720" marB="45720" anchor="ctr">
                    <a:lnR w="19050" cap="flat" cmpd="sng" algn="ctr">
                      <a:solidFill>
                        <a:srgbClr val="322014"/>
                      </a:solidFill>
                    </a:lnR>
                    <a:lnT w="9525" cap="flat" cmpd="sng" algn="ctr">
                      <a:solidFill>
                        <a:srgbClr val="E2DCD2"/>
                      </a:solidFill>
                    </a:lnT>
                    <a:solidFill>
                      <a:srgbClr val="EFEEE8"/>
                    </a:solidFill>
                  </a:tcPr>
                </a:tc>
                <a:tc>
                  <a:txBody>
                    <a:bodyPr wrap="square"/>
                    <a:lstStyle/>
                    <a:p>
                      <a:pPr>
                        <a:lnSpc>
                          <a:spcPct val="105000"/>
                        </a:lnSpc>
                      </a:pPr>
                      <a:r>
                        <a:rPr sz="1150" b="1">
                          <a:solidFill>
                            <a:srgbClr val="322014"/>
                          </a:solidFill>
                          <a:latin typeface="Arial"/>
                        </a:rPr>
                        <a:t>20%</a:t>
                      </a:r>
                    </a:p>
                  </a:txBody>
                  <a:tcPr marL="91440" marR="73152" marT="45720" marB="45720" anchor="ctr">
                    <a:lnT w="9525" cap="flat" cmpd="sng" algn="ctr">
                      <a:solidFill>
                        <a:srgbClr val="E2DCD2"/>
                      </a:solidFill>
                    </a:lnT>
                    <a:solidFill>
                      <a:srgbClr val="EFEEE8"/>
                    </a:solidFill>
                  </a:tcPr>
                </a:tc>
                <a:tc>
                  <a:txBody>
                    <a:bodyPr wrap="square"/>
                    <a:lstStyle/>
                    <a:p>
                      <a:pPr>
                        <a:lnSpc>
                          <a:spcPct val="105000"/>
                        </a:lnSpc>
                      </a:pPr>
                      <a:r>
                        <a:rPr sz="1150" b="1">
                          <a:solidFill>
                            <a:srgbClr val="322014"/>
                          </a:solidFill>
                          <a:latin typeface="Arial"/>
                        </a:rPr>
                        <a:t>$15</a:t>
                      </a:r>
                    </a:p>
                  </a:txBody>
                  <a:tcPr marL="91440" marR="73152" marT="45720" marB="45720" anchor="ctr">
                    <a:lnT w="9525" cap="flat" cmpd="sng" algn="ctr">
                      <a:solidFill>
                        <a:srgbClr val="E2DCD2"/>
                      </a:solidFill>
                    </a:lnT>
                    <a:solidFill>
                      <a:srgbClr val="EFEEE8"/>
                    </a:solidFill>
                  </a:tcPr>
                </a:tc>
                <a:tc>
                  <a:txBody>
                    <a:bodyPr wrap="square"/>
                    <a:lstStyle/>
                    <a:p>
                      <a:pPr>
                        <a:lnSpc>
                          <a:spcPct val="105000"/>
                        </a:lnSpc>
                      </a:pPr>
                      <a:r>
                        <a:rPr sz="1150" b="1">
                          <a:solidFill>
                            <a:srgbClr val="322014"/>
                          </a:solidFill>
                          <a:latin typeface="Arial"/>
                        </a:rPr>
                        <a:t>5.0%</a:t>
                      </a:r>
                    </a:p>
                  </a:txBody>
                  <a:tcPr marL="91440" marR="73152" marT="45720" marB="45720" anchor="ctr">
                    <a:lnT w="9525" cap="flat" cmpd="sng" algn="ctr">
                      <a:solidFill>
                        <a:srgbClr val="E2DCD2"/>
                      </a:solidFill>
                    </a:lnT>
                    <a:solidFill>
                      <a:srgbClr val="EFEEE8"/>
                    </a:solidFill>
                  </a:tcPr>
                </a:tc>
                <a:tc>
                  <a:txBody>
                    <a:bodyPr wrap="square"/>
                    <a:lstStyle/>
                    <a:p>
                      <a:pPr>
                        <a:lnSpc>
                          <a:spcPct val="105000"/>
                        </a:lnSpc>
                      </a:pPr>
                      <a:r>
                        <a:rPr sz="1150" b="1">
                          <a:solidFill>
                            <a:srgbClr val="322014"/>
                          </a:solidFill>
                          <a:latin typeface="Arial"/>
                        </a:rPr>
                        <a:t>$2.701M</a:t>
                      </a:r>
                    </a:p>
                  </a:txBody>
                  <a:tcPr marL="91440" marR="73152" marT="45720" marB="45720" anchor="ctr">
                    <a:lnT w="9525" cap="flat" cmpd="sng" algn="ctr">
                      <a:solidFill>
                        <a:srgbClr val="E2DCD2"/>
                      </a:solidFill>
                    </a:lnT>
                    <a:solidFill>
                      <a:srgbClr val="EFEEE8"/>
                    </a:solidFill>
                  </a:tcPr>
                </a:tc>
                <a:tc>
                  <a:txBody>
                    <a:bodyPr wrap="square"/>
                    <a:lstStyle/>
                    <a:p>
                      <a:pPr>
                        <a:lnSpc>
                          <a:spcPct val="105000"/>
                        </a:lnSpc>
                      </a:pPr>
                      <a:r>
                        <a:rPr sz="1150" b="1">
                          <a:solidFill>
                            <a:srgbClr val="322014"/>
                          </a:solidFill>
                          <a:latin typeface="Arial"/>
                        </a:rPr>
                        <a:t>19.9%</a:t>
                      </a:r>
                    </a:p>
                  </a:txBody>
                  <a:tcPr marL="91440" marR="73152" marT="45720" marB="45720" anchor="ctr">
                    <a:lnT w="9525" cap="flat" cmpd="sng" algn="ctr">
                      <a:solidFill>
                        <a:srgbClr val="E2DCD2"/>
                      </a:solidFill>
                    </a:lnT>
                    <a:solidFill>
                      <a:srgbClr val="EFEEE8"/>
                    </a:solidFill>
                  </a:tcPr>
                </a:tc>
                <a:tc>
                  <a:txBody>
                    <a:bodyPr wrap="square"/>
                    <a:lstStyle/>
                    <a:p>
                      <a:pPr>
                        <a:lnSpc>
                          <a:spcPct val="105000"/>
                        </a:lnSpc>
                      </a:pPr>
                      <a:r>
                        <a:rPr sz="1150" b="1">
                          <a:solidFill>
                            <a:srgbClr val="322014"/>
                          </a:solidFill>
                          <a:latin typeface="Arial"/>
                        </a:rPr>
                        <a:t>+$1.23M</a:t>
                      </a:r>
                    </a:p>
                  </a:txBody>
                  <a:tcPr marL="91440" marR="73152" marT="45720" marB="45720" anchor="ctr">
                    <a:lnT w="9525" cap="flat" cmpd="sng" algn="ctr">
                      <a:solidFill>
                        <a:srgbClr val="E2DCD2"/>
                      </a:solidFill>
                    </a:lnT>
                    <a:solidFill>
                      <a:srgbClr val="EFEEE8"/>
                    </a:solidFill>
                  </a:tcPr>
                </a:tc>
              </a:tr>
              <a:tr h="786384">
                <a:tc>
                  <a:txBody>
                    <a:bodyPr wrap="square"/>
                    <a:lstStyle/>
                    <a:p>
                      <a:pPr>
                        <a:lnSpc>
                          <a:spcPct val="105000"/>
                        </a:lnSpc>
                      </a:pPr>
                      <a:r>
                        <a:rPr sz="1450" b="1">
                          <a:solidFill>
                            <a:srgbClr val="5A3921"/>
                          </a:solidFill>
                          <a:latin typeface="Georgia"/>
                        </a:rPr>
                        <a:t>Aggressive</a:t>
                      </a:r>
                    </a:p>
                  </a:txBody>
                  <a:tcPr marL="91440" marR="73152" marT="45720" marB="45720" anchor="ctr">
                    <a:lnR w="19050" cap="flat" cmpd="sng" algn="ctr">
                      <a:solidFill>
                        <a:srgbClr val="322014"/>
                      </a:solidFill>
                    </a:ln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15%</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$25</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3.0%</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$2.997M</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21.7%</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50" b="0">
                          <a:solidFill>
                            <a:srgbClr val="322014"/>
                          </a:solidFill>
                          <a:latin typeface="Arial"/>
                        </a:rPr>
                        <a:t>+$1.53M</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r>
            </a:tbl>
          </a:graphicData>
        </a:graphic>
      </p:graphicFrame>
      <p:sp>
        <p:nvSpPr>
          <p:cNvPr id="10" name="TextBox 9"/>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analytics simulation on the FY2011-FY2014 ledger. Highlighted row is the recommended plan; all figures are on the four-year ledger basis and are modelling estimates, not forecasts.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Turnaround · Roadmap</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14</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Execution runs from immediate price controls to a permanent margin committee</a:t>
            </a:r>
          </a:p>
        </p:txBody>
      </p:sp>
      <p:sp>
        <p:nvSpPr>
          <p:cNvPr id="9" name="TextBox 8"/>
          <p:cNvSpPr txBox="1"/>
          <p:nvPr/>
        </p:nvSpPr>
        <p:spPr>
          <a:xfrm>
            <a:off x="566928" y="1664208"/>
            <a:ext cx="676656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Four-phase implementation</a:t>
            </a:r>
          </a:p>
        </p:txBody>
      </p:sp>
      <p:cxnSp>
        <p:nvCxnSpPr>
          <p:cNvPr id="10" name="Connector 9"/>
          <p:cNvCxnSpPr/>
          <p:nvPr/>
        </p:nvCxnSpPr>
        <p:spPr>
          <a:xfrm>
            <a:off x="566928" y="1938528"/>
            <a:ext cx="67665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338767" y="1700784"/>
            <a:ext cx="2286000" cy="201168"/>
          </a:xfrm>
          <a:prstGeom prst="rect">
            <a:avLst/>
          </a:prstGeom>
          <a:noFill/>
        </p:spPr>
        <p:txBody>
          <a:bodyPr wrap="square" anchor="t" lIns="0" rIns="0" tIns="0" bIns="0">
            <a:spAutoFit/>
          </a:bodyPr>
          <a:lstStyle/>
          <a:p>
            <a:pPr algn="r">
              <a:lnSpc>
                <a:spcPct val="106000"/>
              </a:lnSpc>
              <a:spcBef>
                <a:spcPts val="0"/>
              </a:spcBef>
              <a:spcAft>
                <a:spcPts val="300"/>
              </a:spcAft>
            </a:pPr>
            <a:r>
              <a:rPr sz="800" b="0" i="0">
                <a:solidFill>
                  <a:srgbClr val="8A7B6B"/>
                </a:solidFill>
                <a:latin typeface="Arial"/>
              </a:rPr>
              <a:t>months 1-12</a:t>
            </a:r>
          </a:p>
        </p:txBody>
      </p:sp>
      <p:sp>
        <p:nvSpPr>
          <p:cNvPr id="12" name="Chevron 11"/>
          <p:cNvSpPr/>
          <p:nvPr/>
        </p:nvSpPr>
        <p:spPr>
          <a:xfrm>
            <a:off x="566928" y="2057400"/>
            <a:ext cx="2682163" cy="3154680"/>
          </a:xfrm>
          <a:prstGeom prst="chevron">
            <a:avLst/>
          </a:prstGeom>
          <a:solidFill>
            <a:srgbClr val="EFEEE8"/>
          </a:solidFill>
          <a:ln>
            <a:noFill/>
          </a:ln>
          <a:effectLst/>
        </p:spPr>
        <p:txBody>
          <a:bodyPr rtlCol="0" anchor="ctr"/>
          <a:lstStyle/>
          <a:p/>
        </p:txBody>
      </p:sp>
      <p:sp>
        <p:nvSpPr>
          <p:cNvPr id="13" name="TextBox 12"/>
          <p:cNvSpPr txBox="1"/>
          <p:nvPr/>
        </p:nvSpPr>
        <p:spPr>
          <a:xfrm>
            <a:off x="932688" y="2359152"/>
            <a:ext cx="2060371" cy="292608"/>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322014"/>
                </a:solidFill>
                <a:latin typeface="Georgia"/>
              </a:rPr>
              <a:t>1  Commercial control</a:t>
            </a:r>
          </a:p>
        </p:txBody>
      </p:sp>
      <p:sp>
        <p:nvSpPr>
          <p:cNvPr id="14" name="TextBox 13"/>
          <p:cNvSpPr txBox="1"/>
          <p:nvPr/>
        </p:nvSpPr>
        <p:spPr>
          <a:xfrm>
            <a:off x="932688" y="2743200"/>
            <a:ext cx="2023795" cy="1554480"/>
          </a:xfrm>
          <a:prstGeom prst="rect">
            <a:avLst/>
          </a:prstGeom>
          <a:noFill/>
        </p:spPr>
        <p:txBody>
          <a:bodyPr wrap="square" anchor="t" lIns="0" rIns="0" tIns="0" bIns="0">
            <a:spAutoFit/>
          </a:bodyPr>
          <a:lstStyle/>
          <a:p>
            <a:pPr algn="l">
              <a:lnSpc>
                <a:spcPct val="112000"/>
              </a:lnSpc>
              <a:spcBef>
                <a:spcPts val="0"/>
              </a:spcBef>
              <a:spcAft>
                <a:spcPts val="300"/>
              </a:spcAft>
            </a:pPr>
            <a:r>
              <a:rPr sz="900" b="0" i="0">
                <a:solidFill>
                  <a:srgbClr val="322014"/>
                </a:solidFill>
                <a:latin typeface="Arial"/>
              </a:rPr>
              <a:t>Lock a 20% discount ceiling into order entry and move sales pay from volume to margin contribution.</a:t>
            </a:r>
          </a:p>
        </p:txBody>
      </p:sp>
      <p:sp>
        <p:nvSpPr>
          <p:cNvPr id="15" name="TextBox 14"/>
          <p:cNvSpPr txBox="1"/>
          <p:nvPr/>
        </p:nvSpPr>
        <p:spPr>
          <a:xfrm>
            <a:off x="932688" y="4343400"/>
            <a:ext cx="2023795" cy="548640"/>
          </a:xfrm>
          <a:prstGeom prst="rect">
            <a:avLst/>
          </a:prstGeom>
          <a:noFill/>
        </p:spPr>
        <p:txBody>
          <a:bodyPr wrap="square" anchor="t" lIns="0" rIns="0" tIns="0" bIns="0">
            <a:spAutoFit/>
          </a:bodyPr>
          <a:lstStyle/>
          <a:p>
            <a:pPr algn="l">
              <a:lnSpc>
                <a:spcPct val="112000"/>
              </a:lnSpc>
              <a:spcBef>
                <a:spcPts val="0"/>
              </a:spcBef>
              <a:spcAft>
                <a:spcPts val="300"/>
              </a:spcAft>
            </a:pPr>
            <a:r>
              <a:rPr sz="800" b="1" i="0">
                <a:solidFill>
                  <a:srgbClr val="8A7B6B"/>
                </a:solidFill>
                <a:latin typeface="Arial"/>
              </a:rPr>
              <a:t>Months 1-2 · Target: no order above 20% without approval</a:t>
            </a:r>
          </a:p>
        </p:txBody>
      </p:sp>
      <p:sp>
        <p:nvSpPr>
          <p:cNvPr id="16" name="Chevron 15"/>
          <p:cNvSpPr/>
          <p:nvPr/>
        </p:nvSpPr>
        <p:spPr>
          <a:xfrm>
            <a:off x="3358819" y="2057400"/>
            <a:ext cx="2682163" cy="3154680"/>
          </a:xfrm>
          <a:prstGeom prst="chevron">
            <a:avLst/>
          </a:prstGeom>
          <a:solidFill>
            <a:srgbClr val="EFEEE8"/>
          </a:solidFill>
          <a:ln>
            <a:noFill/>
          </a:ln>
          <a:effectLst/>
        </p:spPr>
        <p:txBody>
          <a:bodyPr rtlCol="0" anchor="ctr"/>
          <a:lstStyle/>
          <a:p/>
        </p:txBody>
      </p:sp>
      <p:sp>
        <p:nvSpPr>
          <p:cNvPr id="17" name="TextBox 16"/>
          <p:cNvSpPr txBox="1"/>
          <p:nvPr/>
        </p:nvSpPr>
        <p:spPr>
          <a:xfrm>
            <a:off x="3724579" y="2359152"/>
            <a:ext cx="2060371" cy="292608"/>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322014"/>
                </a:solidFill>
                <a:latin typeface="Georgia"/>
              </a:rPr>
              <a:t>2  Territory restructuring</a:t>
            </a:r>
          </a:p>
        </p:txBody>
      </p:sp>
      <p:sp>
        <p:nvSpPr>
          <p:cNvPr id="18" name="TextBox 17"/>
          <p:cNvSpPr txBox="1"/>
          <p:nvPr/>
        </p:nvSpPr>
        <p:spPr>
          <a:xfrm>
            <a:off x="3724579" y="2743200"/>
            <a:ext cx="2023795" cy="1554480"/>
          </a:xfrm>
          <a:prstGeom prst="rect">
            <a:avLst/>
          </a:prstGeom>
          <a:noFill/>
        </p:spPr>
        <p:txBody>
          <a:bodyPr wrap="square" anchor="t" lIns="0" rIns="0" tIns="0" bIns="0">
            <a:spAutoFit/>
          </a:bodyPr>
          <a:lstStyle/>
          <a:p>
            <a:pPr algn="l">
              <a:lnSpc>
                <a:spcPct val="112000"/>
              </a:lnSpc>
              <a:spcBef>
                <a:spcPts val="0"/>
              </a:spcBef>
              <a:spcAft>
                <a:spcPts val="300"/>
              </a:spcAft>
            </a:pPr>
            <a:r>
              <a:rPr sz="900" b="0" i="0">
                <a:solidFill>
                  <a:srgbClr val="322014"/>
                </a:solidFill>
                <a:latin typeface="Arial"/>
              </a:rPr>
              <a:t>Move Turkey and Nigeria to local master distributors and bonded third-party logistics, ending cross-border air freight.</a:t>
            </a:r>
          </a:p>
        </p:txBody>
      </p:sp>
      <p:sp>
        <p:nvSpPr>
          <p:cNvPr id="19" name="TextBox 18"/>
          <p:cNvSpPr txBox="1"/>
          <p:nvPr/>
        </p:nvSpPr>
        <p:spPr>
          <a:xfrm>
            <a:off x="3724579" y="4343400"/>
            <a:ext cx="2023795" cy="548640"/>
          </a:xfrm>
          <a:prstGeom prst="rect">
            <a:avLst/>
          </a:prstGeom>
          <a:noFill/>
        </p:spPr>
        <p:txBody>
          <a:bodyPr wrap="square" anchor="t" lIns="0" rIns="0" tIns="0" bIns="0">
            <a:spAutoFit/>
          </a:bodyPr>
          <a:lstStyle/>
          <a:p>
            <a:pPr algn="l">
              <a:lnSpc>
                <a:spcPct val="112000"/>
              </a:lnSpc>
              <a:spcBef>
                <a:spcPts val="0"/>
              </a:spcBef>
              <a:spcAft>
                <a:spcPts val="300"/>
              </a:spcAft>
            </a:pPr>
            <a:r>
              <a:rPr sz="800" b="1" i="0">
                <a:solidFill>
                  <a:srgbClr val="8A7B6B"/>
                </a:solidFill>
                <a:latin typeface="Arial"/>
              </a:rPr>
              <a:t>Months 3-4 · Target: regional loss cut 70%</a:t>
            </a:r>
          </a:p>
        </p:txBody>
      </p:sp>
      <p:sp>
        <p:nvSpPr>
          <p:cNvPr id="20" name="Chevron 19"/>
          <p:cNvSpPr/>
          <p:nvPr/>
        </p:nvSpPr>
        <p:spPr>
          <a:xfrm>
            <a:off x="6150711" y="2057400"/>
            <a:ext cx="2682163" cy="3154680"/>
          </a:xfrm>
          <a:prstGeom prst="chevron">
            <a:avLst/>
          </a:prstGeom>
          <a:solidFill>
            <a:srgbClr val="EFEEE8"/>
          </a:solidFill>
          <a:ln>
            <a:noFill/>
          </a:ln>
          <a:effectLst/>
        </p:spPr>
        <p:txBody>
          <a:bodyPr rtlCol="0" anchor="ctr"/>
          <a:lstStyle/>
          <a:p/>
        </p:txBody>
      </p:sp>
      <p:sp>
        <p:nvSpPr>
          <p:cNvPr id="21" name="TextBox 20"/>
          <p:cNvSpPr txBox="1"/>
          <p:nvPr/>
        </p:nvSpPr>
        <p:spPr>
          <a:xfrm>
            <a:off x="6516471" y="2359152"/>
            <a:ext cx="2060371" cy="292608"/>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322014"/>
                </a:solidFill>
                <a:latin typeface="Georgia"/>
              </a:rPr>
              <a:t>3  Freight and Tables repricing</a:t>
            </a:r>
          </a:p>
        </p:txBody>
      </p:sp>
      <p:sp>
        <p:nvSpPr>
          <p:cNvPr id="22" name="TextBox 21"/>
          <p:cNvSpPr txBox="1"/>
          <p:nvPr/>
        </p:nvSpPr>
        <p:spPr>
          <a:xfrm>
            <a:off x="6516471" y="2743200"/>
            <a:ext cx="2023795" cy="1554480"/>
          </a:xfrm>
          <a:prstGeom prst="rect">
            <a:avLst/>
          </a:prstGeom>
          <a:noFill/>
        </p:spPr>
        <p:txBody>
          <a:bodyPr wrap="square" anchor="t" lIns="0" rIns="0" tIns="0" bIns="0">
            <a:spAutoFit/>
          </a:bodyPr>
          <a:lstStyle/>
          <a:p>
            <a:pPr algn="l">
              <a:lnSpc>
                <a:spcPct val="112000"/>
              </a:lnSpc>
              <a:spcBef>
                <a:spcPts val="0"/>
              </a:spcBef>
              <a:spcAft>
                <a:spcPts val="300"/>
              </a:spcAft>
            </a:pPr>
            <a:r>
              <a:rPr sz="900" b="0" i="0">
                <a:solidFill>
                  <a:srgbClr val="322014"/>
                </a:solidFill>
                <a:latin typeface="Arial"/>
              </a:rPr>
              <a:t>Add dimensional freight surcharges on bulky lines and reprice the Tables portfolio.</a:t>
            </a:r>
          </a:p>
        </p:txBody>
      </p:sp>
      <p:sp>
        <p:nvSpPr>
          <p:cNvPr id="23" name="TextBox 22"/>
          <p:cNvSpPr txBox="1"/>
          <p:nvPr/>
        </p:nvSpPr>
        <p:spPr>
          <a:xfrm>
            <a:off x="6516471" y="4343400"/>
            <a:ext cx="2023795" cy="548640"/>
          </a:xfrm>
          <a:prstGeom prst="rect">
            <a:avLst/>
          </a:prstGeom>
          <a:noFill/>
        </p:spPr>
        <p:txBody>
          <a:bodyPr wrap="square" anchor="t" lIns="0" rIns="0" tIns="0" bIns="0">
            <a:spAutoFit/>
          </a:bodyPr>
          <a:lstStyle/>
          <a:p>
            <a:pPr algn="l">
              <a:lnSpc>
                <a:spcPct val="112000"/>
              </a:lnSpc>
              <a:spcBef>
                <a:spcPts val="0"/>
              </a:spcBef>
              <a:spcAft>
                <a:spcPts val="300"/>
              </a:spcAft>
            </a:pPr>
            <a:r>
              <a:rPr sz="800" b="1" i="0">
                <a:solidFill>
                  <a:srgbClr val="8A7B6B"/>
                </a:solidFill>
                <a:latin typeface="Arial"/>
              </a:rPr>
              <a:t>Months 5-7 · Target: Tables at break-even</a:t>
            </a:r>
          </a:p>
        </p:txBody>
      </p:sp>
      <p:sp>
        <p:nvSpPr>
          <p:cNvPr id="24" name="Chevron 23"/>
          <p:cNvSpPr/>
          <p:nvPr/>
        </p:nvSpPr>
        <p:spPr>
          <a:xfrm>
            <a:off x="8942603" y="2057400"/>
            <a:ext cx="2682163" cy="3154680"/>
          </a:xfrm>
          <a:prstGeom prst="chevron">
            <a:avLst/>
          </a:prstGeom>
          <a:solidFill>
            <a:srgbClr val="EFEEE8"/>
          </a:solidFill>
          <a:ln>
            <a:noFill/>
          </a:ln>
          <a:effectLst/>
        </p:spPr>
        <p:txBody>
          <a:bodyPr rtlCol="0" anchor="ctr"/>
          <a:lstStyle/>
          <a:p/>
        </p:txBody>
      </p:sp>
      <p:sp>
        <p:nvSpPr>
          <p:cNvPr id="25" name="TextBox 24"/>
          <p:cNvSpPr txBox="1"/>
          <p:nvPr/>
        </p:nvSpPr>
        <p:spPr>
          <a:xfrm>
            <a:off x="9308363" y="2359152"/>
            <a:ext cx="2060371" cy="292608"/>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322014"/>
                </a:solidFill>
                <a:latin typeface="Georgia"/>
              </a:rPr>
              <a:t>4  Institutional review</a:t>
            </a:r>
          </a:p>
        </p:txBody>
      </p:sp>
      <p:sp>
        <p:nvSpPr>
          <p:cNvPr id="26" name="TextBox 25"/>
          <p:cNvSpPr txBox="1"/>
          <p:nvPr/>
        </p:nvSpPr>
        <p:spPr>
          <a:xfrm>
            <a:off x="9308363" y="2743200"/>
            <a:ext cx="2023795" cy="1554480"/>
          </a:xfrm>
          <a:prstGeom prst="rect">
            <a:avLst/>
          </a:prstGeom>
          <a:noFill/>
        </p:spPr>
        <p:txBody>
          <a:bodyPr wrap="square" anchor="t" lIns="0" rIns="0" tIns="0" bIns="0">
            <a:spAutoFit/>
          </a:bodyPr>
          <a:lstStyle/>
          <a:p>
            <a:pPr algn="l">
              <a:lnSpc>
                <a:spcPct val="112000"/>
              </a:lnSpc>
              <a:spcBef>
                <a:spcPts val="0"/>
              </a:spcBef>
              <a:spcAft>
                <a:spcPts val="300"/>
              </a:spcAft>
            </a:pPr>
            <a:r>
              <a:rPr sz="900" b="0" i="0">
                <a:solidFill>
                  <a:srgbClr val="322014"/>
                </a:solidFill>
                <a:latin typeface="Arial"/>
              </a:rPr>
              <a:t>Run quarterly margin audits across all territories and stand up a permanent margin committee.</a:t>
            </a:r>
          </a:p>
        </p:txBody>
      </p:sp>
      <p:sp>
        <p:nvSpPr>
          <p:cNvPr id="27" name="TextBox 26"/>
          <p:cNvSpPr txBox="1"/>
          <p:nvPr/>
        </p:nvSpPr>
        <p:spPr>
          <a:xfrm>
            <a:off x="9308363" y="4343400"/>
            <a:ext cx="2023795" cy="548640"/>
          </a:xfrm>
          <a:prstGeom prst="rect">
            <a:avLst/>
          </a:prstGeom>
          <a:noFill/>
        </p:spPr>
        <p:txBody>
          <a:bodyPr wrap="square" anchor="t" lIns="0" rIns="0" tIns="0" bIns="0">
            <a:spAutoFit/>
          </a:bodyPr>
          <a:lstStyle/>
          <a:p>
            <a:pPr algn="l">
              <a:lnSpc>
                <a:spcPct val="112000"/>
              </a:lnSpc>
              <a:spcBef>
                <a:spcPts val="0"/>
              </a:spcBef>
              <a:spcAft>
                <a:spcPts val="300"/>
              </a:spcAft>
            </a:pPr>
            <a:r>
              <a:rPr sz="800" b="1" i="0">
                <a:solidFill>
                  <a:srgbClr val="8A7B6B"/>
                </a:solidFill>
                <a:latin typeface="Arial"/>
              </a:rPr>
              <a:t>Months 8-12 · Target: margin above 15.5%</a:t>
            </a:r>
          </a:p>
        </p:txBody>
      </p:sp>
      <p:sp>
        <p:nvSpPr>
          <p:cNvPr id="28" name="TextBox 27"/>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turnaround plan derived from the FY2011-FY2014 diagnosis. Phase 1 begins on Board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What's next</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15</a:t>
            </a:r>
          </a:p>
        </p:txBody>
      </p:sp>
      <p:sp>
        <p:nvSpPr>
          <p:cNvPr id="8" name="TextBox 7"/>
          <p:cNvSpPr txBox="1"/>
          <p:nvPr/>
        </p:nvSpPr>
        <p:spPr>
          <a:xfrm>
            <a:off x="566928" y="731520"/>
            <a:ext cx="11057839" cy="822960"/>
          </a:xfrm>
          <a:prstGeom prst="rect">
            <a:avLst/>
          </a:prstGeom>
          <a:noFill/>
        </p:spPr>
        <p:txBody>
          <a:bodyPr wrap="square" anchor="t" lIns="0" rIns="0" tIns="0" bIns="0">
            <a:spAutoFit/>
          </a:bodyPr>
          <a:lstStyle/>
          <a:p>
            <a:pPr algn="l">
              <a:lnSpc>
                <a:spcPct val="102000"/>
              </a:lnSpc>
              <a:spcBef>
                <a:spcPts val="0"/>
              </a:spcBef>
              <a:spcAft>
                <a:spcPts val="300"/>
              </a:spcAft>
            </a:pPr>
            <a:r>
              <a:rPr sz="2100" b="1" i="0">
                <a:solidFill>
                  <a:srgbClr val="322014"/>
                </a:solidFill>
                <a:latin typeface="Georgia"/>
              </a:rPr>
              <a:t>What Happens Next: $5.3M Forecast, a Near-Neutral Cap, Named Churn Risks</a:t>
            </a:r>
          </a:p>
        </p:txBody>
      </p:sp>
      <p:graphicFrame>
        <p:nvGraphicFramePr>
          <p:cNvPr id="9" name="Table 8"/>
          <p:cNvGraphicFramePr>
            <a:graphicFrameLocks noGrp="1"/>
          </p:cNvGraphicFramePr>
          <p:nvPr/>
        </p:nvGraphicFramePr>
        <p:xfrm>
          <a:off x="566928" y="1737360"/>
          <a:ext cx="11064240" cy="3803904"/>
        </p:xfrm>
        <a:graphic>
          <a:graphicData uri="http://schemas.openxmlformats.org/drawingml/2006/table">
            <a:tbl>
              <a:tblPr>
                <a:tableStyleId>{2D5ABB26-0587-4C30-8999-92F81FD0307C}</a:tableStyleId>
              </a:tblPr>
              <a:tblGrid>
                <a:gridCol w="2606040"/>
                <a:gridCol w="4160520"/>
                <a:gridCol w="2606040"/>
                <a:gridCol w="1691640"/>
              </a:tblGrid>
              <a:tr h="402336">
                <a:tc>
                  <a:txBody>
                    <a:bodyPr wrap="square"/>
                    <a:lstStyle/>
                    <a:p>
                      <a:pPr>
                        <a:lnSpc>
                          <a:spcPct val="105000"/>
                        </a:lnSpc>
                      </a:pPr>
                      <a:r>
                        <a:rPr sz="1200" b="1">
                          <a:solidFill>
                            <a:srgbClr val="322014"/>
                          </a:solidFill>
                          <a:latin typeface="Arial"/>
                        </a:rPr>
                        <a:t>What happens next</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The number</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How we know it is real</a:t>
                      </a:r>
                    </a:p>
                  </a:txBody>
                  <a:tcPr marL="91440" marR="73152" marT="45720" marB="45720" anchor="ctr">
                    <a:lnB w="19050" cap="flat" cmpd="sng" algn="ctr">
                      <a:solidFill>
                        <a:srgbClr val="322014"/>
                      </a:solidFill>
                    </a:lnB>
                    <a:solidFill>
                      <a:srgbClr val="FFFFFF"/>
                    </a:solidFill>
                  </a:tcPr>
                </a:tc>
                <a:tc>
                  <a:txBody>
                    <a:bodyPr wrap="square"/>
                    <a:lstStyle/>
                    <a:p>
                      <a:pPr>
                        <a:lnSpc>
                          <a:spcPct val="105000"/>
                        </a:lnSpc>
                      </a:pPr>
                      <a:r>
                        <a:rPr sz="1200" b="1">
                          <a:solidFill>
                            <a:srgbClr val="322014"/>
                          </a:solidFill>
                          <a:latin typeface="Arial"/>
                        </a:rPr>
                        <a:t>What it means</a:t>
                      </a:r>
                    </a:p>
                  </a:txBody>
                  <a:tcPr marL="91440" marR="73152" marT="45720" marB="45720" anchor="ctr">
                    <a:lnB w="19050" cap="flat" cmpd="sng" algn="ctr">
                      <a:solidFill>
                        <a:srgbClr val="322014"/>
                      </a:solidFill>
                    </a:lnB>
                    <a:solidFill>
                      <a:srgbClr val="FFFFFF"/>
                    </a:solidFill>
                  </a:tcPr>
                </a:tc>
              </a:tr>
              <a:tr h="1133856">
                <a:tc>
                  <a:txBody>
                    <a:bodyPr wrap="square"/>
                    <a:lstStyle/>
                    <a:p>
                      <a:pPr>
                        <a:lnSpc>
                          <a:spcPct val="105000"/>
                        </a:lnSpc>
                      </a:pPr>
                      <a:r>
                        <a:rPr sz="1400" b="1">
                          <a:solidFill>
                            <a:srgbClr val="5A3921"/>
                          </a:solidFill>
                          <a:latin typeface="Georgia"/>
                        </a:rPr>
                        <a:t>FY2015 revenue forecast</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$5.28M (+22.8% vs FY2014)</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Tested on FY2014, a year the model never saw: mean error 10%, bias -1%</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The fix needs no heroic growth</a:t>
                      </a:r>
                    </a:p>
                  </a:txBody>
                  <a:tcPr marL="91440" marR="73152" marT="45720" marB="45720" anchor="ctr">
                    <a:lnT w="9525" cap="flat" cmpd="sng" algn="ctr">
                      <a:solidFill>
                        <a:srgbClr val="E2DCD2"/>
                      </a:solidFill>
                    </a:lnT>
                    <a:solidFill>
                      <a:srgbClr val="FFFFFF"/>
                    </a:solidFill>
                  </a:tcPr>
                </a:tc>
              </a:tr>
              <a:tr h="1133856">
                <a:tc>
                  <a:txBody>
                    <a:bodyPr wrap="square"/>
                    <a:lstStyle/>
                    <a:p>
                      <a:pPr>
                        <a:lnSpc>
                          <a:spcPct val="105000"/>
                        </a:lnSpc>
                      </a:pPr>
                      <a:r>
                        <a:rPr sz="1400" b="1">
                          <a:solidFill>
                            <a:srgbClr val="5A3921"/>
                          </a:solidFill>
                          <a:latin typeface="Georgia"/>
                        </a:rPr>
                        <a:t>Volume effect of the 20% cap</a:t>
                      </a:r>
                    </a:p>
                  </a:txBody>
                  <a:tcPr marL="91440" marR="73152" marT="45720" marB="45720" anchor="ctr">
                    <a:lnR w="19050" cap="flat" cmpd="sng" algn="ctr">
                      <a:solidFill>
                        <a:srgbClr val="322014"/>
                      </a:solidFill>
                    </a:ln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101% of volume kept</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Measured from the ledger's own discount response, with product, market, and season controls</a:t>
                      </a:r>
                    </a:p>
                  </a:txBody>
                  <a:tcPr marL="91440" marR="73152" marT="45720" marB="45720" anchor="ctr">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No churn guess needed</a:t>
                      </a:r>
                    </a:p>
                  </a:txBody>
                  <a:tcPr marL="91440" marR="73152" marT="45720" marB="45720" anchor="ctr">
                    <a:lnT w="9525" cap="flat" cmpd="sng" algn="ctr">
                      <a:solidFill>
                        <a:srgbClr val="E2DCD2"/>
                      </a:solidFill>
                    </a:lnT>
                    <a:solidFill>
                      <a:srgbClr val="FFFFFF"/>
                    </a:solidFill>
                  </a:tcPr>
                </a:tc>
              </a:tr>
              <a:tr h="1133856">
                <a:tc>
                  <a:txBody>
                    <a:bodyPr wrap="square"/>
                    <a:lstStyle/>
                    <a:p>
                      <a:pPr>
                        <a:lnSpc>
                          <a:spcPct val="105000"/>
                        </a:lnSpc>
                      </a:pPr>
                      <a:r>
                        <a:rPr sz="1400" b="1">
                          <a:solidFill>
                            <a:srgbClr val="5A3921"/>
                          </a:solidFill>
                          <a:latin typeface="Georgia"/>
                        </a:rPr>
                        <a:t>Customer churn risk</a:t>
                      </a:r>
                    </a:p>
                  </a:txBody>
                  <a:tcPr marL="91440" marR="73152" marT="45720" marB="45720" anchor="ctr">
                    <a:lnR w="19050" cap="flat" cmpd="sng" algn="ctr">
                      <a:solidFill>
                        <a:srgbClr val="322014"/>
                      </a:solidFill>
                    </a:ln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Top tenth of customers lapse 2.9x the average rate</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0">
                          <a:solidFill>
                            <a:srgbClr val="322014"/>
                          </a:solidFill>
                          <a:latin typeface="Arial"/>
                        </a:rPr>
                        <a:t>Scored on pre-2014 behaviour only (AUC 0.80 on a customer holdout)</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c>
                  <a:txBody>
                    <a:bodyPr wrap="square"/>
                    <a:lstStyle/>
                    <a:p>
                      <a:pPr>
                        <a:lnSpc>
                          <a:spcPct val="105000"/>
                        </a:lnSpc>
                      </a:pPr>
                      <a:r>
                        <a:rPr sz="1100" b="1">
                          <a:solidFill>
                            <a:srgbClr val="322014"/>
                          </a:solidFill>
                          <a:latin typeface="Arial"/>
                        </a:rPr>
                        <a:t>Target retention effort first</a:t>
                      </a:r>
                    </a:p>
                  </a:txBody>
                  <a:tcPr marL="91440" marR="73152" marT="45720" marB="45720" anchor="ctr">
                    <a:lnB w="0" cap="flat" cmpd="sng" algn="ctr">
                      <a:solidFill>
                        <a:srgbClr val="FFFFFF"/>
                      </a:solidFill>
                    </a:lnB>
                    <a:lnT w="9525" cap="flat" cmpd="sng" algn="ctr">
                      <a:solidFill>
                        <a:srgbClr val="E2DCD2"/>
                      </a:solidFill>
                    </a:lnT>
                    <a:solidFill>
                      <a:srgbClr val="FFFFFF"/>
                    </a:solidFill>
                  </a:tcPr>
                </a:tc>
              </a:tr>
            </a:tbl>
          </a:graphicData>
        </a:graphic>
      </p:graphicFrame>
      <p:sp>
        <p:nvSpPr>
          <p:cNvPr id="10" name="TextBox 9"/>
          <p:cNvSpPr txBox="1"/>
          <p:nvPr/>
        </p:nvSpPr>
        <p:spPr>
          <a:xfrm>
            <a:off x="566928" y="5879592"/>
            <a:ext cx="11057839" cy="201168"/>
          </a:xfrm>
          <a:prstGeom prst="rect">
            <a:avLst/>
          </a:prstGeom>
          <a:noFill/>
        </p:spPr>
        <p:txBody>
          <a:bodyPr wrap="square" anchor="t" lIns="0" rIns="0" tIns="0" bIns="0">
            <a:spAutoFit/>
          </a:bodyPr>
          <a:lstStyle/>
          <a:p>
            <a:pPr algn="l">
              <a:lnSpc>
                <a:spcPct val="106000"/>
              </a:lnSpc>
              <a:spcBef>
                <a:spcPts val="0"/>
              </a:spcBef>
              <a:spcAft>
                <a:spcPts val="300"/>
              </a:spcAft>
            </a:pPr>
            <a:r>
              <a:rPr sz="850" b="0" i="0">
                <a:solidFill>
                  <a:srgbClr val="8A7B6B"/>
                </a:solidFill>
                <a:latin typeface="Arial"/>
              </a:rPr>
              <a:t>FY2015 assumes current trends continue. The volume response is measured from the ledger's own discount history; the churn score uses only pre-2014 behaviour, so it is a genuine prediction.</a:t>
            </a:r>
          </a:p>
        </p:txBody>
      </p:sp>
      <p:sp>
        <p:nvSpPr>
          <p:cNvPr id="11" name="TextBox 10"/>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predictive models on the FY2011-FY2014 ledger. Forecast: tested on FY2014 (mean error 10%). Demand response: controlled regression across all 51,290 lines. Churn: logistic model, AUC 0.80 on a customer holdout. Modelling estimates, not forecasts.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6634703"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 · Revival Strategy</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Board decision</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7" name="TextBox 6"/>
          <p:cNvSpPr txBox="1"/>
          <p:nvPr/>
        </p:nvSpPr>
        <p:spPr>
          <a:xfrm>
            <a:off x="10710367" y="6400800"/>
            <a:ext cx="914400" cy="219456"/>
          </a:xfrm>
          <a:prstGeom prst="rect">
            <a:avLst/>
          </a:prstGeom>
          <a:noFill/>
        </p:spPr>
        <p:txBody>
          <a:bodyPr wrap="square" anchor="t" lIns="0" rIns="0" tIns="0" bIns="0">
            <a:spAutoFit/>
          </a:bodyPr>
          <a:lstStyle/>
          <a:p>
            <a:pPr algn="r">
              <a:lnSpc>
                <a:spcPct val="106000"/>
              </a:lnSpc>
              <a:spcBef>
                <a:spcPts val="0"/>
              </a:spcBef>
              <a:spcAft>
                <a:spcPts val="300"/>
              </a:spcAft>
            </a:pPr>
            <a:r>
              <a:rPr sz="850" b="0" i="0">
                <a:solidFill>
                  <a:srgbClr val="8A7B6B"/>
                </a:solidFill>
                <a:latin typeface="Arial"/>
              </a:rPr>
              <a:t>16</a:t>
            </a:r>
          </a:p>
        </p:txBody>
      </p:sp>
      <p:sp>
        <p:nvSpPr>
          <p:cNvPr id="8" name="TextBox 7"/>
          <p:cNvSpPr txBox="1"/>
          <p:nvPr/>
        </p:nvSpPr>
        <p:spPr>
          <a:xfrm>
            <a:off x="566928" y="731520"/>
            <a:ext cx="11057839" cy="640080"/>
          </a:xfrm>
          <a:prstGeom prst="rect">
            <a:avLst/>
          </a:prstGeom>
          <a:noFill/>
        </p:spPr>
        <p:txBody>
          <a:bodyPr wrap="square" anchor="t" lIns="0" rIns="0" tIns="0" bIns="0">
            <a:spAutoFit/>
          </a:bodyPr>
          <a:lstStyle/>
          <a:p>
            <a:pPr algn="l">
              <a:lnSpc>
                <a:spcPct val="102000"/>
              </a:lnSpc>
              <a:spcBef>
                <a:spcPts val="0"/>
              </a:spcBef>
              <a:spcAft>
                <a:spcPts val="300"/>
              </a:spcAft>
            </a:pPr>
            <a:r>
              <a:rPr sz="2200" b="1" i="0">
                <a:solidFill>
                  <a:srgbClr val="322014"/>
                </a:solidFill>
                <a:latin typeface="Georgia"/>
              </a:rPr>
              <a:t>The Board must approve the 20% discount cap and 3PL restructuring this quarter</a:t>
            </a:r>
          </a:p>
        </p:txBody>
      </p:sp>
      <p:sp>
        <p:nvSpPr>
          <p:cNvPr id="9" name="TextBox 8"/>
          <p:cNvSpPr txBox="1"/>
          <p:nvPr/>
        </p:nvSpPr>
        <p:spPr>
          <a:xfrm>
            <a:off x="566928" y="1737360"/>
            <a:ext cx="6400800"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Three decisions requested</a:t>
            </a:r>
          </a:p>
        </p:txBody>
      </p:sp>
      <p:cxnSp>
        <p:nvCxnSpPr>
          <p:cNvPr id="10" name="Connector 9"/>
          <p:cNvCxnSpPr/>
          <p:nvPr/>
        </p:nvCxnSpPr>
        <p:spPr>
          <a:xfrm>
            <a:off x="566928" y="2011680"/>
            <a:ext cx="640080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6928" y="2194560"/>
            <a:ext cx="6309360" cy="2926080"/>
          </a:xfrm>
          <a:prstGeom prst="rect">
            <a:avLst/>
          </a:prstGeom>
          <a:noFill/>
        </p:spPr>
        <p:txBody>
          <a:bodyPr wrap="square" anchor="t" lIns="0" rIns="0" tIns="0" bIns="0">
            <a:spAutoFit/>
          </a:bodyPr>
          <a:lstStyle/>
          <a:p>
            <a:pPr algn="l" marL="155448" indent="-155448">
              <a:lnSpc>
                <a:spcPct val="114000"/>
              </a:lnSpc>
              <a:spcBef>
                <a:spcPts val="0"/>
              </a:spcBef>
              <a:spcAft>
                <a:spcPts val="1200"/>
              </a:spcAft>
              <a:buFont typeface="Arial"/>
              <a:buChar char="•"/>
            </a:pPr>
            <a:r>
              <a:rPr sz="1100" b="1" i="0">
                <a:solidFill>
                  <a:srgbClr val="322014"/>
                </a:solidFill>
                <a:latin typeface="Arial"/>
              </a:rPr>
              <a:t>Approve the 20% discount cap</a:t>
            </a:r>
            <a:r>
              <a:rPr sz="1100" b="0" i="0">
                <a:solidFill>
                  <a:srgbClr val="322014"/>
                </a:solidFill>
                <a:latin typeface="Arial"/>
              </a:rPr>
              <a:t> in order entry, with VP sign-off for discounts between 15% and 20% and a hard block above 20%.</a:t>
            </a:r>
          </a:p>
          <a:p>
            <a:pPr algn="l" marL="155448" indent="-155448">
              <a:lnSpc>
                <a:spcPct val="114000"/>
              </a:lnSpc>
              <a:spcBef>
                <a:spcPts val="0"/>
              </a:spcBef>
              <a:spcAft>
                <a:spcPts val="1200"/>
              </a:spcAft>
              <a:buFont typeface="Arial"/>
              <a:buChar char="•"/>
            </a:pPr>
            <a:r>
              <a:rPr sz="1100" b="1" i="0">
                <a:solidFill>
                  <a:srgbClr val="322014"/>
                </a:solidFill>
                <a:latin typeface="Arial"/>
              </a:rPr>
              <a:t>Authorise the 3PL transition</a:t>
            </a:r>
            <a:r>
              <a:rPr sz="1100" b="0" i="0">
                <a:solidFill>
                  <a:srgbClr val="322014"/>
                </a:solidFill>
                <a:latin typeface="Arial"/>
              </a:rPr>
              <a:t> for Turkey and Nigeria to remove the cross-border loss.</a:t>
            </a:r>
          </a:p>
          <a:p>
            <a:pPr algn="l" marL="155448" indent="-155448">
              <a:lnSpc>
                <a:spcPct val="114000"/>
              </a:lnSpc>
              <a:spcBef>
                <a:spcPts val="0"/>
              </a:spcBef>
              <a:spcAft>
                <a:spcPts val="300"/>
              </a:spcAft>
              <a:buFont typeface="Arial"/>
              <a:buChar char="•"/>
            </a:pPr>
            <a:r>
              <a:rPr sz="1100" b="1" i="0">
                <a:solidFill>
                  <a:srgbClr val="322014"/>
                </a:solidFill>
                <a:latin typeface="Arial"/>
              </a:rPr>
              <a:t>Charter a margin committee</a:t>
            </a:r>
            <a:r>
              <a:rPr sz="1100" b="0" i="0">
                <a:solidFill>
                  <a:srgbClr val="322014"/>
                </a:solidFill>
                <a:latin typeface="Arial"/>
              </a:rPr>
              <a:t> chaired by the CFO to review discount leakage and Tables margin every quarter.</a:t>
            </a:r>
          </a:p>
        </p:txBody>
      </p:sp>
      <p:cxnSp>
        <p:nvCxnSpPr>
          <p:cNvPr id="12" name="Connector 11"/>
          <p:cNvCxnSpPr/>
          <p:nvPr/>
        </p:nvCxnSpPr>
        <p:spPr>
          <a:xfrm>
            <a:off x="566928" y="5349240"/>
            <a:ext cx="6309360"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6928" y="5422392"/>
            <a:ext cx="6309360" cy="274320"/>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322014"/>
                </a:solidFill>
                <a:latin typeface="Arial"/>
              </a:rPr>
              <a:t>Decision today, first savings inside 90 days</a:t>
            </a:r>
          </a:p>
        </p:txBody>
      </p:sp>
      <p:sp>
        <p:nvSpPr>
          <p:cNvPr id="14" name="TextBox 13"/>
          <p:cNvSpPr txBox="1"/>
          <p:nvPr/>
        </p:nvSpPr>
        <p:spPr>
          <a:xfrm>
            <a:off x="566928" y="5760720"/>
            <a:ext cx="6309360" cy="274320"/>
          </a:xfrm>
          <a:prstGeom prst="rect">
            <a:avLst/>
          </a:prstGeom>
          <a:noFill/>
        </p:spPr>
        <p:txBody>
          <a:bodyPr wrap="square" anchor="t" lIns="0" rIns="0" tIns="0" bIns="0">
            <a:spAutoFit/>
          </a:bodyPr>
          <a:lstStyle/>
          <a:p>
            <a:pPr algn="l">
              <a:lnSpc>
                <a:spcPct val="106000"/>
              </a:lnSpc>
              <a:spcBef>
                <a:spcPts val="0"/>
              </a:spcBef>
              <a:spcAft>
                <a:spcPts val="300"/>
              </a:spcAft>
            </a:pPr>
            <a:r>
              <a:rPr sz="900" b="0" i="0">
                <a:solidFill>
                  <a:srgbClr val="322014"/>
                </a:solidFill>
                <a:latin typeface="Arial"/>
              </a:rPr>
              <a:t>Phase 1 needs no new capital and no new systems beyond an order-entry rule.</a:t>
            </a:r>
          </a:p>
        </p:txBody>
      </p:sp>
      <p:sp>
        <p:nvSpPr>
          <p:cNvPr id="15" name="TextBox 14"/>
          <p:cNvSpPr txBox="1"/>
          <p:nvPr/>
        </p:nvSpPr>
        <p:spPr>
          <a:xfrm>
            <a:off x="7287768" y="1737360"/>
            <a:ext cx="4336999" cy="274320"/>
          </a:xfrm>
          <a:prstGeom prst="rect">
            <a:avLst/>
          </a:prstGeom>
          <a:noFill/>
        </p:spPr>
        <p:txBody>
          <a:bodyPr wrap="square" anchor="t" lIns="0" rIns="0" tIns="0" bIns="0">
            <a:spAutoFit/>
          </a:bodyPr>
          <a:lstStyle/>
          <a:p>
            <a:pPr algn="l">
              <a:lnSpc>
                <a:spcPct val="106000"/>
              </a:lnSpc>
              <a:spcBef>
                <a:spcPts val="0"/>
              </a:spcBef>
              <a:spcAft>
                <a:spcPts val="300"/>
              </a:spcAft>
            </a:pPr>
            <a:r>
              <a:rPr sz="1200" b="1" i="0">
                <a:solidFill>
                  <a:srgbClr val="5A3921"/>
                </a:solidFill>
                <a:latin typeface="Georgia"/>
              </a:rPr>
              <a:t>What the Board gets in return</a:t>
            </a:r>
          </a:p>
        </p:txBody>
      </p:sp>
      <p:cxnSp>
        <p:nvCxnSpPr>
          <p:cNvPr id="16" name="Connector 15"/>
          <p:cNvCxnSpPr/>
          <p:nvPr/>
        </p:nvCxnSpPr>
        <p:spPr>
          <a:xfrm>
            <a:off x="7287768" y="2011680"/>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287768" y="2212848"/>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287768" y="2267712"/>
            <a:ext cx="4336999" cy="310896"/>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322014"/>
                </a:solidFill>
                <a:latin typeface="Arial"/>
              </a:rPr>
              <a:t>+$1.23M</a:t>
            </a:r>
          </a:p>
        </p:txBody>
      </p:sp>
      <p:sp>
        <p:nvSpPr>
          <p:cNvPr id="19" name="TextBox 18"/>
          <p:cNvSpPr txBox="1"/>
          <p:nvPr/>
        </p:nvSpPr>
        <p:spPr>
          <a:xfrm>
            <a:off x="7287768" y="2578608"/>
            <a:ext cx="4336999" cy="365760"/>
          </a:xfrm>
          <a:prstGeom prst="rect">
            <a:avLst/>
          </a:prstGeom>
          <a:noFill/>
        </p:spPr>
        <p:txBody>
          <a:bodyPr wrap="square" anchor="t" lIns="0" rIns="0" tIns="0" bIns="0">
            <a:spAutoFit/>
          </a:bodyPr>
          <a:lstStyle/>
          <a:p>
            <a:pPr algn="l">
              <a:lnSpc>
                <a:spcPct val="108000"/>
              </a:lnSpc>
              <a:spcBef>
                <a:spcPts val="0"/>
              </a:spcBef>
              <a:spcAft>
                <a:spcPts val="300"/>
              </a:spcAft>
            </a:pPr>
            <a:r>
              <a:rPr sz="900" b="0" i="0">
                <a:solidFill>
                  <a:srgbClr val="322014"/>
                </a:solidFill>
                <a:latin typeface="Arial"/>
              </a:rPr>
              <a:t>Operating profit, full-ledger basis (+84% on $1.467M)</a:t>
            </a:r>
          </a:p>
        </p:txBody>
      </p:sp>
      <p:cxnSp>
        <p:nvCxnSpPr>
          <p:cNvPr id="20" name="Connector 19"/>
          <p:cNvCxnSpPr/>
          <p:nvPr/>
        </p:nvCxnSpPr>
        <p:spPr>
          <a:xfrm>
            <a:off x="7287768" y="3538728"/>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287768" y="3593592"/>
            <a:ext cx="4336999" cy="310896"/>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322014"/>
                </a:solidFill>
                <a:latin typeface="Arial"/>
              </a:rPr>
              <a:t>19.9%</a:t>
            </a:r>
          </a:p>
        </p:txBody>
      </p:sp>
      <p:sp>
        <p:nvSpPr>
          <p:cNvPr id="22" name="TextBox 21"/>
          <p:cNvSpPr txBox="1"/>
          <p:nvPr/>
        </p:nvSpPr>
        <p:spPr>
          <a:xfrm>
            <a:off x="7287768" y="3904488"/>
            <a:ext cx="4336999" cy="365760"/>
          </a:xfrm>
          <a:prstGeom prst="rect">
            <a:avLst/>
          </a:prstGeom>
          <a:noFill/>
        </p:spPr>
        <p:txBody>
          <a:bodyPr wrap="square" anchor="t" lIns="0" rIns="0" tIns="0" bIns="0">
            <a:spAutoFit/>
          </a:bodyPr>
          <a:lstStyle/>
          <a:p>
            <a:pPr algn="l">
              <a:lnSpc>
                <a:spcPct val="108000"/>
              </a:lnSpc>
              <a:spcBef>
                <a:spcPts val="0"/>
              </a:spcBef>
              <a:spcAft>
                <a:spcPts val="300"/>
              </a:spcAft>
            </a:pPr>
            <a:r>
              <a:rPr sz="900" b="0" i="0">
                <a:solidFill>
                  <a:srgbClr val="322014"/>
                </a:solidFill>
                <a:latin typeface="Arial"/>
              </a:rPr>
              <a:t>Operating margin, from 11.6% and above the 15.5% target</a:t>
            </a:r>
          </a:p>
        </p:txBody>
      </p:sp>
      <p:cxnSp>
        <p:nvCxnSpPr>
          <p:cNvPr id="23" name="Connector 22"/>
          <p:cNvCxnSpPr/>
          <p:nvPr/>
        </p:nvCxnSpPr>
        <p:spPr>
          <a:xfrm>
            <a:off x="7287768" y="4864608"/>
            <a:ext cx="4336999" cy="0"/>
          </a:xfrm>
          <a:prstGeom prst="line">
            <a:avLst/>
          </a:prstGeom>
          <a:ln w="19050">
            <a:solidFill>
              <a:srgbClr val="322014"/>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287768" y="4919472"/>
            <a:ext cx="4336999" cy="310896"/>
          </a:xfrm>
          <a:prstGeom prst="rect">
            <a:avLst/>
          </a:prstGeom>
          <a:noFill/>
        </p:spPr>
        <p:txBody>
          <a:bodyPr wrap="square" anchor="t" lIns="0" rIns="0" tIns="0" bIns="0">
            <a:spAutoFit/>
          </a:bodyPr>
          <a:lstStyle/>
          <a:p>
            <a:pPr algn="l">
              <a:lnSpc>
                <a:spcPct val="106000"/>
              </a:lnSpc>
              <a:spcBef>
                <a:spcPts val="0"/>
              </a:spcBef>
              <a:spcAft>
                <a:spcPts val="300"/>
              </a:spcAft>
            </a:pPr>
            <a:r>
              <a:rPr sz="1500" b="1" i="0">
                <a:solidFill>
                  <a:srgbClr val="322014"/>
                </a:solidFill>
                <a:latin typeface="Arial"/>
              </a:rPr>
              <a:t>$0</a:t>
            </a:r>
          </a:p>
        </p:txBody>
      </p:sp>
      <p:sp>
        <p:nvSpPr>
          <p:cNvPr id="25" name="TextBox 24"/>
          <p:cNvSpPr txBox="1"/>
          <p:nvPr/>
        </p:nvSpPr>
        <p:spPr>
          <a:xfrm>
            <a:off x="7287768" y="5230368"/>
            <a:ext cx="4336999" cy="365760"/>
          </a:xfrm>
          <a:prstGeom prst="rect">
            <a:avLst/>
          </a:prstGeom>
          <a:noFill/>
        </p:spPr>
        <p:txBody>
          <a:bodyPr wrap="square" anchor="t" lIns="0" rIns="0" tIns="0" bIns="0">
            <a:spAutoFit/>
          </a:bodyPr>
          <a:lstStyle/>
          <a:p>
            <a:pPr algn="l">
              <a:lnSpc>
                <a:spcPct val="108000"/>
              </a:lnSpc>
              <a:spcBef>
                <a:spcPts val="0"/>
              </a:spcBef>
              <a:spcAft>
                <a:spcPts val="300"/>
              </a:spcAft>
            </a:pPr>
            <a:r>
              <a:rPr sz="900" b="0" i="0">
                <a:solidFill>
                  <a:srgbClr val="322014"/>
                </a:solidFill>
                <a:latin typeface="Arial"/>
              </a:rPr>
              <a:t>New capital spend required; Phase 1 is an order-entry rule</a:t>
            </a:r>
          </a:p>
        </p:txBody>
      </p:sp>
      <p:sp>
        <p:nvSpPr>
          <p:cNvPr id="26" name="TextBox 25"/>
          <p:cNvSpPr txBox="1"/>
          <p:nvPr/>
        </p:nvSpPr>
        <p:spPr>
          <a:xfrm>
            <a:off x="566928" y="6099048"/>
            <a:ext cx="11057839" cy="237744"/>
          </a:xfrm>
          <a:prstGeom prst="rect">
            <a:avLst/>
          </a:prstGeom>
          <a:noFill/>
        </p:spPr>
        <p:txBody>
          <a:bodyPr wrap="square" anchor="t" lIns="0" rIns="0" tIns="0" bIns="0">
            <a:spAutoFit/>
          </a:bodyPr>
          <a:lstStyle/>
          <a:p>
            <a:pPr algn="l">
              <a:lnSpc>
                <a:spcPct val="105000"/>
              </a:lnSpc>
              <a:spcBef>
                <a:spcPts val="0"/>
              </a:spcBef>
              <a:spcAft>
                <a:spcPts val="300"/>
              </a:spcAft>
            </a:pPr>
            <a:r>
              <a:rPr sz="750" b="0" i="0">
                <a:solidFill>
                  <a:srgbClr val="8A7B6B"/>
                </a:solidFill>
                <a:latin typeface="Arial"/>
              </a:rPr>
              <a:t>Source: base-case simulation on the FY2011-FY2014 ledger. Returns are on the four-year ledger basis and depend on the 5% churn assumption holding. Modelling estimate, not a forecast.</a:t>
            </a:r>
          </a:p>
        </p:txBody>
      </p:sp>
      <p:pic>
        <p:nvPicPr>
          <p:cNvPr id="27" name="Picture 26" descr="gavel_check.png"/>
          <p:cNvPicPr>
            <a:picLocks noChangeAspect="1"/>
          </p:cNvPicPr>
          <p:nvPr/>
        </p:nvPicPr>
        <p:blipFill>
          <a:blip r:embed="rId2"/>
          <a:stretch>
            <a:fillRect/>
          </a:stretch>
        </p:blipFill>
        <p:spPr>
          <a:xfrm>
            <a:off x="4069080" y="3639312"/>
            <a:ext cx="2743200" cy="148132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 name="Sea Background Photo" descr="sea_bg.jpg"/>
          <p:cNvPicPr>
            <a:picLocks noChangeAspect="1"/>
          </p:cNvPicPr>
          <p:nvPr/>
        </p:nvPicPr>
        <p:blipFill>
          <a:blip r:embed="rId3"/>
          <a:stretch>
            <a:fillRect/>
          </a:stretch>
        </p:blipFill>
        <p:spPr>
          <a:xfrm>
            <a:off x="0" y="0"/>
            <a:ext cx="12191695" cy="6858000"/>
          </a:xfrm>
          <a:prstGeom prst="rect">
            <a:avLst/>
          </a:prstGeom>
        </p:spPr>
      </p:pic>
      <p:sp>
        <p:nvSpPr>
          <p:cNvPr id="2" name="TextBox 1"/>
          <p:cNvSpPr txBox="1"/>
          <p:nvPr/>
        </p:nvSpPr>
        <p:spPr>
          <a:xfrm>
            <a:off x="566928" y="310896"/>
            <a:ext cx="5486400" cy="310896"/>
          </a:xfrm>
          <a:prstGeom prst="rect">
            <a:avLst/>
          </a:prstGeom>
          <a:noFill/>
        </p:spPr>
        <p:txBody>
          <a:bodyPr wrap="square" anchor="t" lIns="0" rIns="0" tIns="0" bIns="0">
            <a:spAutoFit/>
          </a:bodyPr>
          <a:lstStyle/>
          <a:p>
            <a:pPr algn="l">
              <a:lnSpc>
                <a:spcPct val="106000"/>
              </a:lnSpc>
              <a:spcBef>
                <a:spcPts val="0"/>
              </a:spcBef>
              <a:spcAft>
                <a:spcPts val="300"/>
              </a:spcAft>
            </a:pPr>
            <a:r>
              <a:rPr sz="1800" b="1" i="0">
                <a:solidFill>
                  <a:srgbClr val="322014"/>
                </a:solidFill>
                <a:latin typeface="Georgia"/>
              </a:rPr>
              <a:t>Global Superstore</a:t>
            </a:r>
          </a:p>
        </p:txBody>
      </p:sp>
      <p:sp>
        <p:nvSpPr>
          <p:cNvPr id="3" name="TextBox 2"/>
          <p:cNvSpPr txBox="1"/>
          <p:nvPr/>
        </p:nvSpPr>
        <p:spPr>
          <a:xfrm>
            <a:off x="7784287" y="429768"/>
            <a:ext cx="3840480" cy="219456"/>
          </a:xfrm>
          <a:prstGeom prst="rect">
            <a:avLst/>
          </a:prstGeom>
          <a:noFill/>
        </p:spPr>
        <p:txBody>
          <a:bodyPr wrap="square" anchor="t" lIns="0" rIns="0" tIns="0" bIns="0">
            <a:spAutoFit/>
          </a:bodyPr>
          <a:lstStyle/>
          <a:p>
            <a:pPr algn="r">
              <a:lnSpc>
                <a:spcPct val="106000"/>
              </a:lnSpc>
              <a:spcBef>
                <a:spcPts val="0"/>
              </a:spcBef>
              <a:spcAft>
                <a:spcPts val="300"/>
              </a:spcAft>
            </a:pPr>
            <a:r>
              <a:rPr sz="750" b="1" i="0">
                <a:solidFill>
                  <a:srgbClr val="8A7B6B"/>
                </a:solidFill>
                <a:latin typeface="Arial"/>
              </a:rPr>
              <a:t>Revival Strategy</a:t>
            </a:r>
          </a:p>
        </p:txBody>
      </p:sp>
      <p:cxnSp>
        <p:nvCxnSpPr>
          <p:cNvPr id="4" name="Connector 3"/>
          <p:cNvCxnSpPr/>
          <p:nvPr/>
        </p:nvCxnSpPr>
        <p:spPr>
          <a:xfrm>
            <a:off x="566928" y="658368"/>
            <a:ext cx="11057839" cy="0"/>
          </a:xfrm>
          <a:prstGeom prst="line">
            <a:avLst/>
          </a:prstGeom>
          <a:ln w="12700">
            <a:solidFill>
              <a:srgbClr val="32201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2560320"/>
            <a:ext cx="9399163" cy="1097280"/>
          </a:xfrm>
          <a:prstGeom prst="rect">
            <a:avLst/>
          </a:prstGeom>
          <a:noFill/>
        </p:spPr>
        <p:txBody>
          <a:bodyPr wrap="square" anchor="t" lIns="0" rIns="0" tIns="0" bIns="0">
            <a:spAutoFit/>
          </a:bodyPr>
          <a:lstStyle/>
          <a:p>
            <a:pPr algn="ctr">
              <a:lnSpc>
                <a:spcPct val="120000"/>
              </a:lnSpc>
              <a:spcBef>
                <a:spcPts val="0"/>
              </a:spcBef>
              <a:spcAft>
                <a:spcPts val="300"/>
              </a:spcAft>
            </a:pPr>
            <a:r>
              <a:rPr sz="2000" b="1" i="0">
                <a:solidFill>
                  <a:srgbClr val="322014"/>
                </a:solidFill>
                <a:latin typeface="Georgia"/>
              </a:rPr>
              <a:t>“Beware of little expenses; a small leak will sink a great ship.”</a:t>
            </a:r>
          </a:p>
        </p:txBody>
      </p:sp>
      <p:sp>
        <p:nvSpPr>
          <p:cNvPr id="6" name="TextBox 5"/>
          <p:cNvSpPr txBox="1"/>
          <p:nvPr/>
        </p:nvSpPr>
        <p:spPr>
          <a:xfrm>
            <a:off x="566928" y="3840480"/>
            <a:ext cx="9399163" cy="365760"/>
          </a:xfrm>
          <a:prstGeom prst="rect">
            <a:avLst/>
          </a:prstGeom>
          <a:noFill/>
        </p:spPr>
        <p:txBody>
          <a:bodyPr wrap="square" anchor="t" lIns="0" rIns="0" tIns="0" bIns="0">
            <a:spAutoFit/>
          </a:bodyPr>
          <a:lstStyle/>
          <a:p>
            <a:pPr algn="ctr">
              <a:lnSpc>
                <a:spcPct val="106000"/>
              </a:lnSpc>
              <a:spcBef>
                <a:spcPts val="0"/>
              </a:spcBef>
              <a:spcAft>
                <a:spcPts val="300"/>
              </a:spcAft>
            </a:pPr>
            <a:r>
              <a:rPr sz="1400" b="1" i="0">
                <a:solidFill>
                  <a:srgbClr val="8A7B6B"/>
                </a:solidFill>
                <a:latin typeface="Georgia"/>
              </a:rPr>
              <a:t>Benjamin Franklin</a:t>
            </a:r>
          </a:p>
        </p:txBody>
      </p:sp>
      <p:sp>
        <p:nvSpPr>
          <p:cNvPr id="7" name="TextBox 6"/>
          <p:cNvSpPr txBox="1"/>
          <p:nvPr/>
        </p:nvSpPr>
        <p:spPr>
          <a:xfrm>
            <a:off x="566928" y="4389120"/>
            <a:ext cx="9399163" cy="365760"/>
          </a:xfrm>
          <a:prstGeom prst="rect">
            <a:avLst/>
          </a:prstGeom>
          <a:noFill/>
        </p:spPr>
        <p:txBody>
          <a:bodyPr wrap="square" anchor="t" lIns="0" rIns="0" tIns="0" bIns="0">
            <a:spAutoFit/>
          </a:bodyPr>
          <a:lstStyle/>
          <a:p>
            <a:pPr algn="ctr">
              <a:lnSpc>
                <a:spcPct val="106000"/>
              </a:lnSpc>
              <a:spcBef>
                <a:spcPts val="0"/>
              </a:spcBef>
              <a:spcAft>
                <a:spcPts val="300"/>
              </a:spcAft>
            </a:pPr>
            <a:r>
              <a:rPr sz="1500" b="1" i="0">
                <a:solidFill>
                  <a:srgbClr val="5A3921"/>
                </a:solidFill>
                <a:latin typeface="Georgia"/>
              </a:rPr>
              <a:t>Prepared for the Board of Directors</a:t>
            </a:r>
          </a:p>
        </p:txBody>
      </p:sp>
      <p:cxnSp>
        <p:nvCxnSpPr>
          <p:cNvPr id="8" name="Connector 7"/>
          <p:cNvCxnSpPr/>
          <p:nvPr/>
        </p:nvCxnSpPr>
        <p:spPr>
          <a:xfrm>
            <a:off x="566928" y="6355080"/>
            <a:ext cx="11057839" cy="0"/>
          </a:xfrm>
          <a:prstGeom prst="line">
            <a:avLst/>
          </a:prstGeom>
          <a:ln w="9525">
            <a:solidFill>
              <a:srgbClr val="C5A68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00800"/>
            <a:ext cx="7740487" cy="219456"/>
          </a:xfrm>
          <a:prstGeom prst="rect">
            <a:avLst/>
          </a:prstGeom>
          <a:noFill/>
        </p:spPr>
        <p:txBody>
          <a:bodyPr wrap="square" anchor="t" lIns="0" rIns="0" tIns="0" bIns="0">
            <a:spAutoFit/>
          </a:bodyPr>
          <a:lstStyle/>
          <a:p>
            <a:pPr algn="l">
              <a:lnSpc>
                <a:spcPct val="106000"/>
              </a:lnSpc>
              <a:spcBef>
                <a:spcPts val="0"/>
              </a:spcBef>
              <a:spcAft>
                <a:spcPts val="300"/>
              </a:spcAft>
            </a:pPr>
            <a:r>
              <a:rPr sz="850" b="1" i="0">
                <a:solidFill>
                  <a:srgbClr val="322014"/>
                </a:solidFill>
                <a:latin typeface="Arial"/>
              </a:rPr>
              <a:t>Global Superstore · Revival Strategy</a:t>
            </a:r>
          </a:p>
        </p:txBody>
      </p:sp>
      <p:sp>
        <p:nvSpPr>
          <p:cNvPr id="10" name="TextBox 9"/>
          <p:cNvSpPr txBox="1"/>
          <p:nvPr/>
        </p:nvSpPr>
        <p:spPr>
          <a:xfrm>
            <a:off x="566928" y="5623560"/>
            <a:ext cx="11057839" cy="274320"/>
          </a:xfrm>
          <a:prstGeom prst="rect">
            <a:avLst/>
          </a:prstGeom>
          <a:noFill/>
        </p:spPr>
        <p:txBody>
          <a:bodyPr wrap="square" anchor="t" lIns="0" rIns="0" tIns="0" bIns="0">
            <a:spAutoFit/>
          </a:bodyPr>
          <a:lstStyle/>
          <a:p>
            <a:pPr algn="l">
              <a:lnSpc>
                <a:spcPct val="106000"/>
              </a:lnSpc>
              <a:spcBef>
                <a:spcPts val="0"/>
              </a:spcBef>
              <a:spcAft>
                <a:spcPts val="300"/>
              </a:spcAft>
            </a:pPr>
            <a:r>
              <a:rPr sz="800" b="0" i="0">
                <a:solidFill>
                  <a:srgbClr val="8A7B6B"/>
                </a:solidFill>
                <a:latin typeface="Arial"/>
              </a:rPr>
              <a:t>Source data: Global Superstore transaction ledger, FY2011-FY2014 (51,290 order lines). Deck produced with consulting-pptx-skill (github.com/carnot-tech/consulting-pptx-skill).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