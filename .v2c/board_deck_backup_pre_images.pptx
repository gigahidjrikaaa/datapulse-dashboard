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sales ($M)</c:v>
                </c:pt>
              </c:strCache>
            </c:strRef>
          </c:tx>
          <c:spPr>
            <a:solidFill>
              <a:srgbClr val="5A3921"/>
            </a:solidFill>
          </c:spPr>
          <c:cat>
            <c:strRef>
              <c:f>Sheet1!$A$2:$A$5</c:f>
              <c:strCache>
                <c:ptCount val="4"/>
                <c:pt idx="0">
                  <c:v>FY2011</c:v>
                </c:pt>
                <c:pt idx="1">
                  <c:v>FY2012</c:v>
                </c:pt>
                <c:pt idx="2">
                  <c:v>FY2013</c:v>
                </c:pt>
                <c:pt idx="3">
                  <c:v>FY2014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2.26</c:v>
                </c:pt>
                <c:pt idx="1">
                  <c:v>2.68</c:v>
                </c:pt>
                <c:pt idx="2">
                  <c:v>3.41</c:v>
                </c:pt>
                <c:pt idx="3">
                  <c:v>4.3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profit ($M)</c:v>
                </c:pt>
              </c:strCache>
            </c:strRef>
          </c:tx>
          <c:spPr>
            <a:solidFill>
              <a:srgbClr val="5A3921"/>
            </a:solidFill>
          </c:spPr>
          <c:dLbls>
            <c:numFmt formatCode="$0.00&quot;M&quot;" sourceLinked="0"/>
            <c:txPr>
              <a:bodyPr/>
              <a:lstStyle/>
              <a:p>
                <a:pPr>
                  <a:defRPr sz="800" b="1">
                    <a:solidFill>
                      <a:srgbClr val="322014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FY2011</c:v>
                </c:pt>
                <c:pt idx="1">
                  <c:v>FY2012</c:v>
                </c:pt>
                <c:pt idx="2">
                  <c:v>FY2013</c:v>
                </c:pt>
                <c:pt idx="3">
                  <c:v>FY2014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0.25</c:v>
                </c:pt>
                <c:pt idx="1">
                  <c:v>0.31</c:v>
                </c:pt>
                <c:pt idx="2">
                  <c:v>0.41</c:v>
                </c:pt>
                <c:pt idx="3">
                  <c:v>0.5</c:v>
                </c:pt>
              </c:numCache>
            </c:numRef>
          </c:val>
        </c:ser>
        <c:dLbls>
          <c:numFmt formatCode="$0.00&quot;M&quot;" sourceLinked="0"/>
          <c:txPr>
            <a:bodyPr/>
            <a:lstStyle/>
            <a:p>
              <a:pPr>
                <a:defRPr sz="1100" b="1">
                  <a:solidFill>
                    <a:srgbClr val="322014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12700">
            <a:solidFill>
              <a:srgbClr val="322014"/>
            </a:solidFill>
          </a:ln>
        </c:spPr>
        <c:txPr>
          <a:bodyPr/>
          <a:lstStyle/>
          <a:p>
            <a:pPr>
              <a:defRPr sz="1000">
                <a:solidFill>
                  <a:srgbClr val="322014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2DC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A7B6B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E2DCD2"/>
            </a:solidFill>
          </c:spPr>
          <c:cat>
            <c:strRef>
              <c:f>Sheet1!$A$2:$A$5</c:f>
              <c:strCache>
                <c:ptCount val="4"/>
                <c:pt idx="0">
                  <c:v>FY2011</c:v>
                </c:pt>
                <c:pt idx="1">
                  <c:v>FY2012</c:v>
                </c:pt>
                <c:pt idx="2">
                  <c:v>FY2013</c:v>
                </c:pt>
                <c:pt idx="3">
                  <c:v>FY2014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2.26</c:v>
                </c:pt>
                <c:pt idx="1">
                  <c:v>2.68</c:v>
                </c:pt>
                <c:pt idx="2">
                  <c:v>3.41</c:v>
                </c:pt>
                <c:pt idx="3">
                  <c:v>4.3</c:v>
                </c:pt>
              </c:numCache>
            </c:numRef>
          </c:val>
        </c:ser>
        <c:dLbls>
          <c:numFmt formatCode="$0.00&quot;M&quot;" sourceLinked="0"/>
          <c:txPr>
            <a:bodyPr/>
            <a:lstStyle/>
            <a:p>
              <a:pPr>
                <a:defRPr sz="900" b="1">
                  <a:solidFill>
                    <a:srgbClr val="322014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12700">
            <a:solidFill>
              <a:srgbClr val="322014"/>
            </a:solidFill>
          </a:ln>
        </c:spPr>
        <c:txPr>
          <a:bodyPr/>
          <a:lstStyle/>
          <a:p>
            <a:pPr>
              <a:defRPr sz="900">
                <a:solidFill>
                  <a:srgbClr val="322014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2DC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A7B6B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ln w="31750">
              <a:solidFill>
                <a:srgbClr val="5A3921"/>
              </a:solidFill>
            </a:ln>
          </c:spPr>
          <c:cat>
            <c:strRef>
              <c:f>Sheet1!$A$2:$A$5</c:f>
              <c:strCache>
                <c:ptCount val="4"/>
                <c:pt idx="0">
                  <c:v>FY2011</c:v>
                </c:pt>
                <c:pt idx="1">
                  <c:v>FY2012</c:v>
                </c:pt>
                <c:pt idx="2">
                  <c:v>FY2013</c:v>
                </c:pt>
                <c:pt idx="3">
                  <c:v>FY2014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11.0</c:v>
                </c:pt>
                <c:pt idx="1">
                  <c:v>11.5</c:v>
                </c:pt>
                <c:pt idx="2">
                  <c:v>11.9</c:v>
                </c:pt>
                <c:pt idx="3">
                  <c:v>11.7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sz="1000" b="1">
                  <a:solidFill>
                    <a:srgbClr val="322014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12700">
            <a:solidFill>
              <a:srgbClr val="322014"/>
            </a:solidFill>
          </a:ln>
        </c:spPr>
        <c:txPr>
          <a:bodyPr/>
          <a:lstStyle/>
          <a:p>
            <a:pPr>
              <a:defRPr sz="900">
                <a:solidFill>
                  <a:srgbClr val="322014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E2DC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A7B6B"/>
                </a:solidFill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5A3921"/>
            </a:solidFill>
          </c:spPr>
          <c:dPt>
            <c:idx val="0"/>
            <c:spPr>
              <a:solidFill>
                <a:srgbClr val="322014"/>
              </a:solidFill>
            </c:spPr>
          </c:dPt>
          <c:dPt>
            <c:idx val="1"/>
            <c:spPr>
              <a:solidFill>
                <a:srgbClr val="A22727"/>
              </a:solidFill>
            </c:spPr>
          </c:dPt>
          <c:dPt>
            <c:idx val="2"/>
            <c:spPr>
              <a:solidFill>
                <a:srgbClr val="5A3921"/>
              </a:solidFill>
            </c:spPr>
          </c:dPt>
          <c:cat>
            <c:strRef>
              <c:f>Sheet1!$A$2:$A$4</c:f>
              <c:strCache>
                <c:ptCount val="3"/>
                <c:pt idx="0">
                  <c:v>Earned on profitable lines</c:v>
                </c:pt>
                <c:pt idx="1">
                  <c:v>Lost on loss-making lines</c:v>
                </c:pt>
                <c:pt idx="2">
                  <c:v>Reported operating profit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2.39</c:v>
                </c:pt>
                <c:pt idx="1">
                  <c:v>-0.92</c:v>
                </c:pt>
                <c:pt idx="2">
                  <c:v>1.47</c:v>
                </c:pt>
              </c:numCache>
            </c:numRef>
          </c:val>
        </c:ser>
        <c:dLbls>
          <c:numFmt formatCode="$0.00&quot;M&quot;" sourceLinked="0"/>
          <c:txPr>
            <a:bodyPr/>
            <a:lstStyle/>
            <a:p>
              <a:pPr>
                <a:defRPr sz="1100" b="1">
                  <a:solidFill>
                    <a:srgbClr val="322014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 w="12700">
            <a:solidFill>
              <a:srgbClr val="322014"/>
            </a:solidFill>
          </a:ln>
        </c:spPr>
        <c:txPr>
          <a:bodyPr/>
          <a:lstStyle/>
          <a:p>
            <a:pPr>
              <a:defRPr sz="900">
                <a:solidFill>
                  <a:srgbClr val="322014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2DC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A7B6B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A22727"/>
            </a:solidFill>
          </c:spPr>
          <c:cat>
            <c:strRef>
              <c:f>Sheet1!$A$2:$A$11</c:f>
              <c:strCache>
                <c:ptCount val="10"/>
                <c:pt idx="0">
                  <c:v>South Korea</c:v>
                </c:pt>
                <c:pt idx="1">
                  <c:v>Philippines</c:v>
                </c:pt>
                <c:pt idx="2">
                  <c:v>Sweden</c:v>
                </c:pt>
                <c:pt idx="3">
                  <c:v>Panama</c:v>
                </c:pt>
                <c:pt idx="4">
                  <c:v>Argentina</c:v>
                </c:pt>
                <c:pt idx="5">
                  <c:v>Pakistan</c:v>
                </c:pt>
                <c:pt idx="6">
                  <c:v>Honduras</c:v>
                </c:pt>
                <c:pt idx="7">
                  <c:v>Netherlands</c:v>
                </c:pt>
                <c:pt idx="8">
                  <c:v>Nigeria</c:v>
                </c:pt>
                <c:pt idx="9">
                  <c:v>Turkey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</c:v>
                </c:pt>
                <c:pt idx="1">
                  <c:v>16</c:v>
                </c:pt>
                <c:pt idx="2">
                  <c:v>18</c:v>
                </c:pt>
                <c:pt idx="3">
                  <c:v>18</c:v>
                </c:pt>
                <c:pt idx="4">
                  <c:v>19</c:v>
                </c:pt>
                <c:pt idx="5">
                  <c:v>22</c:v>
                </c:pt>
                <c:pt idx="6">
                  <c:v>29</c:v>
                </c:pt>
                <c:pt idx="7">
                  <c:v>41</c:v>
                </c:pt>
                <c:pt idx="8">
                  <c:v>81</c:v>
                </c:pt>
                <c:pt idx="9">
                  <c:v>98</c:v>
                </c:pt>
              </c:numCache>
            </c:numRef>
          </c:val>
        </c:ser>
        <c:dLbls>
          <c:numFmt formatCode="-0&quot;K&quot;" sourceLinked="0"/>
          <c:txPr>
            <a:bodyPr/>
            <a:lstStyle/>
            <a:p>
              <a:pPr>
                <a:defRPr sz="1000" b="1">
                  <a:solidFill>
                    <a:srgbClr val="322014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12700">
            <a:solidFill>
              <a:srgbClr val="322014"/>
            </a:solidFill>
          </a:ln>
        </c:spPr>
        <c:txPr>
          <a:bodyPr/>
          <a:lstStyle/>
          <a:p>
            <a:pPr>
              <a:defRPr sz="900">
                <a:solidFill>
                  <a:srgbClr val="322014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9525">
              <a:solidFill>
                <a:srgbClr val="E2DC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A7B6B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5A3921"/>
            </a:solidFill>
          </c:spPr>
          <c:dPt>
            <c:idx val="0"/>
            <c:spPr>
              <a:solidFill>
                <a:srgbClr val="5A3921"/>
              </a:solidFill>
            </c:spPr>
          </c:dPt>
          <c:dPt>
            <c:idx val="1"/>
            <c:spPr>
              <a:solidFill>
                <a:srgbClr val="5A3921"/>
              </a:solidFill>
            </c:spPr>
          </c:dPt>
          <c:dPt>
            <c:idx val="2"/>
            <c:spPr>
              <a:solidFill>
                <a:srgbClr val="5A3921"/>
              </a:solidFill>
            </c:spPr>
          </c:dPt>
          <c:dPt>
            <c:idx val="3"/>
            <c:spPr>
              <a:solidFill>
                <a:srgbClr val="5A3921"/>
              </a:solidFill>
            </c:spPr>
          </c:dPt>
          <c:dPt>
            <c:idx val="4"/>
            <c:spPr>
              <a:solidFill>
                <a:srgbClr val="5A3921"/>
              </a:solidFill>
            </c:spPr>
          </c:dPt>
          <c:dPt>
            <c:idx val="5"/>
            <c:spPr>
              <a:solidFill>
                <a:srgbClr val="5A3921"/>
              </a:solidFill>
            </c:spPr>
          </c:dPt>
          <c:dPt>
            <c:idx val="6"/>
            <c:spPr>
              <a:solidFill>
                <a:srgbClr val="5A3921"/>
              </a:solidFill>
            </c:spPr>
          </c:dPt>
          <c:dPt>
            <c:idx val="7"/>
            <c:spPr>
              <a:solidFill>
                <a:srgbClr val="5A3921"/>
              </a:solidFill>
            </c:spPr>
          </c:dPt>
          <c:dPt>
            <c:idx val="8"/>
            <c:spPr>
              <a:solidFill>
                <a:srgbClr val="5A3921"/>
              </a:solidFill>
            </c:spPr>
          </c:dPt>
          <c:dPt>
            <c:idx val="9"/>
            <c:spPr>
              <a:solidFill>
                <a:srgbClr val="5A3921"/>
              </a:solidFill>
            </c:spPr>
          </c:dPt>
          <c:dPt>
            <c:idx val="10"/>
            <c:spPr>
              <a:solidFill>
                <a:srgbClr val="5A3921"/>
              </a:solidFill>
            </c:spPr>
          </c:dPt>
          <c:dPt>
            <c:idx val="11"/>
            <c:spPr>
              <a:solidFill>
                <a:srgbClr val="5A3921"/>
              </a:solidFill>
            </c:spPr>
          </c:dPt>
          <c:dPt>
            <c:idx val="12"/>
            <c:spPr>
              <a:solidFill>
                <a:srgbClr val="5A3921"/>
              </a:solidFill>
            </c:spPr>
          </c:dPt>
          <c:dPt>
            <c:idx val="13"/>
            <c:spPr>
              <a:solidFill>
                <a:srgbClr val="5A3921"/>
              </a:solidFill>
            </c:spPr>
          </c:dPt>
          <c:dPt>
            <c:idx val="14"/>
            <c:spPr>
              <a:solidFill>
                <a:srgbClr val="5A3921"/>
              </a:solidFill>
            </c:spPr>
          </c:dPt>
          <c:dPt>
            <c:idx val="15"/>
            <c:spPr>
              <a:solidFill>
                <a:srgbClr val="5A3921"/>
              </a:solidFill>
            </c:spPr>
          </c:dPt>
          <c:dPt>
            <c:idx val="16"/>
            <c:spPr>
              <a:solidFill>
                <a:srgbClr val="A22727"/>
              </a:solidFill>
            </c:spPr>
          </c:dPt>
          <c:cat>
            <c:strRef>
              <c:f>Sheet1!$A$2:$A$18</c:f>
              <c:strCache>
                <c:ptCount val="17"/>
                <c:pt idx="0">
                  <c:v>Copiers</c:v>
                </c:pt>
                <c:pt idx="1">
                  <c:v>Phones</c:v>
                </c:pt>
                <c:pt idx="2">
                  <c:v>Bookcases</c:v>
                </c:pt>
                <c:pt idx="3">
                  <c:v>Appliances</c:v>
                </c:pt>
                <c:pt idx="4">
                  <c:v>Chairs</c:v>
                </c:pt>
                <c:pt idx="5">
                  <c:v>Accessories</c:v>
                </c:pt>
                <c:pt idx="6">
                  <c:v>Storage</c:v>
                </c:pt>
                <c:pt idx="7">
                  <c:v>Binders</c:v>
                </c:pt>
                <c:pt idx="8">
                  <c:v>Paper</c:v>
                </c:pt>
                <c:pt idx="9">
                  <c:v>Machines</c:v>
                </c:pt>
                <c:pt idx="10">
                  <c:v>Art</c:v>
                </c:pt>
                <c:pt idx="11">
                  <c:v>Furnishings</c:v>
                </c:pt>
                <c:pt idx="12">
                  <c:v>Envelopes</c:v>
                </c:pt>
                <c:pt idx="13">
                  <c:v>Supplies</c:v>
                </c:pt>
                <c:pt idx="14">
                  <c:v>Labels</c:v>
                </c:pt>
                <c:pt idx="15">
                  <c:v>Fasteners</c:v>
                </c:pt>
                <c:pt idx="16">
                  <c:v>Tables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259</c:v>
                </c:pt>
                <c:pt idx="1">
                  <c:v>217</c:v>
                </c:pt>
                <c:pt idx="2">
                  <c:v>162</c:v>
                </c:pt>
                <c:pt idx="3">
                  <c:v>142</c:v>
                </c:pt>
                <c:pt idx="4">
                  <c:v>140</c:v>
                </c:pt>
                <c:pt idx="5">
                  <c:v>130</c:v>
                </c:pt>
                <c:pt idx="6">
                  <c:v>108</c:v>
                </c:pt>
                <c:pt idx="7">
                  <c:v>72</c:v>
                </c:pt>
                <c:pt idx="8">
                  <c:v>59</c:v>
                </c:pt>
                <c:pt idx="9">
                  <c:v>59</c:v>
                </c:pt>
                <c:pt idx="10">
                  <c:v>58</c:v>
                </c:pt>
                <c:pt idx="11">
                  <c:v>47</c:v>
                </c:pt>
                <c:pt idx="12">
                  <c:v>30</c:v>
                </c:pt>
                <c:pt idx="13">
                  <c:v>23</c:v>
                </c:pt>
                <c:pt idx="14">
                  <c:v>15</c:v>
                </c:pt>
                <c:pt idx="15">
                  <c:v>12</c:v>
                </c:pt>
                <c:pt idx="16">
                  <c:v>-64</c:v>
                </c:pt>
              </c:numCache>
            </c:numRef>
          </c:val>
        </c:ser>
        <c:dLbls>
          <c:numFmt formatCode="0&quot;K&quot;" sourceLinked="0"/>
          <c:txPr>
            <a:bodyPr/>
            <a:lstStyle/>
            <a:p>
              <a:pPr>
                <a:defRPr sz="850" b="1">
                  <a:solidFill>
                    <a:srgbClr val="322014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low"/>
        <c:spPr>
          <a:ln w="12700">
            <a:solidFill>
              <a:srgbClr val="322014"/>
            </a:solidFill>
          </a:ln>
        </c:spPr>
        <c:txPr>
          <a:bodyPr/>
          <a:lstStyle/>
          <a:p>
            <a:pPr>
              <a:defRPr sz="800">
                <a:solidFill>
                  <a:srgbClr val="322014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9525">
              <a:solidFill>
                <a:srgbClr val="E2DC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A7B6B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5A3921"/>
            </a:solidFill>
          </c:spPr>
          <c:dPt>
            <c:idx val="0"/>
            <c:spPr>
              <a:solidFill>
                <a:srgbClr val="5A3921"/>
              </a:solidFill>
            </c:spPr>
          </c:dPt>
          <c:dPt>
            <c:idx val="1"/>
            <c:spPr>
              <a:solidFill>
                <a:srgbClr val="5A3921"/>
              </a:solidFill>
            </c:spPr>
          </c:dPt>
          <c:dPt>
            <c:idx val="2"/>
            <c:spPr>
              <a:solidFill>
                <a:srgbClr val="5A3921"/>
              </a:solidFill>
            </c:spPr>
          </c:dPt>
          <c:dPt>
            <c:idx val="3"/>
            <c:spPr>
              <a:solidFill>
                <a:srgbClr val="A22727"/>
              </a:solidFill>
            </c:spPr>
          </c:dPt>
          <c:dPt>
            <c:idx val="4"/>
            <c:spPr>
              <a:solidFill>
                <a:srgbClr val="A22727"/>
              </a:solidFill>
            </c:spPr>
          </c:dPt>
          <c:dPt>
            <c:idx val="5"/>
            <c:spPr>
              <a:solidFill>
                <a:srgbClr val="A22727"/>
              </a:solidFill>
            </c:spPr>
          </c:dPt>
          <c:dPt>
            <c:idx val="6"/>
            <c:spPr>
              <a:solidFill>
                <a:srgbClr val="A22727"/>
              </a:solidFill>
            </c:spPr>
          </c:dPt>
          <c:cat>
            <c:strRef>
              <c:f>Sheet1!$A$2:$A$8</c:f>
              <c:strCache>
                <c:ptCount val="7"/>
                <c:pt idx="0">
                  <c:v>0%</c:v>
                </c:pt>
                <c:pt idx="1">
                  <c:v>0.1-10%</c:v>
                </c:pt>
                <c:pt idx="2">
                  <c:v>10.1-20%</c:v>
                </c:pt>
                <c:pt idx="3">
                  <c:v>20.1-30%</c:v>
                </c:pt>
                <c:pt idx="4">
                  <c:v>30.1-40%</c:v>
                </c:pt>
                <c:pt idx="5">
                  <c:v>40.1-50%</c:v>
                </c:pt>
                <c:pt idx="6">
                  <c:v>&gt;50%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0.2532</c:v>
                </c:pt>
                <c:pt idx="1">
                  <c:v>0.1723</c:v>
                </c:pt>
                <c:pt idx="2">
                  <c:v>0.0986</c:v>
                </c:pt>
                <c:pt idx="3">
                  <c:v>-0.0553</c:v>
                </c:pt>
                <c:pt idx="4">
                  <c:v>-0.2369</c:v>
                </c:pt>
                <c:pt idx="5">
                  <c:v>-0.4526</c:v>
                </c:pt>
                <c:pt idx="6">
                  <c:v>-1.1102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000" b="1">
                  <a:solidFill>
                    <a:srgbClr val="322014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 w="12700">
            <a:solidFill>
              <a:srgbClr val="322014"/>
            </a:solidFill>
          </a:ln>
        </c:spPr>
        <c:txPr>
          <a:bodyPr/>
          <a:lstStyle/>
          <a:p>
            <a:pPr>
              <a:defRPr sz="900">
                <a:solidFill>
                  <a:srgbClr val="322014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2DC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A7B6B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5A3921"/>
            </a:solidFill>
          </c:spPr>
          <c:dPt>
            <c:idx val="0"/>
            <c:spPr>
              <a:solidFill>
                <a:srgbClr val="C5A681"/>
              </a:solidFill>
            </c:spPr>
          </c:dPt>
          <c:dPt>
            <c:idx val="1"/>
            <c:spPr>
              <a:solidFill>
                <a:srgbClr val="C5A681"/>
              </a:solidFill>
            </c:spPr>
          </c:dPt>
          <c:dPt>
            <c:idx val="2"/>
            <c:spPr>
              <a:solidFill>
                <a:srgbClr val="5A3921"/>
              </a:solidFill>
            </c:spPr>
          </c:dPt>
          <c:dPt>
            <c:idx val="3"/>
            <c:spPr>
              <a:solidFill>
                <a:srgbClr val="C5A681"/>
              </a:solidFill>
            </c:spPr>
          </c:dPt>
          <c:dPt>
            <c:idx val="4"/>
            <c:spPr>
              <a:solidFill>
                <a:srgbClr val="C5A681"/>
              </a:solidFill>
            </c:spPr>
          </c:dPt>
          <c:dPt>
            <c:idx val="5"/>
            <c:spPr>
              <a:solidFill>
                <a:srgbClr val="5A3921"/>
              </a:solidFill>
            </c:spPr>
          </c:dPt>
          <c:cat>
            <c:strRef>
              <c:f>Sheet1!$A$2:$A$7</c:f>
              <c:strCache>
                <c:ptCount val="6"/>
                <c:pt idx="0">
                  <c:v>Standard Class</c:v>
                </c:pt>
                <c:pt idx="1">
                  <c:v>Second Class</c:v>
                </c:pt>
                <c:pt idx="2">
                  <c:v>High priority</c:v>
                </c:pt>
                <c:pt idx="3">
                  <c:v>First Class</c:v>
                </c:pt>
                <c:pt idx="4">
                  <c:v>Same Day</c:v>
                </c:pt>
                <c:pt idx="5">
                  <c:v>Critical priority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0.0811</c:v>
                </c:pt>
                <c:pt idx="1">
                  <c:v>0.1224</c:v>
                </c:pt>
                <c:pt idx="2">
                  <c:v>0.1338</c:v>
                </c:pt>
                <c:pt idx="3">
                  <c:v>0.1683</c:v>
                </c:pt>
                <c:pt idx="4">
                  <c:v>0.1738</c:v>
                </c:pt>
                <c:pt idx="5">
                  <c:v>0.2381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100" b="1">
                  <a:solidFill>
                    <a:srgbClr val="322014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12700">
            <a:solidFill>
              <a:srgbClr val="322014"/>
            </a:solidFill>
          </a:ln>
        </c:spPr>
        <c:txPr>
          <a:bodyPr/>
          <a:lstStyle/>
          <a:p>
            <a:pPr>
              <a:defRPr sz="1000">
                <a:solidFill>
                  <a:srgbClr val="322014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9525">
              <a:solidFill>
                <a:srgbClr val="E2DCD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A7B6B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Board of Directors briefing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48840"/>
            <a:ext cx="9399163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322014"/>
                </a:solidFill>
                <a:latin typeface="Georgia"/>
              </a:rPr>
              <a:t>Global Superstore: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322014"/>
                </a:solidFill>
                <a:latin typeface="Georgia"/>
              </a:rPr>
              <a:t>The Revival 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767328"/>
            <a:ext cx="1143000" cy="54864"/>
          </a:xfrm>
          <a:prstGeom prst="rect">
            <a:avLst/>
          </a:prstGeom>
          <a:solidFill>
            <a:srgbClr val="5A392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3977639"/>
            <a:ext cx="93991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5A3921"/>
                </a:solidFill>
                <a:latin typeface="Georgia"/>
              </a:rPr>
              <a:t>From forensic diagnosis to a 6-12 month turnaround plan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370832"/>
            <a:ext cx="1143000" cy="54864"/>
          </a:xfrm>
          <a:prstGeom prst="rect">
            <a:avLst/>
          </a:prstGeom>
          <a:solidFill>
            <a:srgbClr val="5A392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6928" y="4572000"/>
            <a:ext cx="93991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322014"/>
                </a:solidFill>
                <a:latin typeface="Georgia"/>
              </a:rPr>
              <a:t>Syndicate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846320"/>
            <a:ext cx="46442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22014"/>
                </a:solidFill>
                <a:latin typeface="Arial"/>
              </a:rPr>
              <a:t>1. Giga Hidjrika Aura Adkhy (388)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8380" y="4846320"/>
            <a:ext cx="46442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22014"/>
                </a:solidFill>
                <a:latin typeface="Arial"/>
              </a:rPr>
              <a:t>5. Nurul Aulia Rahmawati (359)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047488"/>
            <a:ext cx="46442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22014"/>
                </a:solidFill>
                <a:latin typeface="Arial"/>
              </a:rPr>
              <a:t>2. Safia Aisyah Nur Savanah (364)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8380" y="5047488"/>
            <a:ext cx="46442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22014"/>
                </a:solidFill>
                <a:latin typeface="Arial"/>
              </a:rPr>
              <a:t>6. Cindy Monica Manurung (384)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248656"/>
            <a:ext cx="46442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22014"/>
                </a:solidFill>
                <a:latin typeface="Arial"/>
              </a:rPr>
              <a:t>3. Adiva Fitri Khalishah Cipta Raharja (377)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8380" y="5248656"/>
            <a:ext cx="46442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22014"/>
                </a:solidFill>
                <a:latin typeface="Arial"/>
              </a:rPr>
              <a:t>7. Louis Alessandro Bonaparte (356)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449824"/>
            <a:ext cx="46442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22014"/>
                </a:solidFill>
                <a:latin typeface="Arial"/>
              </a:rPr>
              <a:t>4. Azka Ghossani A. (357)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6235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A7B6B"/>
                </a:solidFill>
                <a:latin typeface="Arial"/>
              </a:rPr>
              <a:t>Analytics Taskforce for the Chief Strategy Officer · FY2011-FY2014 transaction ledger, 51,290 order lines</a:t>
            </a:r>
          </a:p>
        </p:txBody>
      </p:sp>
      <p:pic>
        <p:nvPicPr>
          <p:cNvPr id="20" name="Picture 19" descr="hero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896112"/>
            <a:ext cx="4617720" cy="22585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Executive summary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322014"/>
                </a:solidFill>
                <a:latin typeface="Georgia"/>
              </a:rPr>
              <a:t>Sales are growing; profit is leaking through discounting and freight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6400800" cy="4206240"/>
          </a:xfrm>
          <a:prstGeom prst="rect">
            <a:avLst/>
          </a:prstGeom>
          <a:solidFill>
            <a:srgbClr val="32201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86968" y="2057400"/>
            <a:ext cx="5760720" cy="3611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900" b="1" i="0">
                <a:solidFill>
                  <a:srgbClr val="C5A681"/>
                </a:solidFill>
                <a:latin typeface="Arial"/>
              </a:rPr>
              <a:t>One key message for the Board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FFFFFF"/>
                </a:solidFill>
                <a:latin typeface="Georgia"/>
              </a:rPr>
              <a:t>Global Superstore does not have a growth problem. It has a margin-leakage problem: about a quarter of all order lines sell at a loss, and the loss is concentrated in deep discounts and loss-making overseas territories. Tightening price control and fixing those territories recovers roughly </a:t>
            </a:r>
            <a:r>
              <a:rPr sz="1450" b="1" i="0">
                <a:solidFill>
                  <a:srgbClr val="FFFFFF"/>
                </a:solidFill>
                <a:latin typeface="Georgia"/>
              </a:rPr>
              <a:t>$1.23M of operating profit</a:t>
            </a:r>
            <a:r>
              <a:rPr sz="1450" b="1" i="0">
                <a:solidFill>
                  <a:srgbClr val="FFFFFF"/>
                </a:solidFill>
                <a:latin typeface="Georgia"/>
              </a:rPr>
              <a:t> without adding a single new sale.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87768" y="1691640"/>
            <a:ext cx="43369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The evidence in four numbers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87768" y="1965960"/>
            <a:ext cx="433699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287768" y="2148840"/>
            <a:ext cx="433699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287768" y="2203704"/>
            <a:ext cx="43369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322014"/>
                </a:solidFill>
                <a:latin typeface="Arial"/>
              </a:rPr>
              <a:t>$2.26M → $4.30M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7768" y="2514600"/>
            <a:ext cx="43369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22014"/>
                </a:solidFill>
                <a:latin typeface="Arial"/>
              </a:rPr>
              <a:t>Revenue over four years (+90.3%, 23.9% a year)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87768" y="3044952"/>
            <a:ext cx="433699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287768" y="3099816"/>
            <a:ext cx="43369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322014"/>
                </a:solidFill>
                <a:latin typeface="Arial"/>
              </a:rPr>
              <a:t>11.6%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7768" y="3410712"/>
            <a:ext cx="43369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22014"/>
                </a:solidFill>
                <a:latin typeface="Arial"/>
              </a:rPr>
              <a:t>Operating margin, four-year average (annual range: 11.0% to 11.9%)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287768" y="3941064"/>
            <a:ext cx="433699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287768" y="3995928"/>
            <a:ext cx="43369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A22727"/>
                </a:solidFill>
                <a:latin typeface="Arial"/>
              </a:rPr>
              <a:t>-$920,646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7768" y="4306824"/>
            <a:ext cx="43369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22014"/>
                </a:solidFill>
                <a:latin typeface="Arial"/>
              </a:rPr>
              <a:t>Profit destroyed by 12,544 loss-making lines (24.5%)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287768" y="4837176"/>
            <a:ext cx="433699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287768" y="4892040"/>
            <a:ext cx="43369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322014"/>
                </a:solidFill>
                <a:latin typeface="Arial"/>
              </a:rPr>
              <a:t>+$1.23M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7768" y="5202936"/>
            <a:ext cx="43369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22014"/>
                </a:solidFill>
                <a:latin typeface="Arial"/>
              </a:rPr>
              <a:t>Operating profit recoverable on the current ledger (+84%)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Global Superstore transaction ledger, FY2011-FY2014 (51,290 order lines). Operating profit is reported profit after cost of goods and freight. Recovery is the base-case simulation output (analytics model, this deck), about $0.31M a year on the same run-rate.</a:t>
            </a:r>
          </a:p>
        </p:txBody>
      </p:sp>
      <p:pic>
        <p:nvPicPr>
          <p:cNvPr id="26" name="Picture 25" descr="ship_le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4160520"/>
            <a:ext cx="2788920" cy="16550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Diagnosis · Growth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322014"/>
                </a:solidFill>
                <a:latin typeface="Georgia"/>
              </a:rPr>
              <a:t>Revenue grew 90% to $4.3M and operating profit more than doubled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6420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Gross sales and operating profit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1938528"/>
            <a:ext cx="6766560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44568" y="1737360"/>
            <a:ext cx="2788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A7B6B"/>
                </a:solidFill>
                <a:latin typeface="Arial"/>
              </a:rPr>
              <a:t>$ million (bars), FY2011-FY2014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66928" y="2029968"/>
          <a:ext cx="676656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Rectangle 12"/>
          <p:cNvSpPr/>
          <p:nvPr/>
        </p:nvSpPr>
        <p:spPr>
          <a:xfrm>
            <a:off x="566928" y="5897880"/>
            <a:ext cx="118872" cy="118872"/>
          </a:xfrm>
          <a:prstGeom prst="rect">
            <a:avLst/>
          </a:prstGeom>
          <a:solidFill>
            <a:srgbClr val="5A392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5870448"/>
            <a:ext cx="2468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A7B6B"/>
                </a:solidFill>
                <a:latin typeface="Arial"/>
              </a:rPr>
              <a:t>Gross sales ($M) &amp; Operating profit ($M)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5852159"/>
            <a:ext cx="40416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A7B6B"/>
                </a:solidFill>
                <a:latin typeface="Arial"/>
              </a:rPr>
              <a:t>Year-on-year growth: +18.5%, +27.2%, +26.3%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1664208"/>
            <a:ext cx="4016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Growth is genuine and volume-driven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07808" y="1938528"/>
            <a:ext cx="401695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607808" y="2148840"/>
            <a:ext cx="4016959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Revenue rose every year, from $2.26M in FY2011 to $4.30M in FY2014 (+90.3%).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Operating profit rose every year too, from $249K to $504K (+102.5%).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Order volume grew from 4,440 to 8,531 orders; average order value stayed flat at about $505.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Growth came from more customers and orders, not from raising prices.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Global Superstore transaction ledger, FY2011-FY2014. Operating profit is reported profit after cost of goods and freight.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5303520"/>
            <a:ext cx="4114800" cy="731520"/>
          </a:xfrm>
          <a:prstGeom prst="rect">
            <a:avLst/>
          </a:prstGeom>
          <a:solidFill>
            <a:srgbClr val="EFEEE8"/>
          </a:solidFill>
          <a:ln>
            <a:solidFill>
              <a:srgbClr val="C5A6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22014"/>
                </a:solidFill>
              </a:defRPr>
            </a:pPr>
            <a:r>
              <a:t>Order Volume: 4,440 → 8,531 (+92.1%)  |  Avg Order Value: ~$505 (flat, -0.9%)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Diagnosis · Margin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322014"/>
                </a:solidFill>
                <a:latin typeface="Georgia"/>
              </a:rPr>
              <a:t>Operating margin stayed near 11% while sales climbed 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6420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Gross sales and operating margin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1938528"/>
            <a:ext cx="6766560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44568" y="1737360"/>
            <a:ext cx="2788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A7B6B"/>
                </a:solidFill>
                <a:latin typeface="Arial"/>
              </a:rPr>
              <a:t>$ million (top) · margin % (bottom)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66928" y="2011680"/>
          <a:ext cx="676656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66928" y="3858768"/>
          <a:ext cx="6766560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Rectangle 13"/>
          <p:cNvSpPr/>
          <p:nvPr/>
        </p:nvSpPr>
        <p:spPr>
          <a:xfrm>
            <a:off x="566928" y="5769864"/>
            <a:ext cx="118872" cy="118872"/>
          </a:xfrm>
          <a:prstGeom prst="rect">
            <a:avLst/>
          </a:prstGeom>
          <a:solidFill>
            <a:srgbClr val="E2DCD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1520" y="5742432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322014"/>
                </a:solidFill>
                <a:latin typeface="Arial"/>
              </a:rPr>
              <a:t>Gross sales (top)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53996" y="5769864"/>
            <a:ext cx="118872" cy="118872"/>
          </a:xfrm>
          <a:prstGeom prst="rect">
            <a:avLst/>
          </a:prstGeom>
          <a:solidFill>
            <a:srgbClr val="5A392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418588" y="5742432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322014"/>
                </a:solidFill>
                <a:latin typeface="Arial"/>
              </a:rPr>
              <a:t>Operating margin (bottom)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8" y="1664208"/>
            <a:ext cx="4016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Volume was rewarded, margin was not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607808" y="1938528"/>
            <a:ext cx="401695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607808" y="2148840"/>
            <a:ext cx="4016959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Revenue compounded at 23.9% a year, but operating margin moved only from 11.0% to 11.7%.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Profit grew almost exactly in line with revenue, so every extra dollar of sales carried the same thin margin.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The company measures and pays for gross volume, so sales teams had no reason to defend price.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Margin, not revenue, is the number the Board should track from here.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Global Superstore transaction ledger, FY2011-FY2014. Operating margin = profit / gross sales.</a:t>
            </a:r>
          </a:p>
        </p:txBody>
      </p:sp>
      <p:pic>
        <p:nvPicPr>
          <p:cNvPr id="22" name="Picture 21" descr="gauge_fl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592" y="4553712"/>
            <a:ext cx="338328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Diagnosis · Profit leakage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322014"/>
                </a:solidFill>
                <a:latin typeface="Georgia"/>
              </a:rPr>
              <a:t>One in four order lines loses money and drains $921K of earned profit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6420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From earned profit to reported profit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1938528"/>
            <a:ext cx="6766560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44568" y="1737360"/>
            <a:ext cx="2788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A7B6B"/>
                </a:solidFill>
                <a:latin typeface="Arial"/>
              </a:rPr>
              <a:t>$ million, FY2011-FY2014 cumulative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66928" y="2029968"/>
          <a:ext cx="67665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Rectangle 12"/>
          <p:cNvSpPr/>
          <p:nvPr/>
        </p:nvSpPr>
        <p:spPr>
          <a:xfrm>
            <a:off x="566928" y="5833872"/>
            <a:ext cx="118872" cy="118872"/>
          </a:xfrm>
          <a:prstGeom prst="rect">
            <a:avLst/>
          </a:prstGeom>
          <a:solidFill>
            <a:srgbClr val="32201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322014"/>
                </a:solidFill>
                <a:latin typeface="Arial"/>
              </a:rPr>
              <a:t>Earned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99616" y="5833872"/>
            <a:ext cx="118872" cy="118872"/>
          </a:xfrm>
          <a:prstGeom prst="rect">
            <a:avLst/>
          </a:prstGeom>
          <a:solidFill>
            <a:srgbClr val="A2272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664208" y="5806440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322014"/>
                </a:solidFill>
                <a:latin typeface="Arial"/>
              </a:rPr>
              <a:t>Lost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95144" y="5833872"/>
            <a:ext cx="118872" cy="118872"/>
          </a:xfrm>
          <a:prstGeom prst="rect">
            <a:avLst/>
          </a:prstGeom>
          <a:solidFill>
            <a:srgbClr val="5A392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459736" y="5806440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322014"/>
                </a:solidFill>
                <a:latin typeface="Arial"/>
              </a:rPr>
              <a:t>Reported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7808" y="1664208"/>
            <a:ext cx="4016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What the bridge shows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07808" y="1938528"/>
            <a:ext cx="401695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607808" y="2148840"/>
            <a:ext cx="4016959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Profitable lines earn $2.39M before the losses; that core is strong on its own.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12,544 lines (24.5% of all lines) were priced at a loss and removed $0.92M of that profit.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Reported operating profit of $1.47M understates how profitable the healthy core really is.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The loss is a pricing and cost-to-serve outcome, not a weak market.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Global Superstore transaction ledger, FY2011-FY2014. A line is loss-making where reported profit, net of cost of goods and freight, is negative.</a:t>
            </a:r>
          </a:p>
        </p:txBody>
      </p:sp>
      <p:pic>
        <p:nvPicPr>
          <p:cNvPr id="23" name="Picture 22" descr="leaky_bu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4553712"/>
            <a:ext cx="338328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Diagnosis · Geography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322014"/>
                </a:solidFill>
                <a:latin typeface="Georgia"/>
              </a:rPr>
              <a:t>Losses concentrate in four countries, led by Turkey and Nigeria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6420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Operating profit by country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1938528"/>
            <a:ext cx="6766560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44568" y="1737360"/>
            <a:ext cx="2788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A7B6B"/>
                </a:solidFill>
                <a:latin typeface="Arial"/>
              </a:rPr>
              <a:t>$ thousand, FY2011-FY2014 cumulative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66928" y="2029968"/>
          <a:ext cx="676656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607808" y="1664208"/>
            <a:ext cx="4016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A company-policy loss, not a market loss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07808" y="1938528"/>
            <a:ext cx="401695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607808" y="2103120"/>
            <a:ext cx="4016959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050" b="0" i="0">
                <a:solidFill>
                  <a:srgbClr val="322014"/>
                </a:solidFill>
                <a:latin typeface="Arial"/>
              </a:rPr>
              <a:t>Turkey (-$98K) and Nigeria (-$81K) alone account for $179K of the deficit.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050" b="0" i="0">
                <a:solidFill>
                  <a:srgbClr val="322014"/>
                </a:solidFill>
                <a:latin typeface="Arial"/>
              </a:rPr>
              <a:t>29 of 147 countries are net-negative; the top four carry 56% of that deficit.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050" b="0" i="0">
                <a:solidFill>
                  <a:srgbClr val="322014"/>
                </a:solidFill>
                <a:latin typeface="Arial"/>
              </a:rPr>
              <a:t>Both were sold at extreme average discounts: 60% in Turkey and 70% in Nigeria.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050" b="0" i="0">
                <a:solidFill>
                  <a:srgbClr val="322014"/>
                </a:solidFill>
                <a:latin typeface="Arial"/>
              </a:rPr>
              <a:t>The EMEA market (Europe, Middle East and Africa) runs a 5.4% margin, well below 12-13% in the other markets.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050" b="0" i="0">
                <a:solidFill>
                  <a:srgbClr val="322014"/>
                </a:solidFill>
                <a:latin typeface="Arial"/>
              </a:rPr>
              <a:t>No discount or freight cost was charged back to these territories, so their losses were absorbed centrally.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Global Superstore transaction ledger, FY2011-FY2014. Discount is the order-line average; country profit is net of all lines in that country.</a:t>
            </a:r>
          </a:p>
        </p:txBody>
      </p:sp>
      <p:pic>
        <p:nvPicPr>
          <p:cNvPr id="17" name="Picture 16" descr="globe_pi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4553712"/>
            <a:ext cx="338328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Diagnosis · Product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322014"/>
                </a:solidFill>
                <a:latin typeface="Georgia"/>
              </a:rPr>
              <a:t>Tables is the only one of 17 sub-categories that loses money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6420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Operating profit by sub-category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1938528"/>
            <a:ext cx="6766560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44568" y="1737360"/>
            <a:ext cx="2788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A7B6B"/>
                </a:solidFill>
                <a:latin typeface="Arial"/>
              </a:rPr>
              <a:t>$ thousand, FY2011-FY2014 cumulative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66928" y="2029968"/>
          <a:ext cx="676656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Rectangle 12"/>
          <p:cNvSpPr/>
          <p:nvPr/>
        </p:nvSpPr>
        <p:spPr>
          <a:xfrm>
            <a:off x="566928" y="5861304"/>
            <a:ext cx="118872" cy="118872"/>
          </a:xfrm>
          <a:prstGeom prst="rect">
            <a:avLst/>
          </a:prstGeom>
          <a:solidFill>
            <a:srgbClr val="A2272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5833872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322014"/>
                </a:solidFill>
                <a:latin typeface="Arial"/>
              </a:rPr>
              <a:t>Loss-making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42516" y="5861304"/>
            <a:ext cx="118872" cy="118872"/>
          </a:xfrm>
          <a:prstGeom prst="rect">
            <a:avLst/>
          </a:prstGeom>
          <a:solidFill>
            <a:srgbClr val="5A392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007108" y="5833872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322014"/>
                </a:solidFill>
                <a:latin typeface="Arial"/>
              </a:rPr>
              <a:t>Profitable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8" y="1664208"/>
            <a:ext cx="4016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A pricing and freight problem, not demand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07808" y="1938528"/>
            <a:ext cx="401695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607808" y="2148840"/>
            <a:ext cx="4016959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Tables lost $64.1K on $757K of sales, a -8.5% margin, and is the only deficit sub-category.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It carried a 29.1% average discount plus the highest freight per unit of any line.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The rest of the portfolio is profitable: Copiers +$259K, Phones +$217K, Bookcases +$162K.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Furniture overall runs a 6.9% margin against 14.0% for Technology.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Global Superstore transaction ledger, FY2011-FY2014. All 17 sub-categories, ranked by operating profit.</a:t>
            </a:r>
          </a:p>
        </p:txBody>
      </p:sp>
      <p:pic>
        <p:nvPicPr>
          <p:cNvPr id="21" name="Picture 20" descr="table_t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4553712"/>
            <a:ext cx="338328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Diagnosis · Discounting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322014"/>
                </a:solidFill>
                <a:latin typeface="Georgia"/>
              </a:rPr>
              <a:t>Order economics invert once the discount passes 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6420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Operating margin by discount band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1938528"/>
            <a:ext cx="6766560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44568" y="1737360"/>
            <a:ext cx="2788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A7B6B"/>
                </a:solidFill>
                <a:latin typeface="Arial"/>
              </a:rPr>
              <a:t>margin %, all order lines FY2011-FY2014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66928" y="2029968"/>
          <a:ext cx="676656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3" name="Connector 12"/>
          <p:cNvCxnSpPr/>
          <p:nvPr/>
        </p:nvCxnSpPr>
        <p:spPr>
          <a:xfrm>
            <a:off x="3786922" y="1965960"/>
            <a:ext cx="0" cy="3657599"/>
          </a:xfrm>
          <a:prstGeom prst="line">
            <a:avLst/>
          </a:prstGeom>
          <a:ln w="15875">
            <a:solidFill>
              <a:srgbClr val="32201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832642" y="1755648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5A3921"/>
                </a:solidFill>
                <a:latin typeface="Arial"/>
              </a:rPr>
              <a:t>20% discount 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7808" y="1664208"/>
            <a:ext cx="4016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The 20% break-even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07808" y="1938528"/>
            <a:ext cx="401695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607808" y="2148840"/>
            <a:ext cx="4016959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Below 20% every line is profitable: margin runs from +25.3% at no discount to +9.9% at 10-20%.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Above 20% every band is loss-making, sliding from -5.5% to -111%.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11,328 lines (22.1%) were priced above the 20% line and lost $814,682 in total.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Gross margin cannot cover concessions deeper than 20%, so the cap follows from the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Global Superstore transaction ledger, FY2011-FY2014. Bands follow the discount distribution in the ledger.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852160"/>
            <a:ext cx="137160" cy="137160"/>
          </a:xfrm>
          <a:prstGeom prst="rect">
            <a:avLst/>
          </a:prstGeom>
          <a:solidFill>
            <a:srgbClr val="5A3921"/>
          </a:solidFill>
          <a:ln>
            <a:solidFill>
              <a:srgbClr val="5A39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58064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2014"/>
                </a:solidFill>
              </a:defRPr>
            </a:pPr>
            <a:r>
              <a:t>Profitable (≤20% discount)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5852160"/>
            <a:ext cx="137160" cy="137160"/>
          </a:xfrm>
          <a:prstGeom prst="rect">
            <a:avLst/>
          </a:prstGeom>
          <a:solidFill>
            <a:srgbClr val="A22727"/>
          </a:solidFill>
          <a:ln>
            <a:solidFill>
              <a:srgbClr val="A227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58064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22014"/>
                </a:solidFill>
              </a:defRPr>
            </a:pPr>
            <a:r>
              <a:t>Operating deficit (&gt;20% discount)</a:t>
            </a:r>
          </a:p>
        </p:txBody>
      </p:sp>
      <p:pic>
        <p:nvPicPr>
          <p:cNvPr id="23" name="Picture 22" descr="discount_cli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4553712"/>
            <a:ext cx="338328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Diagnosis · Cost to serve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322014"/>
                </a:solidFill>
                <a:latin typeface="Georgia"/>
              </a:rPr>
              <a:t>Expedited orders lose up to 24% of sales value to freight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6420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Freight cost as a share of sales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1938528"/>
            <a:ext cx="6766560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44568" y="1737360"/>
            <a:ext cx="2788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A7B6B"/>
                </a:solidFill>
                <a:latin typeface="Arial"/>
              </a:rPr>
              <a:t>% of invoiced sales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66928" y="2029968"/>
          <a:ext cx="676656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Rectangle 12"/>
          <p:cNvSpPr/>
          <p:nvPr/>
        </p:nvSpPr>
        <p:spPr>
          <a:xfrm>
            <a:off x="566928" y="5861304"/>
            <a:ext cx="118872" cy="118872"/>
          </a:xfrm>
          <a:prstGeom prst="rect">
            <a:avLst/>
          </a:prstGeom>
          <a:solidFill>
            <a:srgbClr val="5A392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5833872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322014"/>
                </a:solidFill>
                <a:latin typeface="Arial"/>
              </a:rPr>
              <a:t>Order priority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48256" y="5861304"/>
            <a:ext cx="118872" cy="118872"/>
          </a:xfrm>
          <a:prstGeom prst="rect">
            <a:avLst/>
          </a:prstGeom>
          <a:solidFill>
            <a:srgbClr val="C5A6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212848" y="5833872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322014"/>
                </a:solidFill>
                <a:latin typeface="Arial"/>
              </a:rPr>
              <a:t>Ship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8" y="1664208"/>
            <a:ext cx="4016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Cost to serve is never charged back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07808" y="1938528"/>
            <a:ext cx="401695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607808" y="2148840"/>
            <a:ext cx="4016959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Critical-priority orders spend 23.8% of their sales value on freight; Same Day spends 17.4%.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Standard Class spends only 8.1%, a third of the Critical rate.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Company-wide freight is 10.7% of sales and is not passed through on bulky or expedited lines.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Deep discounts and heavy freight co-occur on the same orders, so those orders struggle to recover.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Global Superstore transaction ledger, FY2011-FY2014. Freight ratio = shipping cost / gross sales.</a:t>
            </a:r>
          </a:p>
        </p:txBody>
      </p:sp>
      <p:pic>
        <p:nvPicPr>
          <p:cNvPr id="21" name="Picture 20" descr="freight_tru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2" y="4553712"/>
            <a:ext cx="338328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Diagnosis · Root causes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 i="0">
                <a:solidFill>
                  <a:srgbClr val="322014"/>
                </a:solidFill>
                <a:latin typeface="Georgia"/>
              </a:rPr>
              <a:t>Deep discounts, loss-making territories and bulky Tables drive the $921K leak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737360"/>
          <a:ext cx="11064240" cy="38039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06040"/>
                <a:gridCol w="4160520"/>
                <a:gridCol w="2606040"/>
                <a:gridCol w="1691640"/>
              </a:tblGrid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Root cause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Evidence in the data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Where it concentrates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Profit recovered by the fix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3385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5A3921"/>
                          </a:solidFill>
                          <a:latin typeface="Georgia"/>
                        </a:rPr>
                        <a:t>Uncontrolled discounting</a:t>
                      </a:r>
                    </a:p>
                  </a:txBody>
                  <a:tcPr marL="91440" marR="73152" marT="45720" marB="45720" anchor="ctr">
                    <a:lnR w="19050" cap="flat" cmpd="sng" algn="ctr">
                      <a:solidFill>
                        <a:srgbClr val="322014"/>
                      </a:solidFill>
                    </a:lnR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22014"/>
                          </a:solidFill>
                          <a:latin typeface="Arial"/>
                        </a:rPr>
                        <a:t>22.1% of lines were priced above a 20% discount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22014"/>
                          </a:solidFill>
                          <a:latin typeface="Arial"/>
                        </a:rPr>
                        <a:t>Margin inverts at the 20% line, from +9.9% to -5.5%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22014"/>
                          </a:solidFill>
                          <a:latin typeface="Arial"/>
                        </a:rPr>
                        <a:t>Every market; worst in EMEA and LATAM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322014"/>
                          </a:solidFill>
                          <a:latin typeface="Arial"/>
                        </a:rPr>
                        <a:t>+$1.03M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113385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5A3921"/>
                          </a:solidFill>
                          <a:latin typeface="Georgia"/>
                        </a:rPr>
                        <a:t>Loss-making overseas territories</a:t>
                      </a:r>
                    </a:p>
                  </a:txBody>
                  <a:tcPr marL="91440" marR="73152" marT="45720" marB="45720" anchor="ctr">
                    <a:lnR w="19050" cap="flat" cmpd="sng" algn="ctr">
                      <a:solidFill>
                        <a:srgbClr val="322014"/>
                      </a:solidFill>
                    </a:lnR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22014"/>
                          </a:solidFill>
                          <a:latin typeface="Arial"/>
                        </a:rPr>
                        <a:t>Turkey -$98K and Nigeria -$81K at 60-70% average discounts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22014"/>
                          </a:solidFill>
                          <a:latin typeface="Arial"/>
                        </a:rPr>
                        <a:t>EMEA margin 5.4% against 12-13% elsewhere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22014"/>
                          </a:solidFill>
                          <a:latin typeface="Arial"/>
                        </a:rPr>
                        <a:t>Turkey, Nigeria, Netherlands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322014"/>
                          </a:solidFill>
                          <a:latin typeface="Arial"/>
                        </a:rPr>
                        <a:t>+$0.18M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113385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5A3921"/>
                          </a:solidFill>
                          <a:latin typeface="Georgia"/>
                        </a:rPr>
                        <a:t>Bulk freight on Tables</a:t>
                      </a:r>
                    </a:p>
                  </a:txBody>
                  <a:tcPr marL="91440" marR="73152" marT="45720" marB="45720" anchor="ctr">
                    <a:lnR w="19050" cap="flat" cmpd="sng" algn="ctr">
                      <a:solidFill>
                        <a:srgbClr val="322014"/>
                      </a:solidFill>
                    </a:lnR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22014"/>
                          </a:solidFill>
                          <a:latin typeface="Arial"/>
                        </a:rPr>
                        <a:t>Tables -$64K at a 29.1% average discount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22014"/>
                          </a:solidFill>
                          <a:latin typeface="Arial"/>
                        </a:rPr>
                        <a:t>Expedited freight runs at 17-24% of sales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322014"/>
                          </a:solidFill>
                          <a:latin typeface="Arial"/>
                        </a:rPr>
                        <a:t>Tables within Furniture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322014"/>
                          </a:solidFill>
                          <a:latin typeface="Arial"/>
                        </a:rPr>
                        <a:t>+$0.05M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87959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Recovery exceeds the reported $921K loss because capping discounts at 20% returns those lines to a positive margin (+9.9%), rather than just break-even.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base-case simulation on the FY2011-FY2014 ledger, before the churn allowance. Figures are an analytics estimate, not a forecast.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Turnaround · Plan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322014"/>
                </a:solidFill>
                <a:latin typeface="Georgia"/>
              </a:rPr>
              <a:t>$1.23M of operating profit is recoverable on the full-ledger basis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737360"/>
          <a:ext cx="11064240" cy="389534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108960"/>
                <a:gridCol w="1600200"/>
                <a:gridCol w="1143000"/>
                <a:gridCol w="3566160"/>
                <a:gridCol w="164592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Initiative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Timing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KPI to track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Expected impact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7043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5A3921"/>
                          </a:solidFill>
                          <a:latin typeface="Georgia"/>
                        </a:rPr>
                        <a:t>1. Pricing governance: cap discounts at 20%</a:t>
                      </a:r>
                    </a:p>
                  </a:txBody>
                  <a:tcPr marL="91440" marR="73152" marT="45720" marB="45720" anchor="ctr">
                    <a:lnR w="19050" cap="flat" cmpd="sng" algn="ctr">
                      <a:solidFill>
                        <a:srgbClr val="322014"/>
                      </a:solidFill>
                    </a:lnR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22014"/>
                          </a:solidFill>
                          <a:latin typeface="Arial"/>
                        </a:rPr>
                        <a:t>Chief Commercial Officer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22014"/>
                          </a:solidFill>
                          <a:latin typeface="Arial"/>
                        </a:rPr>
                        <a:t>Months 1-2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22014"/>
                          </a:solidFill>
                          <a:latin typeface="Arial"/>
                        </a:rPr>
                        <a:t>Orders above 15% discount: below 2%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22014"/>
                          </a:solidFill>
                          <a:latin typeface="Arial"/>
                        </a:rPr>
                        <a:t>Average discount: below 12%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22014"/>
                          </a:solidFill>
                          <a:latin typeface="Arial"/>
                        </a:rPr>
                        <a:t>+$1.03M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117043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5A3921"/>
                          </a:solidFill>
                          <a:latin typeface="Georgia"/>
                        </a:rPr>
                        <a:t>2. Restructure loss-making territories to third-party logistics (3PL)</a:t>
                      </a:r>
                    </a:p>
                  </a:txBody>
                  <a:tcPr marL="91440" marR="73152" marT="45720" marB="45720" anchor="ctr">
                    <a:lnR w="19050" cap="flat" cmpd="sng" algn="ctr">
                      <a:solidFill>
                        <a:srgbClr val="322014"/>
                      </a:solidFill>
                    </a:lnR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22014"/>
                          </a:solidFill>
                          <a:latin typeface="Arial"/>
                        </a:rPr>
                        <a:t>VP Global Supply Chain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22014"/>
                          </a:solidFill>
                          <a:latin typeface="Arial"/>
                        </a:rPr>
                        <a:t>Months 3-4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22014"/>
                          </a:solidFill>
                          <a:latin typeface="Arial"/>
                        </a:rPr>
                        <a:t>Country operating margin: break-even within 90 days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22014"/>
                          </a:solidFill>
                          <a:latin typeface="Arial"/>
                        </a:rPr>
                        <a:t>Freight: below 12% of sales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22014"/>
                          </a:solidFill>
                          <a:latin typeface="Arial"/>
                        </a:rPr>
                        <a:t>+$0.18M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1170432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50" b="1">
                          <a:solidFill>
                            <a:srgbClr val="5A3921"/>
                          </a:solidFill>
                          <a:latin typeface="Georgia"/>
                        </a:rPr>
                        <a:t>3. Tables freight pass-through and repricing</a:t>
                      </a:r>
                    </a:p>
                  </a:txBody>
                  <a:tcPr marL="91440" marR="73152" marT="45720" marB="45720" anchor="ctr">
                    <a:lnR w="19050" cap="flat" cmpd="sng" algn="ctr">
                      <a:solidFill>
                        <a:srgbClr val="322014"/>
                      </a:solidFill>
                    </a:lnR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22014"/>
                          </a:solidFill>
                          <a:latin typeface="Arial"/>
                        </a:rPr>
                        <a:t>Head of Merchandising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22014"/>
                          </a:solidFill>
                          <a:latin typeface="Arial"/>
                        </a:rPr>
                        <a:t>Months 5-7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22014"/>
                          </a:solidFill>
                          <a:latin typeface="Arial"/>
                        </a:rPr>
                        <a:t>Tables operating margin: above +10%</a:t>
                      </a:r>
                    </a:p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322014"/>
                          </a:solidFill>
                          <a:latin typeface="Arial"/>
                        </a:rPr>
                        <a:t>Dimensional freight recovery: 100%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322014"/>
                          </a:solidFill>
                          <a:latin typeface="Arial"/>
                        </a:rPr>
                        <a:t>+$0.05M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base-case simulation on the FY2011-FY2014 ledger; levers are gross and the $1.23M headline is net of a churn allowance, about $0.31M a year on the same run-rate. Modelling estimate, not a forecast.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Turnaround · Financial impact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322014"/>
                </a:solidFill>
                <a:latin typeface="Georgia"/>
              </a:rPr>
              <a:t>The base case lifts operating profit 84% and margin to 19.9%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6420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Operating profit bridge, baseline to projected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1938528"/>
            <a:ext cx="6766560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44568" y="1737360"/>
            <a:ext cx="2788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A7B6B"/>
                </a:solidFill>
                <a:latin typeface="Arial"/>
              </a:rPr>
              <a:t>$ million, FY2011-FY2014 ledger basis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4598" y="3743928"/>
            <a:ext cx="541020" cy="1577879"/>
          </a:xfrm>
          <a:prstGeom prst="rect">
            <a:avLst/>
          </a:prstGeom>
          <a:solidFill>
            <a:srgbClr val="32201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05028" y="3506184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322014"/>
                </a:solidFill>
                <a:latin typeface="Arial"/>
              </a:rPr>
              <a:t>$1.47M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028" y="5376671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322014"/>
                </a:solidFill>
                <a:latin typeface="Arial"/>
              </a:rPr>
              <a:t>Baseline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56637" y="2633927"/>
            <a:ext cx="541020" cy="1110001"/>
          </a:xfrm>
          <a:prstGeom prst="rect">
            <a:avLst/>
          </a:prstGeom>
          <a:solidFill>
            <a:srgbClr val="C5A6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cxnSp>
        <p:nvCxnSpPr>
          <p:cNvPr id="16" name="Connector 15"/>
          <p:cNvCxnSpPr/>
          <p:nvPr/>
        </p:nvCxnSpPr>
        <p:spPr>
          <a:xfrm>
            <a:off x="1515618" y="3743928"/>
            <a:ext cx="541019" cy="0"/>
          </a:xfrm>
          <a:prstGeom prst="line">
            <a:avLst/>
          </a:prstGeom>
          <a:ln w="9525">
            <a:solidFill>
              <a:srgbClr val="E2D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687068" y="2396183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322014"/>
                </a:solidFill>
                <a:latin typeface="Arial"/>
              </a:rPr>
              <a:t>+$1.03M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87068" y="5376671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322014"/>
                </a:solidFill>
                <a:latin typeface="Arial"/>
              </a:rPr>
              <a:t>Discount cap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38678" y="2441398"/>
            <a:ext cx="541020" cy="192529"/>
          </a:xfrm>
          <a:prstGeom prst="rect">
            <a:avLst/>
          </a:prstGeom>
          <a:solidFill>
            <a:srgbClr val="C5A6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cxnSp>
        <p:nvCxnSpPr>
          <p:cNvPr id="20" name="Connector 19"/>
          <p:cNvCxnSpPr/>
          <p:nvPr/>
        </p:nvCxnSpPr>
        <p:spPr>
          <a:xfrm>
            <a:off x="2597658" y="2633927"/>
            <a:ext cx="541020" cy="0"/>
          </a:xfrm>
          <a:prstGeom prst="line">
            <a:avLst/>
          </a:prstGeom>
          <a:ln w="9525">
            <a:solidFill>
              <a:srgbClr val="E2D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769108" y="2203654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322014"/>
                </a:solidFill>
                <a:latin typeface="Arial"/>
              </a:rPr>
              <a:t>+$0.18M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69108" y="5376671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322014"/>
                </a:solidFill>
                <a:latin typeface="Arial"/>
              </a:rPr>
              <a:t>Territory 3PL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20718" y="2391921"/>
            <a:ext cx="541020" cy="49476"/>
          </a:xfrm>
          <a:prstGeom prst="rect">
            <a:avLst/>
          </a:prstGeom>
          <a:solidFill>
            <a:srgbClr val="C5A6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cxnSp>
        <p:nvCxnSpPr>
          <p:cNvPr id="24" name="Connector 23"/>
          <p:cNvCxnSpPr/>
          <p:nvPr/>
        </p:nvCxnSpPr>
        <p:spPr>
          <a:xfrm>
            <a:off x="3679698" y="2441398"/>
            <a:ext cx="541020" cy="0"/>
          </a:xfrm>
          <a:prstGeom prst="line">
            <a:avLst/>
          </a:prstGeom>
          <a:ln w="9525">
            <a:solidFill>
              <a:srgbClr val="E2D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851148" y="2154177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322014"/>
                </a:solidFill>
                <a:latin typeface="Arial"/>
              </a:rPr>
              <a:t>+$0.05M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51148" y="5376671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322014"/>
                </a:solidFill>
                <a:latin typeface="Arial"/>
              </a:rPr>
              <a:t>Freight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2758" y="2391921"/>
            <a:ext cx="541020" cy="25813"/>
          </a:xfrm>
          <a:prstGeom prst="rect">
            <a:avLst/>
          </a:prstGeom>
          <a:solidFill>
            <a:srgbClr val="A2272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cxnSp>
        <p:nvCxnSpPr>
          <p:cNvPr id="28" name="Connector 27"/>
          <p:cNvCxnSpPr/>
          <p:nvPr/>
        </p:nvCxnSpPr>
        <p:spPr>
          <a:xfrm>
            <a:off x="4761738" y="2391921"/>
            <a:ext cx="541020" cy="0"/>
          </a:xfrm>
          <a:prstGeom prst="line">
            <a:avLst/>
          </a:prstGeom>
          <a:ln w="9525">
            <a:solidFill>
              <a:srgbClr val="E2D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933188" y="2445167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A22727"/>
                </a:solidFill>
                <a:latin typeface="Arial"/>
              </a:rPr>
              <a:t>-$0.02M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3188" y="5376671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322014"/>
                </a:solidFill>
                <a:latin typeface="Arial"/>
              </a:rPr>
              <a:t>Churn (5%)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84798" y="2416660"/>
            <a:ext cx="541020" cy="2905147"/>
          </a:xfrm>
          <a:prstGeom prst="rect">
            <a:avLst/>
          </a:prstGeom>
          <a:solidFill>
            <a:srgbClr val="5A392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cxnSp>
        <p:nvCxnSpPr>
          <p:cNvPr id="32" name="Connector 31"/>
          <p:cNvCxnSpPr/>
          <p:nvPr/>
        </p:nvCxnSpPr>
        <p:spPr>
          <a:xfrm>
            <a:off x="5843778" y="2417735"/>
            <a:ext cx="541020" cy="0"/>
          </a:xfrm>
          <a:prstGeom prst="line">
            <a:avLst/>
          </a:prstGeom>
          <a:ln w="9525">
            <a:solidFill>
              <a:srgbClr val="E2D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015228" y="2178916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322014"/>
                </a:solidFill>
                <a:latin typeface="Arial"/>
              </a:rPr>
              <a:t>$2.70M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15228" y="5376671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322014"/>
                </a:solidFill>
                <a:latin typeface="Arial"/>
              </a:rPr>
              <a:t>Projected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04088" y="5321807"/>
            <a:ext cx="64922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66928" y="5586984"/>
            <a:ext cx="118872" cy="118872"/>
          </a:xfrm>
          <a:prstGeom prst="rect">
            <a:avLst/>
          </a:prstGeom>
          <a:solidFill>
            <a:srgbClr val="32201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31520" y="5559552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322014"/>
                </a:solidFill>
                <a:latin typeface="Arial"/>
              </a:rPr>
              <a:t>Baseline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36776" y="5586984"/>
            <a:ext cx="118872" cy="118872"/>
          </a:xfrm>
          <a:prstGeom prst="rect">
            <a:avLst/>
          </a:prstGeom>
          <a:solidFill>
            <a:srgbClr val="C5A68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801368" y="5559552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322014"/>
                </a:solidFill>
                <a:latin typeface="Arial"/>
              </a:rPr>
              <a:t>Recovery levers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86684" y="5586984"/>
            <a:ext cx="118872" cy="118872"/>
          </a:xfrm>
          <a:prstGeom prst="rect">
            <a:avLst/>
          </a:prstGeom>
          <a:solidFill>
            <a:srgbClr val="A2272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351276" y="5559552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322014"/>
                </a:solidFill>
                <a:latin typeface="Arial"/>
              </a:rPr>
              <a:t>Churn allowance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36592" y="5586984"/>
            <a:ext cx="118872" cy="118872"/>
          </a:xfrm>
          <a:prstGeom prst="rect">
            <a:avLst/>
          </a:prstGeom>
          <a:solidFill>
            <a:srgbClr val="5A392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901183" y="5559552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322014"/>
                </a:solidFill>
                <a:latin typeface="Arial"/>
              </a:rPr>
              <a:t>Projected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07808" y="1664208"/>
            <a:ext cx="4016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The recovery path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607808" y="1938528"/>
            <a:ext cx="401695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607808" y="2148840"/>
            <a:ext cx="4016959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Baseline operating profit on the four-year ledger is $1.467M at an 11.6% blended margin.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The 20% discount cap contributes +$1.03M, the largest single lever.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Territory restructuring adds +$0.18M and Tables freight +$0.05M.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100" b="0" i="0">
                <a:solidFill>
                  <a:srgbClr val="322014"/>
                </a:solidFill>
                <a:latin typeface="Arial"/>
              </a:rPr>
              <a:t>After the churn allowance the company lands at $2.70M and a 19.9% blended margin, about $0.31M a year higher.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analytics simulation on the FY2011-FY2014 ledger (base case: 20% cap, $15 per table unit surcharge, full 3PL transition, 5% churn allowance). Modelling estimate, not a forecast.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Turnaround · Sensitivity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322014"/>
                </a:solidFill>
                <a:latin typeface="Georgia"/>
              </a:rPr>
              <a:t>The recommendation holds under conservative and aggressive assumptions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920240"/>
          <a:ext cx="10698480" cy="35661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14600"/>
                <a:gridCol w="1325880"/>
                <a:gridCol w="1463040"/>
                <a:gridCol w="1508760"/>
                <a:gridCol w="1600200"/>
                <a:gridCol w="1051560"/>
                <a:gridCol w="1234440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Scenario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Discount cap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Tables surcharge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Churn allowance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Projected profit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Margin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322014"/>
                          </a:solidFill>
                          <a:latin typeface="Arial"/>
                        </a:rPr>
                        <a:t>Uplift</a:t>
                      </a:r>
                    </a:p>
                  </a:txBody>
                  <a:tcPr marL="91440" marR="73152" marT="45720" marB="45720" anchor="ctr">
                    <a:lnB w="19050" cap="flat" cmpd="sng" algn="ctr">
                      <a:solidFill>
                        <a:srgbClr val="32201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1">
                          <a:solidFill>
                            <a:srgbClr val="5A3921"/>
                          </a:solidFill>
                          <a:latin typeface="Georgia"/>
                        </a:rPr>
                        <a:t>Baseline (status quo)</a:t>
                      </a:r>
                    </a:p>
                  </a:txBody>
                  <a:tcPr marL="91440" marR="73152" marT="45720" marB="45720" anchor="ctr">
                    <a:lnR w="19050" cap="flat" cmpd="sng" algn="ctr">
                      <a:solidFill>
                        <a:srgbClr val="322014"/>
                      </a:solidFill>
                    </a:lnR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No cap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$1.467M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11.6%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1">
                          <a:solidFill>
                            <a:srgbClr val="5A3921"/>
                          </a:solidFill>
                          <a:latin typeface="Georgia"/>
                        </a:rPr>
                        <a:t>Conservative</a:t>
                      </a:r>
                    </a:p>
                  </a:txBody>
                  <a:tcPr marL="91440" marR="73152" marT="45720" marB="45720" anchor="ctr">
                    <a:lnR w="19050" cap="flat" cmpd="sng" algn="ctr">
                      <a:solidFill>
                        <a:srgbClr val="322014"/>
                      </a:solidFill>
                    </a:lnR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7.0%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$2.373M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17.8%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+$0.91M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1">
                          <a:solidFill>
                            <a:srgbClr val="5A3921"/>
                          </a:solidFill>
                          <a:latin typeface="Georgia"/>
                        </a:rPr>
                        <a:t>Base case (recommended)</a:t>
                      </a:r>
                    </a:p>
                  </a:txBody>
                  <a:tcPr marL="91440" marR="73152" marT="45720" marB="45720" anchor="ctr">
                    <a:lnR w="19050" cap="flat" cmpd="sng" algn="ctr">
                      <a:solidFill>
                        <a:srgbClr val="322014"/>
                      </a:solidFill>
                    </a:lnR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EFEE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322014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EFEE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322014"/>
                          </a:solidFill>
                          <a:latin typeface="Arial"/>
                        </a:rPr>
                        <a:t>$15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EFEE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322014"/>
                          </a:solidFill>
                          <a:latin typeface="Arial"/>
                        </a:rPr>
                        <a:t>5.0%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EFEE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322014"/>
                          </a:solidFill>
                          <a:latin typeface="Arial"/>
                        </a:rPr>
                        <a:t>$2.701M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EFEE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322014"/>
                          </a:solidFill>
                          <a:latin typeface="Arial"/>
                        </a:rPr>
                        <a:t>19.9%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EFEE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322014"/>
                          </a:solidFill>
                          <a:latin typeface="Arial"/>
                        </a:rPr>
                        <a:t>+$1.23M</a:t>
                      </a:r>
                    </a:p>
                  </a:txBody>
                  <a:tcPr marL="91440" marR="73152" marT="45720" marB="45720" anchor="ctr"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EFEEE8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450" b="1">
                          <a:solidFill>
                            <a:srgbClr val="5A3921"/>
                          </a:solidFill>
                          <a:latin typeface="Georgia"/>
                        </a:rPr>
                        <a:t>Aggressive</a:t>
                      </a:r>
                    </a:p>
                  </a:txBody>
                  <a:tcPr marL="91440" marR="73152" marT="45720" marB="45720" anchor="ctr">
                    <a:lnR w="19050" cap="flat" cmpd="sng" algn="ctr">
                      <a:solidFill>
                        <a:srgbClr val="322014"/>
                      </a:solidFill>
                    </a:lnR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$25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3.0%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$2.997M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21.7%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>
                          <a:solidFill>
                            <a:srgbClr val="322014"/>
                          </a:solidFill>
                          <a:latin typeface="Arial"/>
                        </a:rPr>
                        <a:t>+$1.53M</a:t>
                      </a:r>
                    </a:p>
                  </a:txBody>
                  <a:tcPr marL="91440" marR="73152" marT="45720" marB="45720" anchor="ctr">
                    <a:lnB w="0" cap="flat" cmpd="sng" algn="ctr">
                      <a:solidFill>
                        <a:srgbClr val="FFFFFF"/>
                      </a:solidFill>
                    </a:lnB>
                    <a:lnT w="9525" cap="flat" cmpd="sng" algn="ctr">
                      <a:solidFill>
                        <a:srgbClr val="E2DCD2"/>
                      </a:solidFill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analytics simulation on the FY2011-FY2014 ledger. Highlighted row is the recommended plan; all figures are on the four-year ledger basis and are modelling estimates, not forecasts.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Turnaround · Roadmap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322014"/>
                </a:solidFill>
                <a:latin typeface="Georgia"/>
              </a:rPr>
              <a:t>Execution runs from immediate price controls to a permanent margin committee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6420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Four-phase implementation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1938528"/>
            <a:ext cx="6766560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338767" y="1700784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A7B6B"/>
                </a:solidFill>
                <a:latin typeface="Arial"/>
              </a:rPr>
              <a:t>months 1-12</a:t>
            </a:r>
          </a:p>
        </p:txBody>
      </p:sp>
      <p:sp>
        <p:nvSpPr>
          <p:cNvPr id="12" name="Chevron 11"/>
          <p:cNvSpPr/>
          <p:nvPr/>
        </p:nvSpPr>
        <p:spPr>
          <a:xfrm>
            <a:off x="566928" y="2057400"/>
            <a:ext cx="2682163" cy="3154680"/>
          </a:xfrm>
          <a:prstGeom prst="chevron">
            <a:avLst/>
          </a:prstGeom>
          <a:solidFill>
            <a:srgbClr val="EFEEE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359152"/>
            <a:ext cx="20603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322014"/>
                </a:solidFill>
                <a:latin typeface="Georgia"/>
              </a:rPr>
              <a:t>1  Commercial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43200"/>
            <a:ext cx="202379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22014"/>
                </a:solidFill>
                <a:latin typeface="Arial"/>
              </a:rPr>
              <a:t>Lock a 20% discount ceiling into order entry and move sales pay from volume to margin contribution.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343400"/>
            <a:ext cx="20237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A7B6B"/>
                </a:solidFill>
                <a:latin typeface="Arial"/>
              </a:rPr>
              <a:t>Months 1-2 · Target: no order above 20% without approval</a:t>
            </a:r>
          </a:p>
        </p:txBody>
      </p:sp>
      <p:sp>
        <p:nvSpPr>
          <p:cNvPr id="16" name="Chevron 15"/>
          <p:cNvSpPr/>
          <p:nvPr/>
        </p:nvSpPr>
        <p:spPr>
          <a:xfrm>
            <a:off x="3358819" y="2057400"/>
            <a:ext cx="2682163" cy="3154680"/>
          </a:xfrm>
          <a:prstGeom prst="chevron">
            <a:avLst/>
          </a:prstGeom>
          <a:solidFill>
            <a:srgbClr val="EFEEE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4579" y="2359152"/>
            <a:ext cx="20603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322014"/>
                </a:solidFill>
                <a:latin typeface="Georgia"/>
              </a:rPr>
              <a:t>2  Territory restructuring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4579" y="2743200"/>
            <a:ext cx="202379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22014"/>
                </a:solidFill>
                <a:latin typeface="Arial"/>
              </a:rPr>
              <a:t>Move Turkey and Nigeria to local master distributors and bonded third-party logistics, ending cross-border air freight.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4579" y="4343400"/>
            <a:ext cx="20237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A7B6B"/>
                </a:solidFill>
                <a:latin typeface="Arial"/>
              </a:rPr>
              <a:t>Months 3-4 · Target: regional loss cut 70%</a:t>
            </a:r>
          </a:p>
        </p:txBody>
      </p:sp>
      <p:sp>
        <p:nvSpPr>
          <p:cNvPr id="20" name="Chevron 19"/>
          <p:cNvSpPr/>
          <p:nvPr/>
        </p:nvSpPr>
        <p:spPr>
          <a:xfrm>
            <a:off x="6150711" y="2057400"/>
            <a:ext cx="2682163" cy="3154680"/>
          </a:xfrm>
          <a:prstGeom prst="chevron">
            <a:avLst/>
          </a:prstGeom>
          <a:solidFill>
            <a:srgbClr val="EFEEE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16471" y="2359152"/>
            <a:ext cx="20603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322014"/>
                </a:solidFill>
                <a:latin typeface="Georgia"/>
              </a:rPr>
              <a:t>3  Freight and Tables repricing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6471" y="2743200"/>
            <a:ext cx="202379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22014"/>
                </a:solidFill>
                <a:latin typeface="Arial"/>
              </a:rPr>
              <a:t>Add dimensional freight surcharges on bulky lines and reprice the Tables portfolio.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6471" y="4343400"/>
            <a:ext cx="20237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A7B6B"/>
                </a:solidFill>
                <a:latin typeface="Arial"/>
              </a:rPr>
              <a:t>Months 5-7 · Target: Tables at break-even</a:t>
            </a:r>
          </a:p>
        </p:txBody>
      </p:sp>
      <p:sp>
        <p:nvSpPr>
          <p:cNvPr id="24" name="Chevron 23"/>
          <p:cNvSpPr/>
          <p:nvPr/>
        </p:nvSpPr>
        <p:spPr>
          <a:xfrm>
            <a:off x="8942603" y="2057400"/>
            <a:ext cx="2682163" cy="3154680"/>
          </a:xfrm>
          <a:prstGeom prst="chevron">
            <a:avLst/>
          </a:prstGeom>
          <a:solidFill>
            <a:srgbClr val="EFEEE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08363" y="2359152"/>
            <a:ext cx="20603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322014"/>
                </a:solidFill>
                <a:latin typeface="Georgia"/>
              </a:rPr>
              <a:t>4  Institutional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363" y="2743200"/>
            <a:ext cx="202379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22014"/>
                </a:solidFill>
                <a:latin typeface="Arial"/>
              </a:rPr>
              <a:t>Run quarterly margin audits across all territories and stand up a permanent margin committee.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363" y="4343400"/>
            <a:ext cx="20237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1" i="0">
                <a:solidFill>
                  <a:srgbClr val="8A7B6B"/>
                </a:solidFill>
                <a:latin typeface="Arial"/>
              </a:rPr>
              <a:t>Months 8-12 · Target: margin above 15.5%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turnaround plan derived from the FY2011-FY2014 diagnosis. Phase 1 begins on Board approval.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63470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 · Revival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Board decision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0080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8A7B6B"/>
                </a:solidFill>
                <a:latin typeface="Arial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73152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 i="0">
                <a:solidFill>
                  <a:srgbClr val="322014"/>
                </a:solidFill>
                <a:latin typeface="Georgia"/>
              </a:rPr>
              <a:t>The Board must approve the 20% discount cap and 3PL restructuring this quarter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373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Three decisions requested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2011680"/>
            <a:ext cx="6400800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6928" y="2194560"/>
            <a:ext cx="63093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sz="1100" b="1" i="0">
                <a:solidFill>
                  <a:srgbClr val="322014"/>
                </a:solidFill>
                <a:latin typeface="Arial"/>
              </a:rPr>
              <a:t>Approve the 20% discount cap</a:t>
            </a:r>
            <a:r>
              <a:rPr sz="1100" b="0" i="0">
                <a:solidFill>
                  <a:srgbClr val="322014"/>
                </a:solidFill>
                <a:latin typeface="Arial"/>
              </a:rPr>
              <a:t> in order entry, with VP sign-off for discounts between 15% and 20% and a hard block above 20%.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sz="1100" b="1" i="0">
                <a:solidFill>
                  <a:srgbClr val="322014"/>
                </a:solidFill>
                <a:latin typeface="Arial"/>
              </a:rPr>
              <a:t>Authorise the 3PL transition</a:t>
            </a:r>
            <a:r>
              <a:rPr sz="1100" b="0" i="0">
                <a:solidFill>
                  <a:srgbClr val="322014"/>
                </a:solidFill>
                <a:latin typeface="Arial"/>
              </a:rPr>
              <a:t> for Turkey and Nigeria to remove the cross-border loss.</a:t>
            </a:r>
          </a:p>
          <a:p>
            <a:pPr algn="l" marL="155448" indent="-155448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100" b="1" i="0">
                <a:solidFill>
                  <a:srgbClr val="322014"/>
                </a:solidFill>
                <a:latin typeface="Arial"/>
              </a:rPr>
              <a:t>Charter a margin committee</a:t>
            </a:r>
            <a:r>
              <a:rPr sz="1100" b="0" i="0">
                <a:solidFill>
                  <a:srgbClr val="322014"/>
                </a:solidFill>
                <a:latin typeface="Arial"/>
              </a:rPr>
              <a:t> chaired by the CFO to review discount leakage and Tables margin every quarter.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8" y="5349240"/>
            <a:ext cx="6309360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6928" y="5422392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322014"/>
                </a:solidFill>
                <a:latin typeface="Arial"/>
              </a:rPr>
              <a:t>Decision today, first savings inside 90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760720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22014"/>
                </a:solidFill>
                <a:latin typeface="Arial"/>
              </a:rPr>
              <a:t>Phase 1 needs no new capital and no new systems beyond an order-entry rule.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7768" y="1737360"/>
            <a:ext cx="43369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A3921"/>
                </a:solidFill>
                <a:latin typeface="Georgia"/>
              </a:rPr>
              <a:t>What the Board gets in return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87768" y="2011680"/>
            <a:ext cx="433699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287768" y="2212848"/>
            <a:ext cx="433699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287768" y="2267712"/>
            <a:ext cx="43369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322014"/>
                </a:solidFill>
                <a:latin typeface="Arial"/>
              </a:rPr>
              <a:t>+$1.23M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7768" y="2578608"/>
            <a:ext cx="4336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22014"/>
                </a:solidFill>
                <a:latin typeface="Arial"/>
              </a:rPr>
              <a:t>Operating profit, full-ledger basis (+84% on $1.467M)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87768" y="3538728"/>
            <a:ext cx="433699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287768" y="3593592"/>
            <a:ext cx="43369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322014"/>
                </a:solidFill>
                <a:latin typeface="Arial"/>
              </a:rPr>
              <a:t>19.9%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7768" y="3904488"/>
            <a:ext cx="4336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22014"/>
                </a:solidFill>
                <a:latin typeface="Arial"/>
              </a:rPr>
              <a:t>Operating margin, from 11.6% and above the 15.5% target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287768" y="4864608"/>
            <a:ext cx="4336999" cy="0"/>
          </a:xfrm>
          <a:prstGeom prst="line">
            <a:avLst/>
          </a:prstGeom>
          <a:ln w="1905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287768" y="4919472"/>
            <a:ext cx="43369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322014"/>
                </a:solidFill>
                <a:latin typeface="Arial"/>
              </a:rPr>
              <a:t>$0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87768" y="5230368"/>
            <a:ext cx="4336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22014"/>
                </a:solidFill>
                <a:latin typeface="Arial"/>
              </a:rPr>
              <a:t>New capital spend required; Phase 1 is an order-entry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099048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0" i="0">
                <a:solidFill>
                  <a:srgbClr val="8A7B6B"/>
                </a:solidFill>
                <a:latin typeface="Arial"/>
              </a:rPr>
              <a:t>Source: base-case simulation on the FY2011-FY2014 ledger. Returns are on the four-year ledger basis and depend on the 5% churn assumption holding. Modelling estimate, not a forecast.</a:t>
            </a:r>
          </a:p>
        </p:txBody>
      </p:sp>
      <p:pic>
        <p:nvPicPr>
          <p:cNvPr id="27" name="Picture 26" descr="gavel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3639312"/>
            <a:ext cx="2743200" cy="14813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322014"/>
                </a:solidFill>
                <a:latin typeface="Georgia"/>
              </a:rPr>
              <a:t>Global Superstore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4287" y="42976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8A7B6B"/>
                </a:solidFill>
                <a:latin typeface="Arial"/>
              </a:rPr>
              <a:t>Revival Strategy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658368"/>
            <a:ext cx="11057839" cy="0"/>
          </a:xfrm>
          <a:prstGeom prst="line">
            <a:avLst/>
          </a:prstGeom>
          <a:ln w="12700">
            <a:solidFill>
              <a:srgbClr val="322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2560320"/>
            <a:ext cx="939916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322014"/>
                </a:solidFill>
                <a:latin typeface="Georgia"/>
              </a:rPr>
              <a:t>“Beware of little expenses; a small leak will sink a great ship.”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40480"/>
            <a:ext cx="93991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8A7B6B"/>
                </a:solidFill>
                <a:latin typeface="Georgia"/>
              </a:rPr>
              <a:t>Benjamin Franklin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389120"/>
            <a:ext cx="93991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5A3921"/>
                </a:solidFill>
                <a:latin typeface="Georgia"/>
              </a:rPr>
              <a:t>Prepared for the Board of Directors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355080"/>
            <a:ext cx="11057839" cy="0"/>
          </a:xfrm>
          <a:prstGeom prst="line">
            <a:avLst/>
          </a:prstGeom>
          <a:ln w="9525">
            <a:solidFill>
              <a:srgbClr val="C5A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00800"/>
            <a:ext cx="77404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1" i="0">
                <a:solidFill>
                  <a:srgbClr val="322014"/>
                </a:solidFill>
                <a:latin typeface="Arial"/>
              </a:rPr>
              <a:t>Global Superstore · Revival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62356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8A7B6B"/>
                </a:solidFill>
                <a:latin typeface="Arial"/>
              </a:rPr>
              <a:t>Source data: Global Superstore transaction ledger, FY2011-FY2014 (51,290 order lines). Deck produced with consulting-pptx-skill (github.com/carnot-tech/consulting-pptx-skill).</a:t>
            </a:r>
          </a:p>
        </p:txBody>
      </p:sp>
      <p:pic>
        <p:nvPicPr>
          <p:cNvPr id="11" name="Picture 10" descr="sail_s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1" y="1078992"/>
            <a:ext cx="2926080" cy="14264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